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7" r:id="rId1"/>
  </p:sldMasterIdLst>
  <p:notesMasterIdLst>
    <p:notesMasterId r:id="rId3"/>
  </p:notesMasterIdLst>
  <p:handoutMasterIdLst>
    <p:handoutMasterId r:id="rId4"/>
  </p:handoutMasterIdLst>
  <p:sldIdLst>
    <p:sldId id="813" r:id="rId2"/>
  </p:sldIdLst>
  <p:sldSz cx="9144000" cy="6858000" type="letter"/>
  <p:notesSz cx="7010400" cy="9296400"/>
  <p:defaultTextStyle>
    <a:defPPr>
      <a:defRPr lang="en-US"/>
    </a:defPPr>
    <a:lvl1pPr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60000"/>
      <a:buFont typeface="Monotype Sorts" pitchFamily="2" charset="2"/>
      <a:buChar char="n"/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60000"/>
      <a:buFont typeface="Monotype Sorts" pitchFamily="2" charset="2"/>
      <a:buChar char="n"/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60000"/>
      <a:buFont typeface="Monotype Sorts" pitchFamily="2" charset="2"/>
      <a:buChar char="n"/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60000"/>
      <a:buFont typeface="Monotype Sorts" pitchFamily="2" charset="2"/>
      <a:buChar char="n"/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60000"/>
      <a:buFont typeface="Monotype Sorts" pitchFamily="2" charset="2"/>
      <a:buChar char="n"/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FFFFFF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orster, Zachary R (DFW)" initials="FZR(" lastIdx="6" clrIdx="0">
    <p:extLst>
      <p:ext uri="{19B8F6BF-5375-455C-9EA6-DF929625EA0E}">
        <p15:presenceInfo xmlns:p15="http://schemas.microsoft.com/office/powerpoint/2012/main" userId="S-1-5-21-1844237615-1844823847-839522115-428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0000"/>
    <a:srgbClr val="99FF66"/>
    <a:srgbClr val="99FF33"/>
    <a:srgbClr val="EAEAEA"/>
    <a:srgbClr val="DDDDDD"/>
    <a:srgbClr val="FFFF00"/>
    <a:srgbClr val="DFB313"/>
    <a:srgbClr val="E6F4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82059" autoAdjust="0"/>
  </p:normalViewPr>
  <p:slideViewPr>
    <p:cSldViewPr>
      <p:cViewPr varScale="1">
        <p:scale>
          <a:sx n="75" d="100"/>
          <a:sy n="75" d="100"/>
        </p:scale>
        <p:origin x="123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5616"/>
    </p:cViewPr>
  </p:sorterViewPr>
  <p:notesViewPr>
    <p:cSldViewPr>
      <p:cViewPr varScale="1">
        <p:scale>
          <a:sx n="51" d="100"/>
          <a:sy n="51" d="100"/>
        </p:scale>
        <p:origin x="2668" y="5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561" y="0"/>
            <a:ext cx="303784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9"/>
            <a:ext cx="303784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561" y="8831269"/>
            <a:ext cx="303784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8843C1B3-0FBA-4DEB-A33F-6D653B24A62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50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1" y="0"/>
            <a:ext cx="303784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4838"/>
            <a:ext cx="514096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9"/>
            <a:ext cx="303784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1" y="8831269"/>
            <a:ext cx="303784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74" tIns="46138" rIns="92274" bIns="46138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34E3A92B-2B2D-4A48-8D5A-198A4FED6C7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677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A14970C-3301-4DD8-87C8-448E3F893981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0959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7"/>
            <a:ext cx="9144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979" y="2079876"/>
            <a:ext cx="2289065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noProof="0"/>
              <a:t>CLICK TO EDIT</a:t>
            </a:r>
            <a:br>
              <a:rPr lang="en-US" noProof="0"/>
            </a:br>
            <a:r>
              <a:rPr lang="en-US" noProof="0"/>
              <a:t>MASTER TITLE</a:t>
            </a:r>
            <a:br>
              <a:rPr lang="en-US" noProof="0"/>
            </a:br>
            <a:r>
              <a:rPr lang="en-US" noProof="0"/>
              <a:t>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473" y="3587770"/>
            <a:ext cx="1294597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 b="1" i="1">
                <a:solidFill>
                  <a:schemeClr val="tx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20XX-20XX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473" y="3927199"/>
            <a:ext cx="1294597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3 Years Plan</a:t>
            </a:r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46472" y="5725379"/>
            <a:ext cx="713184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923847" y="863644"/>
            <a:ext cx="783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65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1226" y="843980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58827" y="436306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BAC82F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58826" y="618757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9352" y="863644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67011" y="2025874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81BF3B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67010" y="2208325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7478" y="863644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66544" y="437795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2CA05B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66543" y="618757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5604" y="863644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80155" y="2025874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1B866F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0154" y="2208325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28816" y="1917406"/>
            <a:ext cx="783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65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5604" y="2914158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78878" y="4073394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0C6D82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78877" y="4255845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7478" y="2914158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66543" y="2505648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403474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66542" y="2688099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9352" y="2914158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65734" y="4073394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571B6D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065733" y="4255845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1226" y="2914158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53399" y="2505648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6F0066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053398" y="2688099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1069" y="3979528"/>
            <a:ext cx="783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65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11226" y="4970360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056743" y="4567759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056742" y="4750210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9352" y="4970360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067598" y="6121335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067598" y="6303786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27478" y="4970360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69887" y="4567759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rgbClr val="E8611D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69886" y="4750210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35604" y="4970360"/>
            <a:ext cx="783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225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080742" y="6121335"/>
            <a:ext cx="1294597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125" b="0" i="0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80742" y="6303786"/>
            <a:ext cx="1294597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750" b="0" i="1">
                <a:solidFill>
                  <a:srgbClr val="454D5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720074" y="4973439"/>
            <a:ext cx="783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165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54416" y="550858"/>
            <a:ext cx="20574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en-US" noProof="0" smtClean="0"/>
              <a:t>10/16/2019</a:t>
            </a:fld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889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C5166-4796-40D2-A50C-05DACE2C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9258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36682-CE55-4994-889B-5D188C3E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753088"/>
            <a:ext cx="7886700" cy="2341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9231-8DF4-411E-8324-453AB042A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54416" y="577752"/>
            <a:ext cx="2057400" cy="1767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75" i="1">
                <a:solidFill>
                  <a:srgbClr val="454D55"/>
                </a:solidFill>
              </a:defRPr>
            </a:lvl1pPr>
          </a:lstStyle>
          <a:p>
            <a:fld id="{8BF4B2BE-5503-4E92-A98A-CA19FA0A1E48}" type="datetime1">
              <a:rPr lang="en-US" noProof="0" smtClean="0"/>
              <a:pPr/>
              <a:t>10/16/2019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475F0-EE3A-4617-AFAB-40BF7C148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4416" y="392470"/>
            <a:ext cx="2057400" cy="1767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675" i="1">
                <a:solidFill>
                  <a:srgbClr val="454D55"/>
                </a:solidFill>
              </a:defRPr>
            </a:lvl1pPr>
          </a:lstStyle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07E7D-9F5C-43AC-A03A-432F6CB44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2185" y="392471"/>
            <a:ext cx="296465" cy="1767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675" i="1">
                <a:solidFill>
                  <a:srgbClr val="454D55"/>
                </a:solidFill>
              </a:defRPr>
            </a:lvl1pPr>
          </a:lstStyle>
          <a:p>
            <a:fld id="{93C1428B-5ACF-4E79-A091-05E2328DA7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471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78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2" y="2529862"/>
            <a:ext cx="2515020" cy="1106699"/>
          </a:xfrm>
        </p:spPr>
        <p:txBody>
          <a:bodyPr/>
          <a:lstStyle/>
          <a:p>
            <a:r>
              <a:rPr lang="en-US" dirty="0" smtClean="0"/>
              <a:t>RAZOR CLAM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D4784F-41FE-47AC-B617-00EA570D30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910" y="3732547"/>
            <a:ext cx="1294597" cy="218698"/>
          </a:xfrm>
        </p:spPr>
        <p:txBody>
          <a:bodyPr/>
          <a:lstStyle/>
          <a:p>
            <a:r>
              <a:rPr lang="en-US" dirty="0" smtClean="0"/>
              <a:t>1929 T0 2019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B47DC31-EE68-48D8-9468-C2B842A238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 smtClean="0"/>
              <a:t>Early Years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A9E837-1CF3-4923-8E30-94AB8B4C21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1929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54842DC-5569-4421-BEE9-EC5D80DF6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20699" y="458402"/>
            <a:ext cx="1875911" cy="216376"/>
          </a:xfrm>
        </p:spPr>
        <p:txBody>
          <a:bodyPr>
            <a:noAutofit/>
          </a:bodyPr>
          <a:lstStyle/>
          <a:p>
            <a:r>
              <a:rPr lang="en-US" sz="1050" dirty="0"/>
              <a:t>STATE MANAGEMENT BEGINS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390D17E-2D62-4E5F-B6C7-00133606296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/>
          </a:bodyPr>
          <a:lstStyle/>
          <a:p>
            <a:r>
              <a:rPr lang="en-US" sz="900" b="1" dirty="0"/>
              <a:t>36 clams / no season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894C19-9FAB-43B1-85B9-CB0B890E7C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1943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368F96B-C4DE-44C0-B817-D7856E67522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SEASON SET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4B1980E-9DD3-42DE-8F61-F99D5543C47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/>
          </a:bodyPr>
          <a:lstStyle/>
          <a:p>
            <a:r>
              <a:rPr lang="en-US" sz="900" b="1" dirty="0"/>
              <a:t>March 1 to Sept. 30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1962F0-0A0F-4FC2-9E69-6265A830C4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1948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B193253-F94A-4164-AE5D-6B3931AE17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936205" y="510182"/>
            <a:ext cx="1565546" cy="101902"/>
          </a:xfrm>
        </p:spPr>
        <p:txBody>
          <a:bodyPr>
            <a:noAutofit/>
          </a:bodyPr>
          <a:lstStyle/>
          <a:p>
            <a:r>
              <a:rPr lang="en-US" sz="1050" dirty="0"/>
              <a:t>REDUCED DAILY LIMIT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74B2B85-AD22-4077-83F1-E8A029BDD2A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41007" y="661825"/>
            <a:ext cx="1294597" cy="132035"/>
          </a:xfrm>
        </p:spPr>
        <p:txBody>
          <a:bodyPr>
            <a:normAutofit/>
          </a:bodyPr>
          <a:lstStyle/>
          <a:p>
            <a:r>
              <a:rPr lang="en-US" sz="900" b="1" dirty="0"/>
              <a:t>24 clams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7BB4E68-6401-4C98-8572-F315F0392AD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>
            <a:normAutofit/>
          </a:bodyPr>
          <a:lstStyle/>
          <a:p>
            <a:r>
              <a:rPr lang="en-US" sz="900" b="1" dirty="0"/>
              <a:t>18 clams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US" sz="1500" dirty="0" smtClean="0"/>
              <a:t>1973</a:t>
            </a:r>
            <a:endParaRPr lang="en-US" sz="1500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F3490A6-CE9A-4C91-9932-EEF33F6A61D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601585" y="4213826"/>
            <a:ext cx="2251037" cy="99114"/>
          </a:xfrm>
        </p:spPr>
        <p:txBody>
          <a:bodyPr>
            <a:noAutofit/>
          </a:bodyPr>
          <a:lstStyle/>
          <a:p>
            <a:r>
              <a:rPr lang="en-US" sz="900" b="1" dirty="0" smtClean="0"/>
              <a:t>Oct. 1 to June 30</a:t>
            </a:r>
            <a:endParaRPr lang="en-US" sz="900" b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US" sz="1500" dirty="0" smtClean="0"/>
              <a:t>1974</a:t>
            </a:r>
            <a:endParaRPr lang="en-US" sz="15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>
            <a:normAutofit/>
          </a:bodyPr>
          <a:lstStyle/>
          <a:p>
            <a:r>
              <a:rPr lang="en-US" sz="1000" dirty="0" smtClean="0"/>
              <a:t>REDUCED DAILY LIMIT</a:t>
            </a:r>
            <a:endParaRPr lang="en-US" sz="10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5B9CEB-0CEB-4050-8317-0807EADC0F0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>
            <a:normAutofit/>
          </a:bodyPr>
          <a:lstStyle/>
          <a:p>
            <a:r>
              <a:rPr lang="en-US" sz="900" b="1" dirty="0" smtClean="0"/>
              <a:t>15 Clams</a:t>
            </a:r>
            <a:endParaRPr lang="en-US" sz="900" b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en-US" sz="1500" dirty="0" smtClean="0"/>
              <a:t>1984</a:t>
            </a:r>
            <a:endParaRPr lang="en-US" sz="1500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46FA574-2C1D-466A-8970-8B2776FA33D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>
            <a:normAutofit/>
          </a:bodyPr>
          <a:lstStyle/>
          <a:p>
            <a:r>
              <a:rPr lang="en-US" sz="900" b="1" dirty="0" smtClean="0"/>
              <a:t>Nix Mortality Event</a:t>
            </a:r>
            <a:endParaRPr lang="en-US" sz="900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 sz="1500" dirty="0" smtClean="0"/>
              <a:t>1985</a:t>
            </a:r>
            <a:endParaRPr lang="en-US" sz="1500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23306" y="2545011"/>
            <a:ext cx="1362749" cy="106208"/>
          </a:xfrm>
        </p:spPr>
        <p:txBody>
          <a:bodyPr>
            <a:noAutofit/>
          </a:bodyPr>
          <a:lstStyle/>
          <a:p>
            <a:r>
              <a:rPr lang="en-US" sz="1050" dirty="0"/>
              <a:t>SEASON ADJUSTMENT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46F0E31-A00A-4287-813C-109216A5986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20699" y="2707271"/>
            <a:ext cx="1675101" cy="207641"/>
          </a:xfrm>
        </p:spPr>
        <p:txBody>
          <a:bodyPr>
            <a:normAutofit/>
          </a:bodyPr>
          <a:lstStyle/>
          <a:p>
            <a:r>
              <a:rPr lang="en-US" b="1" dirty="0" smtClean="0"/>
              <a:t>Limited to fall and spring seasons</a:t>
            </a:r>
            <a:endParaRPr lang="en-US" b="1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1993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06847" y="4487944"/>
            <a:ext cx="1646576" cy="334292"/>
          </a:xfrm>
        </p:spPr>
        <p:txBody>
          <a:bodyPr>
            <a:noAutofit/>
          </a:bodyPr>
          <a:lstStyle/>
          <a:p>
            <a:r>
              <a:rPr lang="en-US" sz="1050" dirty="0"/>
              <a:t>OFF RESERVATION TRIBAL DIGGING STARTS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7DFA977-B8C8-428F-BA2B-EFF078C726C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954701" y="4803094"/>
            <a:ext cx="1364651" cy="129679"/>
          </a:xfrm>
        </p:spPr>
        <p:txBody>
          <a:bodyPr>
            <a:normAutofit fontScale="92500"/>
          </a:bodyPr>
          <a:lstStyle/>
          <a:p>
            <a:r>
              <a:rPr lang="en-US" sz="900" b="1" dirty="0"/>
              <a:t>NORTH OF PT. CHEHALIS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1997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661981" y="6148499"/>
            <a:ext cx="2097741" cy="323621"/>
          </a:xfrm>
        </p:spPr>
        <p:txBody>
          <a:bodyPr>
            <a:noAutofit/>
          </a:bodyPr>
          <a:lstStyle/>
          <a:p>
            <a:r>
              <a:rPr lang="en-US" sz="1050" dirty="0"/>
              <a:t>ADOPTION OF NEW POPULATION ASSESSMENT METHOD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5CE6EC-954F-4DE1-BFD8-21E7D92FDE1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126812" y="6486810"/>
            <a:ext cx="1294597" cy="132035"/>
          </a:xfrm>
        </p:spPr>
        <p:txBody>
          <a:bodyPr/>
          <a:lstStyle/>
          <a:p>
            <a:r>
              <a:rPr lang="en-US" b="1" dirty="0" smtClean="0"/>
              <a:t>Pumped Area </a:t>
            </a:r>
            <a:r>
              <a:rPr lang="en-US" sz="900" b="1" dirty="0"/>
              <a:t>Method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2000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58219" y="4524530"/>
            <a:ext cx="1381473" cy="16372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SEASON ADJUSTMENT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39FE52-3A9A-43A5-9827-31AEC68BEE7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950246" y="4667012"/>
            <a:ext cx="1395010" cy="199954"/>
          </a:xfrm>
        </p:spPr>
        <p:txBody>
          <a:bodyPr>
            <a:noAutofit/>
          </a:bodyPr>
          <a:lstStyle/>
          <a:p>
            <a:r>
              <a:rPr lang="en-US" sz="900" b="1" dirty="0"/>
              <a:t>Variable openers each </a:t>
            </a:r>
            <a:r>
              <a:rPr lang="en-US" sz="900" b="1" dirty="0" smtClean="0"/>
              <a:t>month </a:t>
            </a:r>
            <a:r>
              <a:rPr lang="en-US" sz="900" b="1" dirty="0"/>
              <a:t>Oct to May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2004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10478" y="6293716"/>
            <a:ext cx="2901608" cy="217383"/>
          </a:xfrm>
        </p:spPr>
        <p:txBody>
          <a:bodyPr>
            <a:noAutofit/>
          </a:bodyPr>
          <a:lstStyle/>
          <a:p>
            <a:r>
              <a:rPr lang="en-US" sz="1500" dirty="0"/>
              <a:t>ADJUSTED EXPLOITATION RATE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0E93532-CE49-4B9B-B7CE-189B4CACB36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146240" y="6099707"/>
            <a:ext cx="1294597" cy="132035"/>
          </a:xfrm>
        </p:spPr>
        <p:txBody>
          <a:bodyPr>
            <a:normAutofit/>
          </a:bodyPr>
          <a:lstStyle/>
          <a:p>
            <a:r>
              <a:rPr lang="en-US" sz="900" b="1" dirty="0"/>
              <a:t>30%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0356F4D-EF6F-4CA4-9F12-1144AB06B63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52079" y="4764765"/>
            <a:ext cx="1138161" cy="1326109"/>
          </a:xfrm>
        </p:spPr>
        <p:txBody>
          <a:bodyPr>
            <a:noAutofit/>
          </a:bodyPr>
          <a:lstStyle/>
          <a:p>
            <a:r>
              <a:rPr lang="en-US" sz="1500" dirty="0"/>
              <a:t>2015 TO PRESENT</a:t>
            </a:r>
          </a:p>
        </p:txBody>
      </p:sp>
      <p:sp>
        <p:nvSpPr>
          <p:cNvPr id="49" name="Text Placeholder 20">
            <a:extLst>
              <a:ext uri="{FF2B5EF4-FFF2-40B4-BE49-F238E27FC236}">
                <a16:creationId xmlns:a16="http://schemas.microsoft.com/office/drawing/2014/main" id="{954842DC-5569-4421-BEE9-EC5D80DF6E5C}"/>
              </a:ext>
            </a:extLst>
          </p:cNvPr>
          <p:cNvSpPr txBox="1">
            <a:spLocks/>
          </p:cNvSpPr>
          <p:nvPr/>
        </p:nvSpPr>
        <p:spPr>
          <a:xfrm>
            <a:off x="1435315" y="1979037"/>
            <a:ext cx="1875911" cy="1929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BAC82F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 fontAlgn="auto">
              <a:spcBef>
                <a:spcPts val="750"/>
              </a:spcBef>
              <a:spcAft>
                <a:spcPts val="0"/>
              </a:spcAft>
              <a:buClrTx/>
              <a:buSzTx/>
            </a:pPr>
            <a:r>
              <a:rPr kumimoji="0" lang="en-US" sz="1050" dirty="0">
                <a:latin typeface="Franklin Gothic Demi"/>
              </a:rPr>
              <a:t>NO RESTRICTIONS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1960</a:t>
            </a:r>
          </a:p>
        </p:txBody>
      </p:sp>
      <p:sp>
        <p:nvSpPr>
          <p:cNvPr id="52" name="Text Placeholder 24">
            <a:extLst>
              <a:ext uri="{FF2B5EF4-FFF2-40B4-BE49-F238E27FC236}">
                <a16:creationId xmlns:a16="http://schemas.microsoft.com/office/drawing/2014/main" id="{2B193253-F94A-4164-AE5D-6B3931AE17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979616" y="2026110"/>
            <a:ext cx="1565546" cy="101902"/>
          </a:xfrm>
        </p:spPr>
        <p:txBody>
          <a:bodyPr>
            <a:noAutofit/>
          </a:bodyPr>
          <a:lstStyle/>
          <a:p>
            <a:r>
              <a:rPr lang="en-US" sz="1050" dirty="0"/>
              <a:t>REDUCED DAILY LIMIT</a:t>
            </a:r>
          </a:p>
        </p:txBody>
      </p:sp>
      <p:sp>
        <p:nvSpPr>
          <p:cNvPr id="53" name="Text Placeholder 24">
            <a:extLst>
              <a:ext uri="{FF2B5EF4-FFF2-40B4-BE49-F238E27FC236}">
                <a16:creationId xmlns:a16="http://schemas.microsoft.com/office/drawing/2014/main" id="{2B193253-F94A-4164-AE5D-6B3931AE17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880667" y="4054231"/>
            <a:ext cx="1565546" cy="101902"/>
          </a:xfrm>
        </p:spPr>
        <p:txBody>
          <a:bodyPr>
            <a:noAutofit/>
          </a:bodyPr>
          <a:lstStyle/>
          <a:p>
            <a:r>
              <a:rPr lang="en-US" sz="1050" dirty="0" smtClean="0">
                <a:solidFill>
                  <a:schemeClr val="accent1">
                    <a:lumMod val="75000"/>
                  </a:schemeClr>
                </a:solidFill>
              </a:rPr>
              <a:t>FISHERY CLOSED</a:t>
            </a: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46"/>
          </p:nvPr>
        </p:nvSpPr>
        <p:spPr>
          <a:xfrm>
            <a:off x="6005723" y="4027792"/>
            <a:ext cx="1513332" cy="130642"/>
          </a:xfrm>
        </p:spPr>
        <p:txBody>
          <a:bodyPr>
            <a:noAutofit/>
          </a:bodyPr>
          <a:lstStyle/>
          <a:p>
            <a:r>
              <a:rPr lang="en-US" sz="1050" dirty="0"/>
              <a:t>SEASON ADJUSTMENT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946F0E31-A00A-4287-813C-109216A5986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923847" y="5896606"/>
            <a:ext cx="1294597" cy="575514"/>
          </a:xfrm>
        </p:spPr>
        <p:txBody>
          <a:bodyPr>
            <a:normAutofit/>
          </a:bodyPr>
          <a:lstStyle/>
          <a:p>
            <a:r>
              <a:rPr lang="en-US" sz="900" b="1" dirty="0"/>
              <a:t>25% exploitation </a:t>
            </a:r>
            <a:r>
              <a:rPr lang="en-US" sz="900" b="1" dirty="0" smtClean="0"/>
              <a:t>rate begin variable beach openings</a:t>
            </a:r>
            <a:endParaRPr lang="en-US" sz="900" b="1" dirty="0"/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3023306" y="5726917"/>
            <a:ext cx="252401" cy="85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43">
            <a:extLst>
              <a:ext uri="{FF2B5EF4-FFF2-40B4-BE49-F238E27FC236}">
                <a16:creationId xmlns:a16="http://schemas.microsoft.com/office/drawing/2014/main" id="{00E93532-CE49-4B9B-B7CE-189B4CACB36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26679" y="6099706"/>
            <a:ext cx="1294597" cy="132035"/>
          </a:xfrm>
        </p:spPr>
        <p:txBody>
          <a:bodyPr>
            <a:normAutofit/>
          </a:bodyPr>
          <a:lstStyle/>
          <a:p>
            <a:r>
              <a:rPr lang="en-US" sz="900" b="1" dirty="0"/>
              <a:t>VARIABLE 30% TO 40%</a:t>
            </a:r>
          </a:p>
        </p:txBody>
      </p:sp>
      <p:pic>
        <p:nvPicPr>
          <p:cNvPr id="62" name="Picture 3" descr="C:\Data\Graphics\Logos\WDFW\Patch\Archive\P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9807" y="4247242"/>
            <a:ext cx="1059656" cy="1314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086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21" grpId="0" build="p"/>
      <p:bldP spid="22" grpId="0" build="p"/>
      <p:bldP spid="11" grpId="0" build="p" animBg="1"/>
      <p:bldP spid="10" grpId="0" build="p" animBg="1"/>
      <p:bldP spid="13" grpId="0" uiExpand="1" build="p" animBg="1"/>
      <p:bldP spid="36" grpId="0" build="p"/>
      <p:bldP spid="14" grpId="0" uiExpand="1" build="p" animBg="1"/>
      <p:bldP spid="15" grpId="0" build="p" animBg="1"/>
      <p:bldP spid="12" grpId="0" build="p" animBg="1"/>
      <p:bldP spid="29" grpId="0" build="p"/>
      <p:bldP spid="30" grpId="0" build="p"/>
      <p:bldP spid="16" grpId="0" build="p" animBg="1"/>
      <p:bldP spid="18" grpId="0" build="p" animBg="1"/>
      <p:bldP spid="17" grpId="0" build="p" animBg="1"/>
      <p:bldP spid="46" grpId="0" build="p" animBg="1"/>
      <p:bldP spid="48" grpId="0" build="p" animBg="1"/>
      <p:bldP spid="20" grpId="0" build="p" animBg="1"/>
    </p:bldLst>
  </p:timing>
</p:sld>
</file>

<file path=ppt/theme/theme1.xml><?xml version="1.0" encoding="utf-8"?>
<a:theme xmlns:a="http://schemas.openxmlformats.org/drawingml/2006/main" name="3_Office Theme">
  <a:themeElements>
    <a:clrScheme name="Custom 7">
      <a:dk1>
        <a:srgbClr val="0C6D82"/>
      </a:dk1>
      <a:lt1>
        <a:srgbClr val="FFFFFF"/>
      </a:lt1>
      <a:dk2>
        <a:srgbClr val="6F0066"/>
      </a:dk2>
      <a:lt2>
        <a:srgbClr val="1E597D"/>
      </a:lt2>
      <a:accent1>
        <a:srgbClr val="571B6D"/>
      </a:accent1>
      <a:accent2>
        <a:srgbClr val="2CA05B"/>
      </a:accent2>
      <a:accent3>
        <a:srgbClr val="C90B24"/>
      </a:accent3>
      <a:accent4>
        <a:srgbClr val="E8611D"/>
      </a:accent4>
      <a:accent5>
        <a:srgbClr val="F39D21"/>
      </a:accent5>
      <a:accent6>
        <a:srgbClr val="1B866F"/>
      </a:accent6>
      <a:hlink>
        <a:srgbClr val="0C6D82"/>
      </a:hlink>
      <a:folHlink>
        <a:srgbClr val="0C6D82"/>
      </a:folHlink>
    </a:clrScheme>
    <a:fontScheme name="Custom 10">
      <a:majorFont>
        <a:latin typeface="Franklin Gothic Dem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2390">
          <a:solidFill>
            <a:srgbClr val="454D5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6411242_Colorful product roadmap timeline_SL_V1.pptx" id="{6D8823AB-3E34-4E8D-AE3C-7D7916AE70B3}" vid="{BC540765-6631-455E-9814-9685D6B351E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33740</TotalTime>
  <Words>125</Words>
  <Application>Microsoft Office PowerPoint</Application>
  <PresentationFormat>Letter Paper (8.5x11 in)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Comic Sans MS</vt:lpstr>
      <vt:lpstr>Franklin Gothic Demi</vt:lpstr>
      <vt:lpstr>Monotype Sorts</vt:lpstr>
      <vt:lpstr>Segoe UI</vt:lpstr>
      <vt:lpstr>Times New Roman</vt:lpstr>
      <vt:lpstr>3_Office Theme</vt:lpstr>
      <vt:lpstr>RAZOR CLAM MANAGEMENT HISTORY</vt:lpstr>
    </vt:vector>
  </TitlesOfParts>
  <Manager>Coastal Shellfish Lead Biologist</Manager>
  <Company>WDFW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 Clam Management</dc:title>
  <dc:subject>Public Meeting</dc:subject>
  <dc:creator>Dan L. Ayres</dc:creator>
  <cp:lastModifiedBy>Dan L. Ayres</cp:lastModifiedBy>
  <cp:revision>1786</cp:revision>
  <cp:lastPrinted>2019-09-26T17:07:58Z</cp:lastPrinted>
  <dcterms:created xsi:type="dcterms:W3CDTF">1999-08-17T16:09:53Z</dcterms:created>
  <dcterms:modified xsi:type="dcterms:W3CDTF">2019-10-16T23:19:51Z</dcterms:modified>
</cp:coreProperties>
</file>