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media/image2.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handoutMasterIdLst>
    <p:handoutMasterId r:id="rId19"/>
  </p:handoutMasterIdLst>
  <p:sldIdLst>
    <p:sldId id="256" r:id="rId11"/>
    <p:sldId id="257" r:id="rId13"/>
    <p:sldId id="258" r:id="rId14"/>
    <p:sldId id="259" r:id="rId15"/>
    <p:sldId id="260" r:id="rId16"/>
    <p:sldId id="261" r:id="rId17"/>
    <p:sldId id="262" r:id="rId18"/>
    <p:sldId id="263" r:id="rId10"/>
    <p:sldId id="264" r:id="rId9"/>
    <p:sldId id="265" r:id="rId8"/>
    <p:sldId id="266" r:id="rId7"/>
    <p:sldId id="267" r:id="rId6"/>
    <p:sldId id="268" r:id="rId5"/>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07EB4D7-25B6-6B85-9290-F95130246F2E}" name="Couch, Eryn (DFW)" initials="C(" userId="S::eryn.couch@dfw.wa.gov::6628dc54-d9a5-4187-8a46-71485c065632" providerId="AD"/>
  <p188:author id="{DCBB07DC-9E44-AA92-C39B-18FE8A26D185}" name="Hart, Alison L (DFW)" initials="AH" userId="Hart, Alison L (DFW)"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F426B"/>
    <a:srgbClr val="92D2D8"/>
    <a:srgbClr val="007B55"/>
    <a:srgbClr val="F15D44"/>
    <a:srgbClr val="5A59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0" d="100"/>
          <a:sy n="110" d="100"/>
        </p:scale>
        <p:origin x="630" y="114"/>
      </p:cViewPr>
      <p:guideLst/>
    </p:cSldViewPr>
  </p:slideViewPr>
  <p:notesTextViewPr>
    <p:cViewPr>
      <p:scale>
        <a:sx n="1" d="1"/>
        <a:sy n="1" d="1"/>
      </p:scale>
      <p:origin x="0" y="0"/>
    </p:cViewPr>
  </p:notesTextViewPr>
  <p:notesViewPr>
    <p:cSldViewPr snapToGrid="0">
      <p:cViewPr varScale="1">
        <p:scale>
          <a:sx n="85" d="100"/>
          <a:sy n="85" d="100"/>
        </p:scale>
        <p:origin x="3888" y="9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3.xml"/><Relationship Id="rId6" Type="http://schemas.openxmlformats.org/officeDocument/2006/relationships/slide" Target="slides/slide12.xml"/><Relationship Id="rId7" Type="http://schemas.openxmlformats.org/officeDocument/2006/relationships/slide" Target="slides/slide11.xml"/><Relationship Id="rId8" Type="http://schemas.openxmlformats.org/officeDocument/2006/relationships/slide" Target="slides/slide10.xml"/><Relationship Id="rId9" Type="http://schemas.openxmlformats.org/officeDocument/2006/relationships/slide" Target="slides/slide9.xml"/><Relationship Id="rId10" Type="http://schemas.openxmlformats.org/officeDocument/2006/relationships/slide" Target="slides/slide8.xml"/><Relationship Id="rId11" Type="http://schemas.openxmlformats.org/officeDocument/2006/relationships/slide" Target="slides/slide1.xml"/><Relationship Id="rId12" Type="http://schemas.openxmlformats.org/officeDocument/2006/relationships/notesMaster" Target="notesMasters/notesMaster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8/10/relationships/authors" Target="authors.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709FEE8-815C-9F09-84E1-59C2DBCAC0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3208CE1-7C1C-D566-D628-3E61F2FFFE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AA1D058-9860-4C37-9D21-AC6EFE975A47}" type="datetimeFigureOut">
              <a:rPr lang="en-US" smtClean="0"/>
              <a:t>3/12/2026</a:t>
            </a:fld>
            <a:endParaRPr lang="en-US"/>
          </a:p>
        </p:txBody>
      </p:sp>
      <p:sp>
        <p:nvSpPr>
          <p:cNvPr id="4" name="Footer Placeholder 3">
            <a:extLst>
              <a:ext uri="{FF2B5EF4-FFF2-40B4-BE49-F238E27FC236}">
                <a16:creationId xmlns:a16="http://schemas.microsoft.com/office/drawing/2014/main" id="{6A63D8D6-66E1-4233-947C-6DCAC938240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1F51885-49A3-9397-8220-7D6CCC81D7B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BAD10-440F-40BF-A94A-4B961E111E2E}" type="slidenum">
              <a:rPr lang="en-US" smtClean="0"/>
              <a:t>‹#›</a:t>
            </a:fld>
            <a:endParaRPr lang="en-US"/>
          </a:p>
        </p:txBody>
      </p:sp>
    </p:spTree>
    <p:extLst>
      <p:ext uri="{BB962C8B-B14F-4D97-AF65-F5344CB8AC3E}">
        <p14:creationId xmlns:p14="http://schemas.microsoft.com/office/powerpoint/2010/main" val="20130502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Framing meeting for razor clam harvest monitoring: history, gaps, budget impact, and a re-imagined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agenda items. This deck is organized to follow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 4 chain + Sec 10 budget.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4.1-4.5.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 6.2-6.3.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 10.1 / Table 14.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 4.5.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 4.5 / 11.7. Correction: joint donor unavailable going forward.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 5.4.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Section (Fig 21). The headline budget-impact result.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budget decision: reductions are not uniform; they concentrate cost on the already-weak southern beaches.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synthesis slide: given the gaps and the budget, here is where effort should go.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 10.3 / Table 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 11.8. Sources: INGRESSPLAN98, consolidated IE inventory, wdfw02656.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 11.8.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 10.3 / Fig 16. Start with 1 fall + 1 spring; 8 is the target for a halved table, not a threshold.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 11.7. The corrected co-management trade-off.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 11.2-11.3 / Tables 19-20.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CPUE study (Fig 22-23). Confirms the doc's 0.448 and resolves it by pair; degrades to ~0.65 at 1-day lag.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CPUE study (Fig 24-25). The season-level CPUE component is the harvest floor; only measuring the target removes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 11.11. The pilot's product is the CF table; ~8 whole-beach surveys halve it (Fig 20).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 11.11. Answers 'how often + when to sample to ground-truth'. The lag caveat is why the staffing model's low-counting frontier is optimistic.</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 11.5. Cost-neutral in crew-days; donor cost is real.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Priority recommendations, updated for the no-joint-donor, budget-impact, and CPUE-transfer findings.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to the stock-assessment follow-up meeting; list the decisions needed.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29B20E8-EE02-1820-5544-18085A336327}"/>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0"/>
            <a:ext cx="12192000" cy="3429000"/>
          </a:xfrm>
          <a:prstGeom prst="rect">
            <a:avLst/>
          </a:prstGeom>
          <a:solidFill>
            <a:srgbClr val="0F42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007A53"/>
              </a:solidFill>
            </a:endParaRPr>
          </a:p>
        </p:txBody>
      </p:sp>
      <p:sp>
        <p:nvSpPr>
          <p:cNvPr id="8" name="Title 1">
            <a:extLst>
              <a:ext uri="{FF2B5EF4-FFF2-40B4-BE49-F238E27FC236}">
                <a16:creationId xmlns:a16="http://schemas.microsoft.com/office/drawing/2014/main" id="{6BC7EB52-0C9C-F1C6-B091-BF55222372B7}"/>
              </a:ext>
            </a:extLst>
          </p:cNvPr>
          <p:cNvSpPr>
            <a:spLocks noGrp="1"/>
          </p:cNvSpPr>
          <p:nvPr>
            <p:ph type="title" hasCustomPrompt="1"/>
          </p:nvPr>
        </p:nvSpPr>
        <p:spPr>
          <a:xfrm>
            <a:off x="508000" y="1143000"/>
            <a:ext cx="11176000" cy="1143000"/>
          </a:xfrm>
        </p:spPr>
        <p:txBody>
          <a:bodyPr>
            <a:normAutofit/>
          </a:bodyPr>
          <a:lstStyle>
            <a:lvl1pPr>
              <a:defRPr sz="4200" b="1" baseline="0">
                <a:solidFill>
                  <a:schemeClr val="bg1"/>
                </a:solidFill>
                <a:latin typeface="Segoe UI" panose="020B0502040204020203" pitchFamily="34" charset="0"/>
                <a:cs typeface="Segoe UI" panose="020B0502040204020203" pitchFamily="34" charset="0"/>
              </a:defRPr>
            </a:lvl1pPr>
          </a:lstStyle>
          <a:p>
            <a:r>
              <a:rPr lang="en-US" dirty="0"/>
              <a:t>Master title style</a:t>
            </a:r>
          </a:p>
        </p:txBody>
      </p:sp>
      <p:sp>
        <p:nvSpPr>
          <p:cNvPr id="2" name="Content Placeholder 2">
            <a:extLst>
              <a:ext uri="{FF2B5EF4-FFF2-40B4-BE49-F238E27FC236}">
                <a16:creationId xmlns:a16="http://schemas.microsoft.com/office/drawing/2014/main" id="{5A35CD5F-D907-C543-D46B-BA1D02F01831}"/>
              </a:ext>
            </a:extLst>
          </p:cNvPr>
          <p:cNvSpPr>
            <a:spLocks noGrp="1"/>
          </p:cNvSpPr>
          <p:nvPr>
            <p:ph sz="half" idx="1" hasCustomPrompt="1"/>
          </p:nvPr>
        </p:nvSpPr>
        <p:spPr>
          <a:xfrm>
            <a:off x="2180065" y="3645260"/>
            <a:ext cx="7831869" cy="1551490"/>
          </a:xfrm>
        </p:spPr>
        <p:txBody>
          <a:bodyPr>
            <a:normAutofit/>
          </a:bodyPr>
          <a:lstStyle>
            <a:lvl1pPr algn="ctr">
              <a:defRPr sz="2800">
                <a:solidFill>
                  <a:srgbClr val="5A594D"/>
                </a:solidFill>
              </a:defRPr>
            </a:lvl1pPr>
            <a:lvl2pPr>
              <a:defRPr sz="2800"/>
            </a:lvl2pPr>
            <a:lvl3pPr>
              <a:defRPr sz="2400"/>
            </a:lvl3pPr>
            <a:lvl4pPr>
              <a:defRPr sz="2000"/>
            </a:lvl4pPr>
            <a:lvl5pPr>
              <a:defRPr sz="2000"/>
            </a:lvl5pPr>
          </a:lstStyle>
          <a:p>
            <a:pPr lvl="0"/>
            <a:r>
              <a:rPr lang="en-US" dirty="0"/>
              <a:t>Speaker Name</a:t>
            </a:r>
          </a:p>
          <a:p>
            <a:pPr lvl="0"/>
            <a:r>
              <a:rPr lang="en-US" dirty="0"/>
              <a:t>Title, Program Name</a:t>
            </a:r>
          </a:p>
          <a:p>
            <a:pPr lvl="0"/>
            <a:r>
              <a:rPr lang="en-US" dirty="0"/>
              <a:t>Date</a:t>
            </a:r>
          </a:p>
        </p:txBody>
      </p:sp>
      <p:pic>
        <p:nvPicPr>
          <p:cNvPr id="10" name="Picture 8">
            <a:extLst>
              <a:ext uri="{FF2B5EF4-FFF2-40B4-BE49-F238E27FC236}">
                <a16:creationId xmlns:a16="http://schemas.microsoft.com/office/drawing/2014/main" id="{0DCAE3D6-58BB-7007-2D20-F621752710BE}"/>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023353" y="5314966"/>
            <a:ext cx="2145293" cy="1199670"/>
          </a:xfrm>
          <a:prstGeom prst="rect">
            <a:avLst/>
          </a:prstGeom>
        </p:spPr>
      </p:pic>
      <p:sp>
        <p:nvSpPr>
          <p:cNvPr id="9" name="Rectangle 8">
            <a:extLst>
              <a:ext uri="{FF2B5EF4-FFF2-40B4-BE49-F238E27FC236}">
                <a16:creationId xmlns:a16="http://schemas.microsoft.com/office/drawing/2014/main" id="{D2BDC616-847B-BDDA-D087-1397910DA64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3429000"/>
            <a:ext cx="12192000" cy="76200"/>
          </a:xfrm>
          <a:prstGeom prst="rect">
            <a:avLst/>
          </a:prstGeom>
          <a:solidFill>
            <a:srgbClr val="92D2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365028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4731443-4BAF-A624-C348-6ABCE5F5E791}"/>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2057400"/>
            <a:ext cx="12192000" cy="2743200"/>
          </a:xfrm>
          <a:prstGeom prst="rect">
            <a:avLst/>
          </a:prstGeom>
          <a:solidFill>
            <a:srgbClr val="0F42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BDAEBB8A-5F07-AAF3-2E74-B640CE9A3DF6}"/>
              </a:ext>
              <a:ext uri="{C183D7F6-B498-43B3-948B-1728B52AA6E4}">
                <adec:decorative xmlns:adec="http://schemas.microsoft.com/office/drawing/2017/decorative" val="0"/>
              </a:ext>
            </a:extLst>
          </p:cNvPr>
          <p:cNvSpPr>
            <a:spLocks noGrp="1"/>
          </p:cNvSpPr>
          <p:nvPr>
            <p:ph type="ctrTitle" hasCustomPrompt="1"/>
          </p:nvPr>
        </p:nvSpPr>
        <p:spPr>
          <a:xfrm>
            <a:off x="2844800" y="2667000"/>
            <a:ext cx="8534400" cy="1371600"/>
          </a:xfrm>
        </p:spPr>
        <p:txBody>
          <a:bodyPr>
            <a:normAutofit/>
          </a:bodyPr>
          <a:lstStyle>
            <a:lvl1pPr algn="l">
              <a:defRPr sz="4000" b="1">
                <a:solidFill>
                  <a:schemeClr val="bg1"/>
                </a:solidFill>
                <a:latin typeface="Segoe UI" panose="020B0502040204020203" pitchFamily="34" charset="0"/>
                <a:ea typeface="Roboto Slab" pitchFamily="2" charset="0"/>
                <a:cs typeface="Segoe UI" panose="020B0502040204020203" pitchFamily="34" charset="0"/>
              </a:defRPr>
            </a:lvl1pPr>
          </a:lstStyle>
          <a:p>
            <a:r>
              <a:rPr lang="en-US" dirty="0"/>
              <a:t>Master title style</a:t>
            </a:r>
          </a:p>
        </p:txBody>
      </p:sp>
      <p:pic>
        <p:nvPicPr>
          <p:cNvPr id="9" name="Picture 8">
            <a:extLst>
              <a:ext uri="{FF2B5EF4-FFF2-40B4-BE49-F238E27FC236}">
                <a16:creationId xmlns:a16="http://schemas.microsoft.com/office/drawing/2014/main" id="{915BFBA1-44DB-AF22-0306-2F799446F60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rcRect/>
          <a:stretch/>
        </p:blipFill>
        <p:spPr>
          <a:xfrm>
            <a:off x="813594" y="2543175"/>
            <a:ext cx="1281906" cy="1619250"/>
          </a:xfrm>
          <a:prstGeom prst="rect">
            <a:avLst/>
          </a:prstGeom>
        </p:spPr>
      </p:pic>
      <p:sp>
        <p:nvSpPr>
          <p:cNvPr id="10" name="TextBox 9">
            <a:extLst>
              <a:ext uri="{FF2B5EF4-FFF2-40B4-BE49-F238E27FC236}">
                <a16:creationId xmlns:a16="http://schemas.microsoft.com/office/drawing/2014/main" id="{AEBE36C2-37B7-77C8-A2C8-8CEB14566916}"/>
              </a:ext>
              <a:ext uri="{C183D7F6-B498-43B3-948B-1728B52AA6E4}">
                <adec:decorative xmlns:adec="http://schemas.microsoft.com/office/drawing/2017/decorative" val="0"/>
              </a:ext>
            </a:extLst>
          </p:cNvPr>
          <p:cNvSpPr txBox="1">
            <a:spLocks noGrp="1" noRot="1" noMove="1" noResize="1" noEditPoints="1" noAdjustHandles="1" noChangeArrowheads="1" noChangeShapeType="1"/>
          </p:cNvSpPr>
          <p:nvPr userDrawn="1"/>
        </p:nvSpPr>
        <p:spPr>
          <a:xfrm>
            <a:off x="11010900" y="6426279"/>
            <a:ext cx="711200" cy="261610"/>
          </a:xfrm>
          <a:prstGeom prst="rect">
            <a:avLst/>
          </a:prstGeom>
          <a:noFill/>
        </p:spPr>
        <p:txBody>
          <a:bodyPr wrap="square" rtlCol="0">
            <a:spAutoFit/>
          </a:bodyPr>
          <a:lstStyle/>
          <a:p>
            <a:pPr algn="r"/>
            <a:fld id="{A44CF46E-C689-44F1-B86A-2F369AF73809}" type="slidenum">
              <a:rPr lang="en-US" sz="1100" b="1" smtClean="0">
                <a:solidFill>
                  <a:srgbClr val="5A594D"/>
                </a:solidFill>
                <a:latin typeface="Calibri" panose="020F0502020204030204" pitchFamily="34" charset="0"/>
                <a:ea typeface="Roboto Slab" pitchFamily="2" charset="0"/>
                <a:cs typeface="Calibri" panose="020F0502020204030204" pitchFamily="34" charset="0"/>
              </a:rPr>
              <a:t>‹#›</a:t>
            </a:fld>
            <a:endParaRPr lang="en-US" sz="1100" b="1" dirty="0">
              <a:solidFill>
                <a:srgbClr val="5A594D"/>
              </a:solidFill>
              <a:latin typeface="Calibri" panose="020F0502020204030204" pitchFamily="34" charset="0"/>
              <a:ea typeface="Roboto Slab" pitchFamily="2" charset="0"/>
              <a:cs typeface="Calibri" panose="020F0502020204030204" pitchFamily="34" charset="0"/>
            </a:endParaRPr>
          </a:p>
        </p:txBody>
      </p:sp>
    </p:spTree>
    <p:extLst>
      <p:ext uri="{BB962C8B-B14F-4D97-AF65-F5344CB8AC3E}">
        <p14:creationId xmlns:p14="http://schemas.microsoft.com/office/powerpoint/2010/main" val="2061081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D687948-4D2F-57CF-C228-5BD687C99F52}"/>
              </a:ext>
              <a:ext uri="{C183D7F6-B498-43B3-948B-1728B52AA6E4}">
                <adec:decorative xmlns:adec="http://schemas.microsoft.com/office/drawing/2017/decorative" val="1"/>
              </a:ext>
            </a:extLst>
          </p:cNvPr>
          <p:cNvGrpSpPr>
            <a:grpSpLocks noGrp="1" noUngrp="1" noRot="1" noMove="1" noResize="1"/>
          </p:cNvGrpSpPr>
          <p:nvPr userDrawn="1"/>
        </p:nvGrpSpPr>
        <p:grpSpPr>
          <a:xfrm>
            <a:off x="0" y="6172200"/>
            <a:ext cx="12192000" cy="685801"/>
            <a:chOff x="0" y="6423843"/>
            <a:chExt cx="9144000" cy="434157"/>
          </a:xfrm>
        </p:grpSpPr>
        <p:sp>
          <p:nvSpPr>
            <p:cNvPr id="8" name="Rectangle 7">
              <a:extLst>
                <a:ext uri="{FF2B5EF4-FFF2-40B4-BE49-F238E27FC236}">
                  <a16:creationId xmlns:a16="http://schemas.microsoft.com/office/drawing/2014/main" id="{5E09C125-C78B-1E7C-9B80-02C0025D15EE}"/>
                </a:ext>
              </a:extLst>
            </p:cNvPr>
            <p:cNvSpPr>
              <a:spLocks noGrp="1" noRot="1" noMove="1" noResize="1" noEditPoints="1" noAdjustHandles="1" noChangeArrowheads="1" noChangeShapeType="1"/>
            </p:cNvSpPr>
            <p:nvPr userDrawn="1"/>
          </p:nvSpPr>
          <p:spPr>
            <a:xfrm>
              <a:off x="0" y="6477000"/>
              <a:ext cx="9144000" cy="381000"/>
            </a:xfrm>
            <a:prstGeom prst="rect">
              <a:avLst/>
            </a:prstGeom>
            <a:solidFill>
              <a:srgbClr val="0F426B"/>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prstClr val="white"/>
                </a:solidFill>
              </a:endParaRPr>
            </a:p>
          </p:txBody>
        </p:sp>
        <p:sp>
          <p:nvSpPr>
            <p:cNvPr id="9" name="Rectangle 8">
              <a:extLst>
                <a:ext uri="{FF2B5EF4-FFF2-40B4-BE49-F238E27FC236}">
                  <a16:creationId xmlns:a16="http://schemas.microsoft.com/office/drawing/2014/main" id="{112519E8-CEBF-D73C-75F5-F992DC2B96EE}"/>
                </a:ext>
              </a:extLst>
            </p:cNvPr>
            <p:cNvSpPr>
              <a:spLocks noGrp="1" noRot="1" noMove="1" noResize="1" noEditPoints="1" noAdjustHandles="1" noChangeArrowheads="1" noChangeShapeType="1"/>
            </p:cNvSpPr>
            <p:nvPr userDrawn="1"/>
          </p:nvSpPr>
          <p:spPr>
            <a:xfrm>
              <a:off x="0" y="6423843"/>
              <a:ext cx="9144000" cy="53157"/>
            </a:xfrm>
            <a:prstGeom prst="rect">
              <a:avLst/>
            </a:prstGeom>
            <a:solidFill>
              <a:srgbClr val="92D2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0" name="Title 1">
            <a:extLst>
              <a:ext uri="{FF2B5EF4-FFF2-40B4-BE49-F238E27FC236}">
                <a16:creationId xmlns:a16="http://schemas.microsoft.com/office/drawing/2014/main" id="{FEE575BB-B8AD-3961-7DC1-7A99C084FD64}"/>
              </a:ext>
            </a:extLst>
          </p:cNvPr>
          <p:cNvSpPr>
            <a:spLocks noGrp="1"/>
          </p:cNvSpPr>
          <p:nvPr>
            <p:ph type="title" hasCustomPrompt="1"/>
          </p:nvPr>
        </p:nvSpPr>
        <p:spPr>
          <a:xfrm>
            <a:off x="593213" y="274638"/>
            <a:ext cx="10989187" cy="868362"/>
          </a:xfrm>
        </p:spPr>
        <p:txBody>
          <a:bodyPr/>
          <a:lstStyle>
            <a:lvl1pPr algn="l">
              <a:defRPr>
                <a:solidFill>
                  <a:srgbClr val="007B55"/>
                </a:solidFill>
                <a:latin typeface="Segoe UI" panose="020B0502040204020203" pitchFamily="34" charset="0"/>
                <a:ea typeface="Roboto Slab" pitchFamily="2" charset="0"/>
                <a:cs typeface="Segoe UI" panose="020B0502040204020203" pitchFamily="34" charset="0"/>
              </a:defRPr>
            </a:lvl1pPr>
          </a:lstStyle>
          <a:p>
            <a:r>
              <a:rPr lang="en-US" dirty="0"/>
              <a:t>Master title style</a:t>
            </a:r>
          </a:p>
        </p:txBody>
      </p:sp>
      <p:sp>
        <p:nvSpPr>
          <p:cNvPr id="11" name="Content Placeholder 2">
            <a:extLst>
              <a:ext uri="{FF2B5EF4-FFF2-40B4-BE49-F238E27FC236}">
                <a16:creationId xmlns:a16="http://schemas.microsoft.com/office/drawing/2014/main" id="{849C2614-C120-DE70-9364-4FE58CE3B8B7}"/>
              </a:ext>
            </a:extLst>
          </p:cNvPr>
          <p:cNvSpPr>
            <a:spLocks noGrp="1"/>
          </p:cNvSpPr>
          <p:nvPr>
            <p:ph idx="1" hasCustomPrompt="1"/>
          </p:nvPr>
        </p:nvSpPr>
        <p:spPr>
          <a:xfrm>
            <a:off x="593212" y="1143000"/>
            <a:ext cx="10989187" cy="4800600"/>
          </a:xfrm>
        </p:spPr>
        <p:txBody>
          <a:bodyPr>
            <a:normAutofit/>
          </a:bodyPr>
          <a:lstStyle>
            <a:lvl1pPr marL="0" indent="0">
              <a:buNone/>
              <a:defRPr sz="3200">
                <a:solidFill>
                  <a:srgbClr val="0F426B"/>
                </a:solidFill>
                <a:latin typeface="Calibri" panose="020F0502020204030204" pitchFamily="34" charset="0"/>
                <a:ea typeface="Ebrima" panose="02000000000000000000" pitchFamily="2" charset="0"/>
                <a:cs typeface="Calibri" panose="020F0502020204030204" pitchFamily="34" charset="0"/>
              </a:defRPr>
            </a:lvl1pPr>
            <a:lvl2pPr marL="365760" indent="-274320">
              <a:defRPr sz="2800">
                <a:solidFill>
                  <a:srgbClr val="0F426B"/>
                </a:solidFill>
                <a:latin typeface="Calibri" panose="020F0502020204030204" pitchFamily="34" charset="0"/>
                <a:ea typeface="Ebrima" panose="02000000000000000000" pitchFamily="2" charset="0"/>
                <a:cs typeface="Calibri" panose="020F0502020204030204" pitchFamily="34" charset="0"/>
              </a:defRPr>
            </a:lvl2pPr>
            <a:lvl3pPr marL="640080" indent="-182880">
              <a:defRPr sz="2400">
                <a:solidFill>
                  <a:srgbClr val="0F426B"/>
                </a:solidFill>
                <a:latin typeface="Calibri" panose="020F0502020204030204" pitchFamily="34" charset="0"/>
                <a:ea typeface="Ebrima" panose="02000000000000000000" pitchFamily="2" charset="0"/>
                <a:cs typeface="Calibri" panose="020F0502020204030204" pitchFamily="34" charset="0"/>
              </a:defRPr>
            </a:lvl3pPr>
            <a:lvl4pPr marL="1005840">
              <a:defRPr sz="2000">
                <a:solidFill>
                  <a:srgbClr val="0F426B"/>
                </a:solidFill>
                <a:latin typeface="Calibri" panose="020F0502020204030204" pitchFamily="34" charset="0"/>
                <a:ea typeface="Ebrima" panose="02000000000000000000" pitchFamily="2" charset="0"/>
                <a:cs typeface="Calibri" panose="020F0502020204030204" pitchFamily="34" charset="0"/>
              </a:defRPr>
            </a:lvl4pPr>
            <a:lvl5pPr marL="1188720">
              <a:defRPr sz="2000">
                <a:solidFill>
                  <a:srgbClr val="0F426B"/>
                </a:solidFill>
                <a:latin typeface="Calibri" panose="020F0502020204030204" pitchFamily="34" charset="0"/>
                <a:ea typeface="Ebrima" panose="02000000000000000000" pitchFamily="2" charset="0"/>
                <a:cs typeface="Calibri" panose="020F0502020204030204" pitchFamily="34" charset="0"/>
              </a:defRPr>
            </a:lvl5pPr>
          </a:lstStyle>
          <a:p>
            <a:pPr lvl="0"/>
            <a:r>
              <a:rPr lang="en-US" dirty="0"/>
              <a:t>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Box 11">
            <a:extLst>
              <a:ext uri="{FF2B5EF4-FFF2-40B4-BE49-F238E27FC236}">
                <a16:creationId xmlns:a16="http://schemas.microsoft.com/office/drawing/2014/main" id="{E2A7A3E6-A8D9-A61B-AD99-07756017775B}"/>
              </a:ext>
            </a:extLst>
          </p:cNvPr>
          <p:cNvSpPr txBox="1">
            <a:spLocks noGrp="1" noRot="1" noMove="1" noResize="1" noEditPoints="1" noAdjustHandles="1" noChangeArrowheads="1" noChangeShapeType="1"/>
          </p:cNvSpPr>
          <p:nvPr userDrawn="1"/>
        </p:nvSpPr>
        <p:spPr>
          <a:xfrm>
            <a:off x="11010900" y="6426279"/>
            <a:ext cx="711200" cy="261610"/>
          </a:xfrm>
          <a:prstGeom prst="rect">
            <a:avLst/>
          </a:prstGeom>
          <a:noFill/>
        </p:spPr>
        <p:txBody>
          <a:bodyPr wrap="square" rtlCol="0">
            <a:spAutoFit/>
          </a:bodyPr>
          <a:lstStyle/>
          <a:p>
            <a:pPr algn="r"/>
            <a:fld id="{A44CF46E-C689-44F1-B86A-2F369AF73809}" type="slidenum">
              <a:rPr lang="en-US" sz="1100" b="1" smtClean="0">
                <a:solidFill>
                  <a:schemeClr val="bg1"/>
                </a:solidFill>
                <a:latin typeface="Calibri" panose="020F0502020204030204" pitchFamily="34" charset="0"/>
                <a:ea typeface="Roboto Slab" pitchFamily="2" charset="0"/>
                <a:cs typeface="Calibri" panose="020F0502020204030204" pitchFamily="34" charset="0"/>
              </a:rPr>
              <a:t>‹#›</a:t>
            </a:fld>
            <a:endParaRPr lang="en-US" sz="1100" b="1" dirty="0">
              <a:solidFill>
                <a:schemeClr val="bg1"/>
              </a:solidFill>
              <a:latin typeface="Calibri" panose="020F0502020204030204" pitchFamily="34" charset="0"/>
              <a:ea typeface="Roboto Slab" pitchFamily="2" charset="0"/>
              <a:cs typeface="Calibri" panose="020F0502020204030204" pitchFamily="34" charset="0"/>
            </a:endParaRPr>
          </a:p>
        </p:txBody>
      </p:sp>
      <p:pic>
        <p:nvPicPr>
          <p:cNvPr id="13" name="Graphic 12">
            <a:extLst>
              <a:ext uri="{FF2B5EF4-FFF2-40B4-BE49-F238E27FC236}">
                <a16:creationId xmlns:a16="http://schemas.microsoft.com/office/drawing/2014/main" id="{E0E51DA3-5135-68FE-C33C-DE98F42D59C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3212" y="6317722"/>
            <a:ext cx="1616588" cy="478724"/>
          </a:xfrm>
          <a:prstGeom prst="rect">
            <a:avLst/>
          </a:prstGeom>
        </p:spPr>
      </p:pic>
    </p:spTree>
    <p:extLst>
      <p:ext uri="{BB962C8B-B14F-4D97-AF65-F5344CB8AC3E}">
        <p14:creationId xmlns:p14="http://schemas.microsoft.com/office/powerpoint/2010/main" val="2208500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Slid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C68F89E-9F7A-9A57-5461-D6F332212357}"/>
              </a:ext>
            </a:extLst>
          </p:cNvPr>
          <p:cNvSpPr>
            <a:spLocks noGrp="1"/>
          </p:cNvSpPr>
          <p:nvPr>
            <p:ph type="title" hasCustomPrompt="1"/>
          </p:nvPr>
        </p:nvSpPr>
        <p:spPr>
          <a:xfrm>
            <a:off x="593213" y="274638"/>
            <a:ext cx="10989187" cy="868362"/>
          </a:xfrm>
        </p:spPr>
        <p:txBody>
          <a:bodyPr/>
          <a:lstStyle>
            <a:lvl1pPr algn="l">
              <a:defRPr>
                <a:solidFill>
                  <a:srgbClr val="007B55"/>
                </a:solidFill>
                <a:latin typeface="Segoe UI" panose="020B0502040204020203" pitchFamily="34" charset="0"/>
                <a:ea typeface="Roboto Slab" pitchFamily="2" charset="0"/>
                <a:cs typeface="Segoe UI" panose="020B0502040204020203" pitchFamily="34" charset="0"/>
              </a:defRPr>
            </a:lvl1pPr>
          </a:lstStyle>
          <a:p>
            <a:r>
              <a:rPr lang="en-US" dirty="0"/>
              <a:t>Master title style</a:t>
            </a:r>
          </a:p>
        </p:txBody>
      </p:sp>
      <p:sp>
        <p:nvSpPr>
          <p:cNvPr id="3" name="Content Placeholder 2">
            <a:extLst>
              <a:ext uri="{FF2B5EF4-FFF2-40B4-BE49-F238E27FC236}">
                <a16:creationId xmlns:a16="http://schemas.microsoft.com/office/drawing/2014/main" id="{AE2E124A-15E3-FBD3-700B-54BADAFDB1E8}"/>
              </a:ext>
            </a:extLst>
          </p:cNvPr>
          <p:cNvSpPr>
            <a:spLocks noGrp="1"/>
          </p:cNvSpPr>
          <p:nvPr>
            <p:ph sz="half" idx="1" hasCustomPrompt="1"/>
          </p:nvPr>
        </p:nvSpPr>
        <p:spPr>
          <a:xfrm>
            <a:off x="593212" y="1160091"/>
            <a:ext cx="5420180" cy="4731137"/>
          </a:xfrm>
        </p:spPr>
        <p:txBody>
          <a:bodyPr/>
          <a:lstStyle>
            <a:lvl1pPr>
              <a:defRPr sz="3200"/>
            </a:lvl1pPr>
            <a:lvl2pPr>
              <a:defRPr sz="2800"/>
            </a:lvl2pPr>
            <a:lvl3pPr>
              <a:defRPr sz="2400"/>
            </a:lvl3pPr>
            <a:lvl4pPr>
              <a:defRPr sz="2000"/>
            </a:lvl4pPr>
            <a:lvl5pPr>
              <a:defRPr sz="2000"/>
            </a:lvl5pPr>
          </a:lstStyle>
          <a:p>
            <a:pPr lvl="0"/>
            <a:r>
              <a:rPr lang="en-US" dirty="0"/>
              <a:t>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160C714A-E925-8EA8-C39B-E61BE08F0257}"/>
              </a:ext>
            </a:extLst>
          </p:cNvPr>
          <p:cNvSpPr>
            <a:spLocks noGrp="1"/>
          </p:cNvSpPr>
          <p:nvPr>
            <p:ph sz="half" idx="2" hasCustomPrompt="1"/>
          </p:nvPr>
        </p:nvSpPr>
        <p:spPr>
          <a:xfrm>
            <a:off x="6178609" y="1156914"/>
            <a:ext cx="5403791" cy="4731137"/>
          </a:xfrm>
        </p:spPr>
        <p:txBody>
          <a:bodyPr/>
          <a:lstStyle>
            <a:lvl1pPr>
              <a:defRPr sz="3200"/>
            </a:lvl1pPr>
            <a:lvl2pPr>
              <a:defRPr sz="2800"/>
            </a:lvl2pPr>
            <a:lvl3pPr>
              <a:defRPr sz="2400"/>
            </a:lvl3pPr>
            <a:lvl4pPr>
              <a:defRPr sz="2000"/>
            </a:lvl4pPr>
            <a:lvl5pPr>
              <a:defRPr sz="2000"/>
            </a:lvl5pPr>
          </a:lstStyle>
          <a:p>
            <a:pPr lvl="0"/>
            <a:r>
              <a:rPr lang="en-US" dirty="0"/>
              <a:t>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8" name="Group 7">
            <a:extLst>
              <a:ext uri="{FF2B5EF4-FFF2-40B4-BE49-F238E27FC236}">
                <a16:creationId xmlns:a16="http://schemas.microsoft.com/office/drawing/2014/main" id="{72D35D01-D513-A49B-DF93-0460AE6D357B}"/>
              </a:ext>
              <a:ext uri="{C183D7F6-B498-43B3-948B-1728B52AA6E4}">
                <adec:decorative xmlns:adec="http://schemas.microsoft.com/office/drawing/2017/decorative" val="1"/>
              </a:ext>
            </a:extLst>
          </p:cNvPr>
          <p:cNvGrpSpPr>
            <a:grpSpLocks noGrp="1" noUngrp="1" noRot="1" noMove="1" noResize="1"/>
          </p:cNvGrpSpPr>
          <p:nvPr userDrawn="1"/>
        </p:nvGrpSpPr>
        <p:grpSpPr>
          <a:xfrm>
            <a:off x="0" y="6172200"/>
            <a:ext cx="12192000" cy="685801"/>
            <a:chOff x="0" y="6423843"/>
            <a:chExt cx="9144000" cy="434157"/>
          </a:xfrm>
        </p:grpSpPr>
        <p:sp>
          <p:nvSpPr>
            <p:cNvPr id="9" name="Rectangle 8">
              <a:extLst>
                <a:ext uri="{FF2B5EF4-FFF2-40B4-BE49-F238E27FC236}">
                  <a16:creationId xmlns:a16="http://schemas.microsoft.com/office/drawing/2014/main" id="{3199AB99-1256-B198-1E90-DE4CB94B53F8}"/>
                </a:ext>
              </a:extLst>
            </p:cNvPr>
            <p:cNvSpPr>
              <a:spLocks noGrp="1" noRot="1" noMove="1" noResize="1" noEditPoints="1" noAdjustHandles="1" noChangeArrowheads="1" noChangeShapeType="1"/>
            </p:cNvSpPr>
            <p:nvPr userDrawn="1"/>
          </p:nvSpPr>
          <p:spPr>
            <a:xfrm>
              <a:off x="0" y="6477000"/>
              <a:ext cx="9144000" cy="381000"/>
            </a:xfrm>
            <a:prstGeom prst="rect">
              <a:avLst/>
            </a:prstGeom>
            <a:solidFill>
              <a:srgbClr val="0F426B"/>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prstClr val="white"/>
                </a:solidFill>
              </a:endParaRPr>
            </a:p>
          </p:txBody>
        </p:sp>
        <p:sp>
          <p:nvSpPr>
            <p:cNvPr id="10" name="Rectangle 9">
              <a:extLst>
                <a:ext uri="{FF2B5EF4-FFF2-40B4-BE49-F238E27FC236}">
                  <a16:creationId xmlns:a16="http://schemas.microsoft.com/office/drawing/2014/main" id="{A6E16079-6D89-C3DD-D420-D01EA7654A70}"/>
                </a:ext>
              </a:extLst>
            </p:cNvPr>
            <p:cNvSpPr>
              <a:spLocks noGrp="1" noRot="1" noMove="1" noResize="1" noEditPoints="1" noAdjustHandles="1" noChangeArrowheads="1" noChangeShapeType="1"/>
            </p:cNvSpPr>
            <p:nvPr userDrawn="1"/>
          </p:nvSpPr>
          <p:spPr>
            <a:xfrm>
              <a:off x="0" y="6423843"/>
              <a:ext cx="9144000" cy="53157"/>
            </a:xfrm>
            <a:prstGeom prst="rect">
              <a:avLst/>
            </a:prstGeom>
            <a:solidFill>
              <a:srgbClr val="92D2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1" name="TextBox 10">
            <a:extLst>
              <a:ext uri="{FF2B5EF4-FFF2-40B4-BE49-F238E27FC236}">
                <a16:creationId xmlns:a16="http://schemas.microsoft.com/office/drawing/2014/main" id="{ECCF79BF-5446-4474-D141-994C1D284078}"/>
              </a:ext>
            </a:extLst>
          </p:cNvPr>
          <p:cNvSpPr txBox="1">
            <a:spLocks noGrp="1" noRot="1" noMove="1" noResize="1" noEditPoints="1" noAdjustHandles="1" noChangeArrowheads="1" noChangeShapeType="1"/>
          </p:cNvSpPr>
          <p:nvPr userDrawn="1"/>
        </p:nvSpPr>
        <p:spPr>
          <a:xfrm>
            <a:off x="11010900" y="6426279"/>
            <a:ext cx="711200" cy="261610"/>
          </a:xfrm>
          <a:prstGeom prst="rect">
            <a:avLst/>
          </a:prstGeom>
          <a:noFill/>
        </p:spPr>
        <p:txBody>
          <a:bodyPr wrap="square" rtlCol="0">
            <a:spAutoFit/>
          </a:bodyPr>
          <a:lstStyle/>
          <a:p>
            <a:pPr algn="r"/>
            <a:fld id="{A44CF46E-C689-44F1-B86A-2F369AF73809}" type="slidenum">
              <a:rPr lang="en-US" sz="1100" b="1" smtClean="0">
                <a:solidFill>
                  <a:schemeClr val="bg1"/>
                </a:solidFill>
                <a:latin typeface="Calibri" panose="020F0502020204030204" pitchFamily="34" charset="0"/>
                <a:ea typeface="Roboto Slab" pitchFamily="2" charset="0"/>
                <a:cs typeface="Calibri" panose="020F0502020204030204" pitchFamily="34" charset="0"/>
              </a:rPr>
              <a:t>‹#›</a:t>
            </a:fld>
            <a:endParaRPr lang="en-US" sz="1100" b="1" dirty="0">
              <a:solidFill>
                <a:schemeClr val="bg1"/>
              </a:solidFill>
              <a:latin typeface="Calibri" panose="020F0502020204030204" pitchFamily="34" charset="0"/>
              <a:ea typeface="Roboto Slab" pitchFamily="2" charset="0"/>
              <a:cs typeface="Calibri" panose="020F0502020204030204" pitchFamily="34" charset="0"/>
            </a:endParaRPr>
          </a:p>
        </p:txBody>
      </p:sp>
      <p:pic>
        <p:nvPicPr>
          <p:cNvPr id="12" name="Graphic 11">
            <a:extLst>
              <a:ext uri="{FF2B5EF4-FFF2-40B4-BE49-F238E27FC236}">
                <a16:creationId xmlns:a16="http://schemas.microsoft.com/office/drawing/2014/main" id="{DBB3D561-8F5A-4471-40E1-22AEA0B949D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3212" y="6317722"/>
            <a:ext cx="1616588" cy="478724"/>
          </a:xfrm>
          <a:prstGeom prst="rect">
            <a:avLst/>
          </a:prstGeom>
        </p:spPr>
      </p:pic>
    </p:spTree>
    <p:extLst>
      <p:ext uri="{BB962C8B-B14F-4D97-AF65-F5344CB8AC3E}">
        <p14:creationId xmlns:p14="http://schemas.microsoft.com/office/powerpoint/2010/main" val="1648515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with One Image or Figur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C68F89E-9F7A-9A57-5461-D6F332212357}"/>
              </a:ext>
            </a:extLst>
          </p:cNvPr>
          <p:cNvSpPr>
            <a:spLocks noGrp="1"/>
          </p:cNvSpPr>
          <p:nvPr>
            <p:ph type="title" hasCustomPrompt="1"/>
          </p:nvPr>
        </p:nvSpPr>
        <p:spPr>
          <a:xfrm>
            <a:off x="593213" y="274638"/>
            <a:ext cx="10989187" cy="868362"/>
          </a:xfrm>
        </p:spPr>
        <p:txBody>
          <a:bodyPr/>
          <a:lstStyle>
            <a:lvl1pPr algn="l">
              <a:defRPr>
                <a:solidFill>
                  <a:srgbClr val="007B55"/>
                </a:solidFill>
                <a:latin typeface="Segoe UI" panose="020B0502040204020203" pitchFamily="34" charset="0"/>
                <a:ea typeface="Roboto Slab" pitchFamily="2" charset="0"/>
                <a:cs typeface="Segoe UI" panose="020B0502040204020203" pitchFamily="34" charset="0"/>
              </a:defRPr>
            </a:lvl1pPr>
          </a:lstStyle>
          <a:p>
            <a:r>
              <a:rPr lang="en-US" dirty="0"/>
              <a:t>Master title style</a:t>
            </a:r>
          </a:p>
        </p:txBody>
      </p:sp>
      <p:sp>
        <p:nvSpPr>
          <p:cNvPr id="3" name="Content Placeholder 2">
            <a:extLst>
              <a:ext uri="{FF2B5EF4-FFF2-40B4-BE49-F238E27FC236}">
                <a16:creationId xmlns:a16="http://schemas.microsoft.com/office/drawing/2014/main" id="{AE2E124A-15E3-FBD3-700B-54BADAFDB1E8}"/>
              </a:ext>
              <a:ext uri="{C183D7F6-B498-43B3-948B-1728B52AA6E4}">
                <adec:decorative xmlns:adec="http://schemas.microsoft.com/office/drawing/2017/decorative" val="0"/>
              </a:ext>
            </a:extLst>
          </p:cNvPr>
          <p:cNvSpPr>
            <a:spLocks noGrp="1"/>
          </p:cNvSpPr>
          <p:nvPr>
            <p:ph sz="half" idx="1" hasCustomPrompt="1"/>
          </p:nvPr>
        </p:nvSpPr>
        <p:spPr>
          <a:xfrm>
            <a:off x="593212" y="1160091"/>
            <a:ext cx="5420180" cy="4731137"/>
          </a:xfrm>
        </p:spPr>
        <p:txBody>
          <a:bodyPr/>
          <a:lstStyle>
            <a:lvl1pPr>
              <a:defRPr sz="3200"/>
            </a:lvl1pPr>
            <a:lvl2pPr>
              <a:defRPr sz="2800"/>
            </a:lvl2pPr>
            <a:lvl3pPr>
              <a:defRPr sz="2400"/>
            </a:lvl3pPr>
            <a:lvl4pPr>
              <a:defRPr sz="2000"/>
            </a:lvl4pPr>
            <a:lvl5pPr>
              <a:defRPr sz="2000"/>
            </a:lvl5pPr>
          </a:lstStyle>
          <a:p>
            <a:pPr lvl="0"/>
            <a:r>
              <a:rPr lang="en-US" dirty="0"/>
              <a:t>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Picture Placeholder 2">
            <a:extLst>
              <a:ext uri="{FF2B5EF4-FFF2-40B4-BE49-F238E27FC236}">
                <a16:creationId xmlns:a16="http://schemas.microsoft.com/office/drawing/2014/main" id="{B6584567-5C82-5AF2-16CA-CC5F6B47E877}"/>
              </a:ext>
            </a:extLst>
          </p:cNvPr>
          <p:cNvSpPr>
            <a:spLocks noGrp="1"/>
          </p:cNvSpPr>
          <p:nvPr>
            <p:ph type="pic" idx="10" hasCustomPrompt="1"/>
          </p:nvPr>
        </p:nvSpPr>
        <p:spPr>
          <a:xfrm>
            <a:off x="6178610" y="1160092"/>
            <a:ext cx="5403790" cy="430729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Image or figure</a:t>
            </a:r>
          </a:p>
        </p:txBody>
      </p:sp>
      <p:sp>
        <p:nvSpPr>
          <p:cNvPr id="5" name="Content Placeholder 2">
            <a:extLst>
              <a:ext uri="{FF2B5EF4-FFF2-40B4-BE49-F238E27FC236}">
                <a16:creationId xmlns:a16="http://schemas.microsoft.com/office/drawing/2014/main" id="{21943B9D-1DE3-3E5F-C3F7-356B4EE5C2FA}"/>
              </a:ext>
            </a:extLst>
          </p:cNvPr>
          <p:cNvSpPr>
            <a:spLocks noGrp="1"/>
          </p:cNvSpPr>
          <p:nvPr>
            <p:ph sz="half" idx="11" hasCustomPrompt="1"/>
          </p:nvPr>
        </p:nvSpPr>
        <p:spPr>
          <a:xfrm>
            <a:off x="6178610" y="5637498"/>
            <a:ext cx="5420180" cy="253730"/>
          </a:xfrm>
        </p:spPr>
        <p:txBody>
          <a:bodyPr>
            <a:normAutofit/>
          </a:bodyPr>
          <a:lstStyle>
            <a:lvl1pPr>
              <a:defRPr sz="1200"/>
            </a:lvl1pPr>
            <a:lvl2pPr>
              <a:defRPr sz="2800"/>
            </a:lvl2pPr>
            <a:lvl3pPr>
              <a:defRPr sz="2400"/>
            </a:lvl3pPr>
            <a:lvl4pPr>
              <a:defRPr sz="2000"/>
            </a:lvl4pPr>
            <a:lvl5pPr>
              <a:defRPr sz="2000"/>
            </a:lvl5pPr>
          </a:lstStyle>
          <a:p>
            <a:pPr lvl="0"/>
            <a:r>
              <a:rPr lang="en-US" dirty="0"/>
              <a:t>Photo credit or figure caption.</a:t>
            </a:r>
          </a:p>
        </p:txBody>
      </p:sp>
      <p:grpSp>
        <p:nvGrpSpPr>
          <p:cNvPr id="8" name="Group 7">
            <a:extLst>
              <a:ext uri="{FF2B5EF4-FFF2-40B4-BE49-F238E27FC236}">
                <a16:creationId xmlns:a16="http://schemas.microsoft.com/office/drawing/2014/main" id="{72D35D01-D513-A49B-DF93-0460AE6D357B}"/>
              </a:ext>
              <a:ext uri="{C183D7F6-B498-43B3-948B-1728B52AA6E4}">
                <adec:decorative xmlns:adec="http://schemas.microsoft.com/office/drawing/2017/decorative" val="1"/>
              </a:ext>
            </a:extLst>
          </p:cNvPr>
          <p:cNvGrpSpPr>
            <a:grpSpLocks noGrp="1" noUngrp="1" noRot="1" noMove="1" noResize="1"/>
          </p:cNvGrpSpPr>
          <p:nvPr userDrawn="1"/>
        </p:nvGrpSpPr>
        <p:grpSpPr>
          <a:xfrm>
            <a:off x="0" y="6172200"/>
            <a:ext cx="12192000" cy="685801"/>
            <a:chOff x="0" y="6423843"/>
            <a:chExt cx="9144000" cy="434157"/>
          </a:xfrm>
        </p:grpSpPr>
        <p:sp>
          <p:nvSpPr>
            <p:cNvPr id="9" name="Rectangle 8">
              <a:extLst>
                <a:ext uri="{FF2B5EF4-FFF2-40B4-BE49-F238E27FC236}">
                  <a16:creationId xmlns:a16="http://schemas.microsoft.com/office/drawing/2014/main" id="{3199AB99-1256-B198-1E90-DE4CB94B53F8}"/>
                </a:ext>
              </a:extLst>
            </p:cNvPr>
            <p:cNvSpPr>
              <a:spLocks noGrp="1" noRot="1" noMove="1" noResize="1" noEditPoints="1" noAdjustHandles="1" noChangeArrowheads="1" noChangeShapeType="1"/>
            </p:cNvSpPr>
            <p:nvPr userDrawn="1"/>
          </p:nvSpPr>
          <p:spPr>
            <a:xfrm>
              <a:off x="0" y="6477000"/>
              <a:ext cx="9144000" cy="381000"/>
            </a:xfrm>
            <a:prstGeom prst="rect">
              <a:avLst/>
            </a:prstGeom>
            <a:solidFill>
              <a:srgbClr val="0F426B"/>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prstClr val="white"/>
                </a:solidFill>
              </a:endParaRPr>
            </a:p>
          </p:txBody>
        </p:sp>
        <p:sp>
          <p:nvSpPr>
            <p:cNvPr id="10" name="Rectangle 9">
              <a:extLst>
                <a:ext uri="{FF2B5EF4-FFF2-40B4-BE49-F238E27FC236}">
                  <a16:creationId xmlns:a16="http://schemas.microsoft.com/office/drawing/2014/main" id="{A6E16079-6D89-C3DD-D420-D01EA7654A70}"/>
                </a:ext>
              </a:extLst>
            </p:cNvPr>
            <p:cNvSpPr>
              <a:spLocks noGrp="1" noRot="1" noMove="1" noResize="1" noEditPoints="1" noAdjustHandles="1" noChangeArrowheads="1" noChangeShapeType="1"/>
            </p:cNvSpPr>
            <p:nvPr userDrawn="1"/>
          </p:nvSpPr>
          <p:spPr>
            <a:xfrm>
              <a:off x="0" y="6423843"/>
              <a:ext cx="9144000" cy="53157"/>
            </a:xfrm>
            <a:prstGeom prst="rect">
              <a:avLst/>
            </a:prstGeom>
            <a:solidFill>
              <a:srgbClr val="92D2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1" name="TextBox 10">
            <a:extLst>
              <a:ext uri="{FF2B5EF4-FFF2-40B4-BE49-F238E27FC236}">
                <a16:creationId xmlns:a16="http://schemas.microsoft.com/office/drawing/2014/main" id="{ECCF79BF-5446-4474-D141-994C1D284078}"/>
              </a:ext>
            </a:extLst>
          </p:cNvPr>
          <p:cNvSpPr txBox="1">
            <a:spLocks noGrp="1" noRot="1" noMove="1" noResize="1" noEditPoints="1" noAdjustHandles="1" noChangeArrowheads="1" noChangeShapeType="1"/>
          </p:cNvSpPr>
          <p:nvPr userDrawn="1"/>
        </p:nvSpPr>
        <p:spPr>
          <a:xfrm>
            <a:off x="11010900" y="6426279"/>
            <a:ext cx="711200" cy="261610"/>
          </a:xfrm>
          <a:prstGeom prst="rect">
            <a:avLst/>
          </a:prstGeom>
          <a:noFill/>
        </p:spPr>
        <p:txBody>
          <a:bodyPr wrap="square" rtlCol="0">
            <a:spAutoFit/>
          </a:bodyPr>
          <a:lstStyle/>
          <a:p>
            <a:pPr algn="r"/>
            <a:fld id="{A44CF46E-C689-44F1-B86A-2F369AF73809}" type="slidenum">
              <a:rPr lang="en-US" sz="1100" b="1" smtClean="0">
                <a:solidFill>
                  <a:schemeClr val="bg1"/>
                </a:solidFill>
                <a:latin typeface="Calibri" panose="020F0502020204030204" pitchFamily="34" charset="0"/>
                <a:ea typeface="Roboto Slab" pitchFamily="2" charset="0"/>
                <a:cs typeface="Calibri" panose="020F0502020204030204" pitchFamily="34" charset="0"/>
              </a:rPr>
              <a:t>‹#›</a:t>
            </a:fld>
            <a:endParaRPr lang="en-US" sz="1100" b="1" dirty="0">
              <a:solidFill>
                <a:schemeClr val="bg1"/>
              </a:solidFill>
              <a:latin typeface="Calibri" panose="020F0502020204030204" pitchFamily="34" charset="0"/>
              <a:ea typeface="Roboto Slab" pitchFamily="2" charset="0"/>
              <a:cs typeface="Calibri" panose="020F0502020204030204" pitchFamily="34" charset="0"/>
            </a:endParaRPr>
          </a:p>
        </p:txBody>
      </p:sp>
      <p:pic>
        <p:nvPicPr>
          <p:cNvPr id="12" name="Graphic 11">
            <a:extLst>
              <a:ext uri="{FF2B5EF4-FFF2-40B4-BE49-F238E27FC236}">
                <a16:creationId xmlns:a16="http://schemas.microsoft.com/office/drawing/2014/main" id="{DBB3D561-8F5A-4471-40E1-22AEA0B949D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3212" y="6317722"/>
            <a:ext cx="1616588" cy="478724"/>
          </a:xfrm>
          <a:prstGeom prst="rect">
            <a:avLst/>
          </a:prstGeom>
        </p:spPr>
      </p:pic>
    </p:spTree>
    <p:extLst>
      <p:ext uri="{BB962C8B-B14F-4D97-AF65-F5344CB8AC3E}">
        <p14:creationId xmlns:p14="http://schemas.microsoft.com/office/powerpoint/2010/main" val="1989012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Two Images or Figures">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66A8D98D-32F0-3856-8ECD-C7676C4EDA25}"/>
              </a:ext>
            </a:extLst>
          </p:cNvPr>
          <p:cNvSpPr>
            <a:spLocks noGrp="1"/>
          </p:cNvSpPr>
          <p:nvPr>
            <p:ph type="title" hasCustomPrompt="1"/>
          </p:nvPr>
        </p:nvSpPr>
        <p:spPr>
          <a:xfrm>
            <a:off x="593213" y="274638"/>
            <a:ext cx="10989187" cy="868362"/>
          </a:xfrm>
        </p:spPr>
        <p:txBody>
          <a:bodyPr/>
          <a:lstStyle>
            <a:lvl1pPr algn="l">
              <a:defRPr>
                <a:solidFill>
                  <a:srgbClr val="007B55"/>
                </a:solidFill>
                <a:latin typeface="Segoe UI" panose="020B0502040204020203" pitchFamily="34" charset="0"/>
                <a:ea typeface="Roboto Slab" pitchFamily="2" charset="0"/>
                <a:cs typeface="Segoe UI" panose="020B0502040204020203" pitchFamily="34" charset="0"/>
              </a:defRPr>
            </a:lvl1pPr>
          </a:lstStyle>
          <a:p>
            <a:r>
              <a:rPr lang="en-US" dirty="0"/>
              <a:t>Master title style</a:t>
            </a:r>
          </a:p>
        </p:txBody>
      </p:sp>
      <p:sp>
        <p:nvSpPr>
          <p:cNvPr id="3" name="Content Placeholder 2">
            <a:extLst>
              <a:ext uri="{FF2B5EF4-FFF2-40B4-BE49-F238E27FC236}">
                <a16:creationId xmlns:a16="http://schemas.microsoft.com/office/drawing/2014/main" id="{696F640D-08FB-1ABB-A45A-322CD0EEA06B}"/>
              </a:ext>
            </a:extLst>
          </p:cNvPr>
          <p:cNvSpPr>
            <a:spLocks noGrp="1"/>
          </p:cNvSpPr>
          <p:nvPr>
            <p:ph idx="1" hasCustomPrompt="1"/>
          </p:nvPr>
        </p:nvSpPr>
        <p:spPr>
          <a:xfrm>
            <a:off x="594094" y="1154103"/>
            <a:ext cx="10988305" cy="1213084"/>
          </a:xfrm>
        </p:spPr>
        <p:txBody>
          <a:bodyPr/>
          <a:lstStyle>
            <a:lvl1pPr>
              <a:defRPr sz="3200"/>
            </a:lvl1pPr>
            <a:lvl2pPr marL="457200" indent="0">
              <a:buNone/>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Master text styles</a:t>
            </a:r>
          </a:p>
        </p:txBody>
      </p:sp>
      <p:sp>
        <p:nvSpPr>
          <p:cNvPr id="16" name="Picture Placeholder 2">
            <a:extLst>
              <a:ext uri="{FF2B5EF4-FFF2-40B4-BE49-F238E27FC236}">
                <a16:creationId xmlns:a16="http://schemas.microsoft.com/office/drawing/2014/main" id="{4F45E2E3-2911-AE05-4C8E-7C84A13D79AA}"/>
              </a:ext>
            </a:extLst>
          </p:cNvPr>
          <p:cNvSpPr>
            <a:spLocks noGrp="1"/>
          </p:cNvSpPr>
          <p:nvPr>
            <p:ph type="pic" idx="11" hasCustomPrompt="1"/>
          </p:nvPr>
        </p:nvSpPr>
        <p:spPr>
          <a:xfrm>
            <a:off x="609601" y="2511660"/>
            <a:ext cx="5403790" cy="31450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Image or figure</a:t>
            </a:r>
          </a:p>
        </p:txBody>
      </p:sp>
      <p:sp>
        <p:nvSpPr>
          <p:cNvPr id="2" name="Content Placeholder 2">
            <a:extLst>
              <a:ext uri="{FF2B5EF4-FFF2-40B4-BE49-F238E27FC236}">
                <a16:creationId xmlns:a16="http://schemas.microsoft.com/office/drawing/2014/main" id="{15D12262-081C-F343-CB0B-2EF83F9B63CB}"/>
              </a:ext>
            </a:extLst>
          </p:cNvPr>
          <p:cNvSpPr>
            <a:spLocks noGrp="1"/>
          </p:cNvSpPr>
          <p:nvPr>
            <p:ph sz="half" idx="14" hasCustomPrompt="1"/>
          </p:nvPr>
        </p:nvSpPr>
        <p:spPr>
          <a:xfrm>
            <a:off x="609601" y="5787595"/>
            <a:ext cx="5420180" cy="253730"/>
          </a:xfrm>
        </p:spPr>
        <p:txBody>
          <a:bodyPr>
            <a:normAutofit/>
          </a:bodyPr>
          <a:lstStyle>
            <a:lvl1pPr>
              <a:defRPr sz="1200"/>
            </a:lvl1pPr>
            <a:lvl2pPr>
              <a:defRPr sz="2800"/>
            </a:lvl2pPr>
            <a:lvl3pPr>
              <a:defRPr sz="2400"/>
            </a:lvl3pPr>
            <a:lvl4pPr>
              <a:defRPr sz="2000"/>
            </a:lvl4pPr>
            <a:lvl5pPr>
              <a:defRPr sz="2000"/>
            </a:lvl5pPr>
          </a:lstStyle>
          <a:p>
            <a:pPr lvl="0"/>
            <a:r>
              <a:rPr lang="en-US" dirty="0"/>
              <a:t>Photo credit or figure caption.</a:t>
            </a:r>
          </a:p>
        </p:txBody>
      </p:sp>
      <p:sp>
        <p:nvSpPr>
          <p:cNvPr id="14" name="Picture Placeholder 2">
            <a:extLst>
              <a:ext uri="{FF2B5EF4-FFF2-40B4-BE49-F238E27FC236}">
                <a16:creationId xmlns:a16="http://schemas.microsoft.com/office/drawing/2014/main" id="{227D89F9-E5E8-1D23-B541-9AC0A1B3D3DA}"/>
              </a:ext>
            </a:extLst>
          </p:cNvPr>
          <p:cNvSpPr>
            <a:spLocks noGrp="1"/>
          </p:cNvSpPr>
          <p:nvPr>
            <p:ph type="pic" idx="10" hasCustomPrompt="1"/>
          </p:nvPr>
        </p:nvSpPr>
        <p:spPr>
          <a:xfrm>
            <a:off x="6178610" y="2511660"/>
            <a:ext cx="5403790" cy="31450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Image or figure</a:t>
            </a:r>
          </a:p>
        </p:txBody>
      </p:sp>
      <p:sp>
        <p:nvSpPr>
          <p:cNvPr id="6" name="Content Placeholder 2">
            <a:extLst>
              <a:ext uri="{FF2B5EF4-FFF2-40B4-BE49-F238E27FC236}">
                <a16:creationId xmlns:a16="http://schemas.microsoft.com/office/drawing/2014/main" id="{E28F8F39-9023-8D9C-C875-114F54DEB10F}"/>
              </a:ext>
            </a:extLst>
          </p:cNvPr>
          <p:cNvSpPr>
            <a:spLocks noGrp="1"/>
          </p:cNvSpPr>
          <p:nvPr>
            <p:ph sz="half" idx="13" hasCustomPrompt="1"/>
          </p:nvPr>
        </p:nvSpPr>
        <p:spPr>
          <a:xfrm>
            <a:off x="6178610" y="5787595"/>
            <a:ext cx="5420180" cy="253730"/>
          </a:xfrm>
        </p:spPr>
        <p:txBody>
          <a:bodyPr>
            <a:normAutofit/>
          </a:bodyPr>
          <a:lstStyle>
            <a:lvl1pPr>
              <a:defRPr sz="1200"/>
            </a:lvl1pPr>
            <a:lvl2pPr>
              <a:defRPr sz="2800"/>
            </a:lvl2pPr>
            <a:lvl3pPr>
              <a:defRPr sz="2400"/>
            </a:lvl3pPr>
            <a:lvl4pPr>
              <a:defRPr sz="2000"/>
            </a:lvl4pPr>
            <a:lvl5pPr>
              <a:defRPr sz="2000"/>
            </a:lvl5pPr>
          </a:lstStyle>
          <a:p>
            <a:pPr lvl="0"/>
            <a:r>
              <a:rPr lang="en-US" dirty="0"/>
              <a:t>Photo credit or figure caption.</a:t>
            </a:r>
          </a:p>
        </p:txBody>
      </p:sp>
      <p:grpSp>
        <p:nvGrpSpPr>
          <p:cNvPr id="8" name="Group 7">
            <a:extLst>
              <a:ext uri="{FF2B5EF4-FFF2-40B4-BE49-F238E27FC236}">
                <a16:creationId xmlns:a16="http://schemas.microsoft.com/office/drawing/2014/main" id="{D46344D7-743F-0440-C39E-F79E0B97C560}"/>
              </a:ext>
              <a:ext uri="{C183D7F6-B498-43B3-948B-1728B52AA6E4}">
                <adec:decorative xmlns:adec="http://schemas.microsoft.com/office/drawing/2017/decorative" val="1"/>
              </a:ext>
            </a:extLst>
          </p:cNvPr>
          <p:cNvGrpSpPr>
            <a:grpSpLocks noGrp="1" noUngrp="1" noRot="1" noMove="1" noResize="1"/>
          </p:cNvGrpSpPr>
          <p:nvPr userDrawn="1"/>
        </p:nvGrpSpPr>
        <p:grpSpPr>
          <a:xfrm>
            <a:off x="0" y="6172200"/>
            <a:ext cx="12192000" cy="685801"/>
            <a:chOff x="0" y="6423843"/>
            <a:chExt cx="9144000" cy="434157"/>
          </a:xfrm>
        </p:grpSpPr>
        <p:sp>
          <p:nvSpPr>
            <p:cNvPr id="9" name="Rectangle 8">
              <a:extLst>
                <a:ext uri="{FF2B5EF4-FFF2-40B4-BE49-F238E27FC236}">
                  <a16:creationId xmlns:a16="http://schemas.microsoft.com/office/drawing/2014/main" id="{A0E5AFAE-B165-EE68-BBEB-21DAEFE633F2}"/>
                </a:ext>
              </a:extLst>
            </p:cNvPr>
            <p:cNvSpPr>
              <a:spLocks noGrp="1" noRot="1" noMove="1" noResize="1" noEditPoints="1" noAdjustHandles="1" noChangeArrowheads="1" noChangeShapeType="1"/>
            </p:cNvSpPr>
            <p:nvPr userDrawn="1"/>
          </p:nvSpPr>
          <p:spPr>
            <a:xfrm>
              <a:off x="0" y="6477000"/>
              <a:ext cx="9144000" cy="381000"/>
            </a:xfrm>
            <a:prstGeom prst="rect">
              <a:avLst/>
            </a:prstGeom>
            <a:solidFill>
              <a:srgbClr val="0F426B"/>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prstClr val="white"/>
                </a:solidFill>
              </a:endParaRPr>
            </a:p>
          </p:txBody>
        </p:sp>
        <p:sp>
          <p:nvSpPr>
            <p:cNvPr id="10" name="Rectangle 9">
              <a:extLst>
                <a:ext uri="{FF2B5EF4-FFF2-40B4-BE49-F238E27FC236}">
                  <a16:creationId xmlns:a16="http://schemas.microsoft.com/office/drawing/2014/main" id="{357C6B7E-619E-D462-3F1A-83F2A95D8802}"/>
                </a:ext>
              </a:extLst>
            </p:cNvPr>
            <p:cNvSpPr>
              <a:spLocks noGrp="1" noRot="1" noMove="1" noResize="1" noEditPoints="1" noAdjustHandles="1" noChangeArrowheads="1" noChangeShapeType="1"/>
            </p:cNvSpPr>
            <p:nvPr userDrawn="1"/>
          </p:nvSpPr>
          <p:spPr>
            <a:xfrm>
              <a:off x="0" y="6423843"/>
              <a:ext cx="9144000" cy="53157"/>
            </a:xfrm>
            <a:prstGeom prst="rect">
              <a:avLst/>
            </a:prstGeom>
            <a:solidFill>
              <a:srgbClr val="92D2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1" name="TextBox 10">
            <a:extLst>
              <a:ext uri="{FF2B5EF4-FFF2-40B4-BE49-F238E27FC236}">
                <a16:creationId xmlns:a16="http://schemas.microsoft.com/office/drawing/2014/main" id="{1ADDF728-D389-41F4-E9C5-2A99E3584FD6}"/>
              </a:ext>
            </a:extLst>
          </p:cNvPr>
          <p:cNvSpPr txBox="1">
            <a:spLocks noGrp="1" noRot="1" noMove="1" noResize="1" noEditPoints="1" noAdjustHandles="1" noChangeArrowheads="1" noChangeShapeType="1"/>
          </p:cNvSpPr>
          <p:nvPr userDrawn="1"/>
        </p:nvSpPr>
        <p:spPr>
          <a:xfrm>
            <a:off x="11010900" y="6426279"/>
            <a:ext cx="711200" cy="261610"/>
          </a:xfrm>
          <a:prstGeom prst="rect">
            <a:avLst/>
          </a:prstGeom>
          <a:noFill/>
        </p:spPr>
        <p:txBody>
          <a:bodyPr wrap="square" rtlCol="0">
            <a:spAutoFit/>
          </a:bodyPr>
          <a:lstStyle/>
          <a:p>
            <a:pPr algn="r"/>
            <a:fld id="{A44CF46E-C689-44F1-B86A-2F369AF73809}" type="slidenum">
              <a:rPr lang="en-US" sz="1100" b="1" smtClean="0">
                <a:solidFill>
                  <a:schemeClr val="bg1"/>
                </a:solidFill>
                <a:latin typeface="Calibri" panose="020F0502020204030204" pitchFamily="34" charset="0"/>
                <a:ea typeface="Roboto Slab" pitchFamily="2" charset="0"/>
                <a:cs typeface="Calibri" panose="020F0502020204030204" pitchFamily="34" charset="0"/>
              </a:rPr>
              <a:t>‹#›</a:t>
            </a:fld>
            <a:endParaRPr lang="en-US" sz="1100" b="1" dirty="0">
              <a:solidFill>
                <a:schemeClr val="bg1"/>
              </a:solidFill>
              <a:latin typeface="Calibri" panose="020F0502020204030204" pitchFamily="34" charset="0"/>
              <a:ea typeface="Roboto Slab" pitchFamily="2" charset="0"/>
              <a:cs typeface="Calibri" panose="020F0502020204030204" pitchFamily="34" charset="0"/>
            </a:endParaRPr>
          </a:p>
        </p:txBody>
      </p:sp>
      <p:pic>
        <p:nvPicPr>
          <p:cNvPr id="12" name="Graphic 11">
            <a:extLst>
              <a:ext uri="{FF2B5EF4-FFF2-40B4-BE49-F238E27FC236}">
                <a16:creationId xmlns:a16="http://schemas.microsoft.com/office/drawing/2014/main" id="{5A03E084-6B9C-B381-C0BB-915F6FCE88F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3212" y="6317722"/>
            <a:ext cx="1616588" cy="478724"/>
          </a:xfrm>
          <a:prstGeom prst="rect">
            <a:avLst/>
          </a:prstGeom>
        </p:spPr>
      </p:pic>
    </p:spTree>
    <p:extLst>
      <p:ext uri="{BB962C8B-B14F-4D97-AF65-F5344CB8AC3E}">
        <p14:creationId xmlns:p14="http://schemas.microsoft.com/office/powerpoint/2010/main" val="3001719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Three Images or Figures">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48536B0-08A2-DB4F-63ED-D36260041485}"/>
              </a:ext>
            </a:extLst>
          </p:cNvPr>
          <p:cNvSpPr>
            <a:spLocks noGrp="1"/>
          </p:cNvSpPr>
          <p:nvPr>
            <p:ph type="title" hasCustomPrompt="1"/>
          </p:nvPr>
        </p:nvSpPr>
        <p:spPr>
          <a:xfrm>
            <a:off x="593213" y="274638"/>
            <a:ext cx="10989187" cy="868362"/>
          </a:xfrm>
        </p:spPr>
        <p:txBody>
          <a:bodyPr/>
          <a:lstStyle>
            <a:lvl1pPr algn="l">
              <a:defRPr>
                <a:solidFill>
                  <a:srgbClr val="007B55"/>
                </a:solidFill>
                <a:latin typeface="Segoe UI" panose="020B0502040204020203" pitchFamily="34" charset="0"/>
                <a:ea typeface="Roboto Slab" pitchFamily="2" charset="0"/>
                <a:cs typeface="Segoe UI" panose="020B0502040204020203" pitchFamily="34" charset="0"/>
              </a:defRPr>
            </a:lvl1pPr>
          </a:lstStyle>
          <a:p>
            <a:r>
              <a:rPr lang="en-US" dirty="0"/>
              <a:t>Master title style</a:t>
            </a:r>
          </a:p>
        </p:txBody>
      </p:sp>
      <p:sp>
        <p:nvSpPr>
          <p:cNvPr id="3" name="Content Placeholder 2">
            <a:extLst>
              <a:ext uri="{FF2B5EF4-FFF2-40B4-BE49-F238E27FC236}">
                <a16:creationId xmlns:a16="http://schemas.microsoft.com/office/drawing/2014/main" id="{696F640D-08FB-1ABB-A45A-322CD0EEA06B}"/>
              </a:ext>
            </a:extLst>
          </p:cNvPr>
          <p:cNvSpPr>
            <a:spLocks noGrp="1"/>
          </p:cNvSpPr>
          <p:nvPr>
            <p:ph idx="1" hasCustomPrompt="1"/>
          </p:nvPr>
        </p:nvSpPr>
        <p:spPr>
          <a:xfrm>
            <a:off x="594094" y="1154103"/>
            <a:ext cx="10988305" cy="1213084"/>
          </a:xfrm>
        </p:spPr>
        <p:txBody>
          <a:bodyPr/>
          <a:lstStyle>
            <a:lvl1pPr>
              <a:defRPr sz="3200"/>
            </a:lvl1pPr>
            <a:lvl2pPr marL="457200" indent="0">
              <a:buNone/>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Master text styles</a:t>
            </a:r>
          </a:p>
        </p:txBody>
      </p:sp>
      <p:sp>
        <p:nvSpPr>
          <p:cNvPr id="16" name="Picture Placeholder 2">
            <a:extLst>
              <a:ext uri="{FF2B5EF4-FFF2-40B4-BE49-F238E27FC236}">
                <a16:creationId xmlns:a16="http://schemas.microsoft.com/office/drawing/2014/main" id="{4F45E2E3-2911-AE05-4C8E-7C84A13D79AA}"/>
              </a:ext>
            </a:extLst>
          </p:cNvPr>
          <p:cNvSpPr>
            <a:spLocks noGrp="1"/>
          </p:cNvSpPr>
          <p:nvPr>
            <p:ph type="pic" idx="11" hasCustomPrompt="1"/>
          </p:nvPr>
        </p:nvSpPr>
        <p:spPr>
          <a:xfrm>
            <a:off x="593212" y="2537298"/>
            <a:ext cx="3458197" cy="311942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Image or figure</a:t>
            </a:r>
          </a:p>
        </p:txBody>
      </p:sp>
      <p:sp>
        <p:nvSpPr>
          <p:cNvPr id="5" name="Content Placeholder 2">
            <a:extLst>
              <a:ext uri="{FF2B5EF4-FFF2-40B4-BE49-F238E27FC236}">
                <a16:creationId xmlns:a16="http://schemas.microsoft.com/office/drawing/2014/main" id="{BCDC8034-E799-9636-AF90-FB2577D8242E}"/>
              </a:ext>
            </a:extLst>
          </p:cNvPr>
          <p:cNvSpPr>
            <a:spLocks noGrp="1"/>
          </p:cNvSpPr>
          <p:nvPr>
            <p:ph sz="half" idx="14" hasCustomPrompt="1"/>
          </p:nvPr>
        </p:nvSpPr>
        <p:spPr>
          <a:xfrm>
            <a:off x="609601" y="5787595"/>
            <a:ext cx="3441808" cy="253730"/>
          </a:xfrm>
        </p:spPr>
        <p:txBody>
          <a:bodyPr>
            <a:normAutofit/>
          </a:bodyPr>
          <a:lstStyle>
            <a:lvl1pPr>
              <a:defRPr sz="1200"/>
            </a:lvl1pPr>
            <a:lvl2pPr>
              <a:defRPr sz="2800"/>
            </a:lvl2pPr>
            <a:lvl3pPr>
              <a:defRPr sz="2400"/>
            </a:lvl3pPr>
            <a:lvl4pPr>
              <a:defRPr sz="2000"/>
            </a:lvl4pPr>
            <a:lvl5pPr>
              <a:defRPr sz="2000"/>
            </a:lvl5pPr>
          </a:lstStyle>
          <a:p>
            <a:pPr lvl="0"/>
            <a:r>
              <a:rPr lang="en-US" dirty="0"/>
              <a:t>Photo credit or figure caption.</a:t>
            </a:r>
          </a:p>
        </p:txBody>
      </p:sp>
      <p:sp>
        <p:nvSpPr>
          <p:cNvPr id="14" name="Picture Placeholder 2">
            <a:extLst>
              <a:ext uri="{FF2B5EF4-FFF2-40B4-BE49-F238E27FC236}">
                <a16:creationId xmlns:a16="http://schemas.microsoft.com/office/drawing/2014/main" id="{227D89F9-E5E8-1D23-B541-9AC0A1B3D3DA}"/>
              </a:ext>
            </a:extLst>
          </p:cNvPr>
          <p:cNvSpPr>
            <a:spLocks noGrp="1"/>
          </p:cNvSpPr>
          <p:nvPr>
            <p:ph type="pic" idx="10" hasCustomPrompt="1"/>
          </p:nvPr>
        </p:nvSpPr>
        <p:spPr>
          <a:xfrm>
            <a:off x="4358707" y="2537298"/>
            <a:ext cx="3474586" cy="311942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Image or figure</a:t>
            </a:r>
          </a:p>
        </p:txBody>
      </p:sp>
      <p:sp>
        <p:nvSpPr>
          <p:cNvPr id="6" name="Content Placeholder 2">
            <a:extLst>
              <a:ext uri="{FF2B5EF4-FFF2-40B4-BE49-F238E27FC236}">
                <a16:creationId xmlns:a16="http://schemas.microsoft.com/office/drawing/2014/main" id="{F0FC55FA-2313-B583-EC02-5AACB520C42E}"/>
              </a:ext>
            </a:extLst>
          </p:cNvPr>
          <p:cNvSpPr>
            <a:spLocks noGrp="1"/>
          </p:cNvSpPr>
          <p:nvPr>
            <p:ph sz="half" idx="15" hasCustomPrompt="1"/>
          </p:nvPr>
        </p:nvSpPr>
        <p:spPr>
          <a:xfrm>
            <a:off x="4358707" y="5787595"/>
            <a:ext cx="3441808" cy="253730"/>
          </a:xfrm>
        </p:spPr>
        <p:txBody>
          <a:bodyPr>
            <a:normAutofit/>
          </a:bodyPr>
          <a:lstStyle>
            <a:lvl1pPr>
              <a:defRPr sz="1200"/>
            </a:lvl1pPr>
            <a:lvl2pPr>
              <a:defRPr sz="2800"/>
            </a:lvl2pPr>
            <a:lvl3pPr>
              <a:defRPr sz="2400"/>
            </a:lvl3pPr>
            <a:lvl4pPr>
              <a:defRPr sz="2000"/>
            </a:lvl4pPr>
            <a:lvl5pPr>
              <a:defRPr sz="2000"/>
            </a:lvl5pPr>
          </a:lstStyle>
          <a:p>
            <a:pPr lvl="0"/>
            <a:r>
              <a:rPr lang="en-US" dirty="0"/>
              <a:t>Photo credit or figure caption.</a:t>
            </a:r>
          </a:p>
        </p:txBody>
      </p:sp>
      <p:sp>
        <p:nvSpPr>
          <p:cNvPr id="2" name="Picture Placeholder 2">
            <a:extLst>
              <a:ext uri="{FF2B5EF4-FFF2-40B4-BE49-F238E27FC236}">
                <a16:creationId xmlns:a16="http://schemas.microsoft.com/office/drawing/2014/main" id="{D63BE60B-796F-B33A-F43D-A7F588ACBD93}"/>
              </a:ext>
            </a:extLst>
          </p:cNvPr>
          <p:cNvSpPr>
            <a:spLocks noGrp="1"/>
          </p:cNvSpPr>
          <p:nvPr>
            <p:ph type="pic" idx="12" hasCustomPrompt="1"/>
          </p:nvPr>
        </p:nvSpPr>
        <p:spPr>
          <a:xfrm>
            <a:off x="8107813" y="2537298"/>
            <a:ext cx="3474586" cy="311942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Image or figure</a:t>
            </a:r>
          </a:p>
        </p:txBody>
      </p:sp>
      <p:sp>
        <p:nvSpPr>
          <p:cNvPr id="7" name="Content Placeholder 2">
            <a:extLst>
              <a:ext uri="{FF2B5EF4-FFF2-40B4-BE49-F238E27FC236}">
                <a16:creationId xmlns:a16="http://schemas.microsoft.com/office/drawing/2014/main" id="{85CF2935-7B5A-3650-C578-EBD3489C1894}"/>
              </a:ext>
            </a:extLst>
          </p:cNvPr>
          <p:cNvSpPr>
            <a:spLocks noGrp="1"/>
          </p:cNvSpPr>
          <p:nvPr>
            <p:ph sz="half" idx="16" hasCustomPrompt="1"/>
          </p:nvPr>
        </p:nvSpPr>
        <p:spPr>
          <a:xfrm>
            <a:off x="8107813" y="5789638"/>
            <a:ext cx="3441808" cy="253730"/>
          </a:xfrm>
        </p:spPr>
        <p:txBody>
          <a:bodyPr>
            <a:normAutofit/>
          </a:bodyPr>
          <a:lstStyle>
            <a:lvl1pPr>
              <a:defRPr sz="1200"/>
            </a:lvl1pPr>
            <a:lvl2pPr>
              <a:defRPr sz="2800"/>
            </a:lvl2pPr>
            <a:lvl3pPr>
              <a:defRPr sz="2400"/>
            </a:lvl3pPr>
            <a:lvl4pPr>
              <a:defRPr sz="2000"/>
            </a:lvl4pPr>
            <a:lvl5pPr>
              <a:defRPr sz="2000"/>
            </a:lvl5pPr>
          </a:lstStyle>
          <a:p>
            <a:pPr lvl="0"/>
            <a:r>
              <a:rPr lang="en-US" dirty="0"/>
              <a:t>Photo credit or figure caption.</a:t>
            </a:r>
          </a:p>
        </p:txBody>
      </p:sp>
      <p:grpSp>
        <p:nvGrpSpPr>
          <p:cNvPr id="8" name="Group 7">
            <a:extLst>
              <a:ext uri="{FF2B5EF4-FFF2-40B4-BE49-F238E27FC236}">
                <a16:creationId xmlns:a16="http://schemas.microsoft.com/office/drawing/2014/main" id="{D46344D7-743F-0440-C39E-F79E0B97C560}"/>
              </a:ext>
              <a:ext uri="{C183D7F6-B498-43B3-948B-1728B52AA6E4}">
                <adec:decorative xmlns:adec="http://schemas.microsoft.com/office/drawing/2017/decorative" val="1"/>
              </a:ext>
            </a:extLst>
          </p:cNvPr>
          <p:cNvGrpSpPr>
            <a:grpSpLocks noGrp="1" noUngrp="1" noRot="1" noMove="1" noResize="1"/>
          </p:cNvGrpSpPr>
          <p:nvPr userDrawn="1"/>
        </p:nvGrpSpPr>
        <p:grpSpPr>
          <a:xfrm>
            <a:off x="0" y="6172200"/>
            <a:ext cx="12192000" cy="685801"/>
            <a:chOff x="0" y="6423843"/>
            <a:chExt cx="9144000" cy="434157"/>
          </a:xfrm>
        </p:grpSpPr>
        <p:sp>
          <p:nvSpPr>
            <p:cNvPr id="9" name="Rectangle 8">
              <a:extLst>
                <a:ext uri="{FF2B5EF4-FFF2-40B4-BE49-F238E27FC236}">
                  <a16:creationId xmlns:a16="http://schemas.microsoft.com/office/drawing/2014/main" id="{A0E5AFAE-B165-EE68-BBEB-21DAEFE633F2}"/>
                </a:ext>
              </a:extLst>
            </p:cNvPr>
            <p:cNvSpPr>
              <a:spLocks noGrp="1" noRot="1" noMove="1" noResize="1" noEditPoints="1" noAdjustHandles="1" noChangeArrowheads="1" noChangeShapeType="1"/>
            </p:cNvSpPr>
            <p:nvPr userDrawn="1"/>
          </p:nvSpPr>
          <p:spPr>
            <a:xfrm>
              <a:off x="0" y="6477000"/>
              <a:ext cx="9144000" cy="381000"/>
            </a:xfrm>
            <a:prstGeom prst="rect">
              <a:avLst/>
            </a:prstGeom>
            <a:solidFill>
              <a:srgbClr val="0F426B"/>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prstClr val="white"/>
                </a:solidFill>
              </a:endParaRPr>
            </a:p>
          </p:txBody>
        </p:sp>
        <p:sp>
          <p:nvSpPr>
            <p:cNvPr id="10" name="Rectangle 9">
              <a:extLst>
                <a:ext uri="{FF2B5EF4-FFF2-40B4-BE49-F238E27FC236}">
                  <a16:creationId xmlns:a16="http://schemas.microsoft.com/office/drawing/2014/main" id="{357C6B7E-619E-D462-3F1A-83F2A95D8802}"/>
                </a:ext>
              </a:extLst>
            </p:cNvPr>
            <p:cNvSpPr>
              <a:spLocks noGrp="1" noRot="1" noMove="1" noResize="1" noEditPoints="1" noAdjustHandles="1" noChangeArrowheads="1" noChangeShapeType="1"/>
            </p:cNvSpPr>
            <p:nvPr userDrawn="1"/>
          </p:nvSpPr>
          <p:spPr>
            <a:xfrm>
              <a:off x="0" y="6423843"/>
              <a:ext cx="9144000" cy="53157"/>
            </a:xfrm>
            <a:prstGeom prst="rect">
              <a:avLst/>
            </a:prstGeom>
            <a:solidFill>
              <a:srgbClr val="92D2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1" name="TextBox 10">
            <a:extLst>
              <a:ext uri="{FF2B5EF4-FFF2-40B4-BE49-F238E27FC236}">
                <a16:creationId xmlns:a16="http://schemas.microsoft.com/office/drawing/2014/main" id="{1ADDF728-D389-41F4-E9C5-2A99E3584FD6}"/>
              </a:ext>
            </a:extLst>
          </p:cNvPr>
          <p:cNvSpPr txBox="1">
            <a:spLocks noGrp="1" noRot="1" noMove="1" noResize="1" noEditPoints="1" noAdjustHandles="1" noChangeArrowheads="1" noChangeShapeType="1"/>
          </p:cNvSpPr>
          <p:nvPr userDrawn="1"/>
        </p:nvSpPr>
        <p:spPr>
          <a:xfrm>
            <a:off x="11010900" y="6426279"/>
            <a:ext cx="711200" cy="261610"/>
          </a:xfrm>
          <a:prstGeom prst="rect">
            <a:avLst/>
          </a:prstGeom>
          <a:noFill/>
        </p:spPr>
        <p:txBody>
          <a:bodyPr wrap="square" rtlCol="0">
            <a:spAutoFit/>
          </a:bodyPr>
          <a:lstStyle/>
          <a:p>
            <a:pPr algn="r"/>
            <a:fld id="{A44CF46E-C689-44F1-B86A-2F369AF73809}" type="slidenum">
              <a:rPr lang="en-US" sz="1100" b="1" smtClean="0">
                <a:solidFill>
                  <a:schemeClr val="bg1"/>
                </a:solidFill>
                <a:latin typeface="Calibri" panose="020F0502020204030204" pitchFamily="34" charset="0"/>
                <a:ea typeface="Roboto Slab" pitchFamily="2" charset="0"/>
                <a:cs typeface="Calibri" panose="020F0502020204030204" pitchFamily="34" charset="0"/>
              </a:rPr>
              <a:t>‹#›</a:t>
            </a:fld>
            <a:endParaRPr lang="en-US" sz="1100" b="1" dirty="0">
              <a:solidFill>
                <a:schemeClr val="bg1"/>
              </a:solidFill>
              <a:latin typeface="Calibri" panose="020F0502020204030204" pitchFamily="34" charset="0"/>
              <a:ea typeface="Roboto Slab" pitchFamily="2" charset="0"/>
              <a:cs typeface="Calibri" panose="020F0502020204030204" pitchFamily="34" charset="0"/>
            </a:endParaRPr>
          </a:p>
        </p:txBody>
      </p:sp>
      <p:pic>
        <p:nvPicPr>
          <p:cNvPr id="12" name="Graphic 11">
            <a:extLst>
              <a:ext uri="{FF2B5EF4-FFF2-40B4-BE49-F238E27FC236}">
                <a16:creationId xmlns:a16="http://schemas.microsoft.com/office/drawing/2014/main" id="{5A03E084-6B9C-B381-C0BB-915F6FCE88F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3212" y="6317722"/>
            <a:ext cx="1616588" cy="478724"/>
          </a:xfrm>
          <a:prstGeom prst="rect">
            <a:avLst/>
          </a:prstGeom>
        </p:spPr>
      </p:pic>
    </p:spTree>
    <p:extLst>
      <p:ext uri="{BB962C8B-B14F-4D97-AF65-F5344CB8AC3E}">
        <p14:creationId xmlns:p14="http://schemas.microsoft.com/office/powerpoint/2010/main" val="1890439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Four Images or Figur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AF720FB-C949-3605-A8FD-1E087BC21FC5}"/>
              </a:ext>
            </a:extLst>
          </p:cNvPr>
          <p:cNvSpPr>
            <a:spLocks noGrp="1"/>
          </p:cNvSpPr>
          <p:nvPr>
            <p:ph type="title" hasCustomPrompt="1"/>
          </p:nvPr>
        </p:nvSpPr>
        <p:spPr>
          <a:xfrm>
            <a:off x="593213" y="274638"/>
            <a:ext cx="10989187" cy="868362"/>
          </a:xfrm>
        </p:spPr>
        <p:txBody>
          <a:bodyPr/>
          <a:lstStyle>
            <a:lvl1pPr algn="l">
              <a:defRPr>
                <a:solidFill>
                  <a:srgbClr val="007B55"/>
                </a:solidFill>
                <a:latin typeface="Segoe UI" panose="020B0502040204020203" pitchFamily="34" charset="0"/>
                <a:ea typeface="Roboto Slab" pitchFamily="2" charset="0"/>
                <a:cs typeface="Segoe UI" panose="020B0502040204020203" pitchFamily="34" charset="0"/>
              </a:defRPr>
            </a:lvl1pPr>
          </a:lstStyle>
          <a:p>
            <a:r>
              <a:rPr lang="en-US" dirty="0"/>
              <a:t>Master title style</a:t>
            </a:r>
          </a:p>
        </p:txBody>
      </p:sp>
      <p:sp>
        <p:nvSpPr>
          <p:cNvPr id="3" name="Content Placeholder 2">
            <a:extLst>
              <a:ext uri="{FF2B5EF4-FFF2-40B4-BE49-F238E27FC236}">
                <a16:creationId xmlns:a16="http://schemas.microsoft.com/office/drawing/2014/main" id="{696F640D-08FB-1ABB-A45A-322CD0EEA06B}"/>
              </a:ext>
            </a:extLst>
          </p:cNvPr>
          <p:cNvSpPr>
            <a:spLocks noGrp="1"/>
          </p:cNvSpPr>
          <p:nvPr>
            <p:ph idx="1" hasCustomPrompt="1"/>
          </p:nvPr>
        </p:nvSpPr>
        <p:spPr>
          <a:xfrm>
            <a:off x="594094" y="1154103"/>
            <a:ext cx="10988305" cy="1213084"/>
          </a:xfrm>
        </p:spPr>
        <p:txBody>
          <a:bodyPr/>
          <a:lstStyle>
            <a:lvl1pPr>
              <a:defRPr sz="3200"/>
            </a:lvl1pPr>
            <a:lvl2pPr marL="457200" indent="0">
              <a:buNone/>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Master text styles</a:t>
            </a:r>
          </a:p>
        </p:txBody>
      </p:sp>
      <p:sp>
        <p:nvSpPr>
          <p:cNvPr id="16" name="Picture Placeholder 2">
            <a:extLst>
              <a:ext uri="{FF2B5EF4-FFF2-40B4-BE49-F238E27FC236}">
                <a16:creationId xmlns:a16="http://schemas.microsoft.com/office/drawing/2014/main" id="{4F45E2E3-2911-AE05-4C8E-7C84A13D79AA}"/>
              </a:ext>
            </a:extLst>
          </p:cNvPr>
          <p:cNvSpPr>
            <a:spLocks noGrp="1"/>
          </p:cNvSpPr>
          <p:nvPr>
            <p:ph type="pic" idx="11" hasCustomPrompt="1"/>
          </p:nvPr>
        </p:nvSpPr>
        <p:spPr>
          <a:xfrm>
            <a:off x="593212" y="2575636"/>
            <a:ext cx="2458850" cy="30968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Image or figure</a:t>
            </a:r>
          </a:p>
        </p:txBody>
      </p:sp>
      <p:sp>
        <p:nvSpPr>
          <p:cNvPr id="6" name="Content Placeholder 2">
            <a:extLst>
              <a:ext uri="{FF2B5EF4-FFF2-40B4-BE49-F238E27FC236}">
                <a16:creationId xmlns:a16="http://schemas.microsoft.com/office/drawing/2014/main" id="{C5A1FA4D-8E9A-32ED-BB2B-2458E8522947}"/>
              </a:ext>
            </a:extLst>
          </p:cNvPr>
          <p:cNvSpPr>
            <a:spLocks noGrp="1"/>
          </p:cNvSpPr>
          <p:nvPr>
            <p:ph sz="half" idx="14" hasCustomPrompt="1"/>
          </p:nvPr>
        </p:nvSpPr>
        <p:spPr>
          <a:xfrm>
            <a:off x="609601" y="5787595"/>
            <a:ext cx="2442461" cy="253730"/>
          </a:xfrm>
        </p:spPr>
        <p:txBody>
          <a:bodyPr>
            <a:normAutofit/>
          </a:bodyPr>
          <a:lstStyle>
            <a:lvl1pPr>
              <a:defRPr sz="1200"/>
            </a:lvl1pPr>
            <a:lvl2pPr>
              <a:defRPr sz="2800"/>
            </a:lvl2pPr>
            <a:lvl3pPr>
              <a:defRPr sz="2400"/>
            </a:lvl3pPr>
            <a:lvl4pPr>
              <a:defRPr sz="2000"/>
            </a:lvl4pPr>
            <a:lvl5pPr>
              <a:defRPr sz="2000"/>
            </a:lvl5pPr>
          </a:lstStyle>
          <a:p>
            <a:pPr lvl="0"/>
            <a:r>
              <a:rPr lang="en-US" dirty="0"/>
              <a:t>Photo credit or figure caption.</a:t>
            </a:r>
          </a:p>
        </p:txBody>
      </p:sp>
      <p:sp>
        <p:nvSpPr>
          <p:cNvPr id="14" name="Picture Placeholder 2">
            <a:extLst>
              <a:ext uri="{FF2B5EF4-FFF2-40B4-BE49-F238E27FC236}">
                <a16:creationId xmlns:a16="http://schemas.microsoft.com/office/drawing/2014/main" id="{227D89F9-E5E8-1D23-B541-9AC0A1B3D3DA}"/>
              </a:ext>
            </a:extLst>
          </p:cNvPr>
          <p:cNvSpPr>
            <a:spLocks noGrp="1"/>
          </p:cNvSpPr>
          <p:nvPr>
            <p:ph type="pic" idx="10" hasCustomPrompt="1"/>
          </p:nvPr>
        </p:nvSpPr>
        <p:spPr>
          <a:xfrm>
            <a:off x="3454417" y="2559821"/>
            <a:ext cx="2470503" cy="30968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Image or figure</a:t>
            </a:r>
          </a:p>
        </p:txBody>
      </p:sp>
      <p:sp>
        <p:nvSpPr>
          <p:cNvPr id="7" name="Content Placeholder 2">
            <a:extLst>
              <a:ext uri="{FF2B5EF4-FFF2-40B4-BE49-F238E27FC236}">
                <a16:creationId xmlns:a16="http://schemas.microsoft.com/office/drawing/2014/main" id="{7FF1242B-AA97-4D77-BDE3-9A0D99673126}"/>
              </a:ext>
            </a:extLst>
          </p:cNvPr>
          <p:cNvSpPr>
            <a:spLocks noGrp="1"/>
          </p:cNvSpPr>
          <p:nvPr>
            <p:ph sz="half" idx="15" hasCustomPrompt="1"/>
          </p:nvPr>
        </p:nvSpPr>
        <p:spPr>
          <a:xfrm>
            <a:off x="3454417" y="5787595"/>
            <a:ext cx="2442461" cy="253730"/>
          </a:xfrm>
        </p:spPr>
        <p:txBody>
          <a:bodyPr>
            <a:normAutofit/>
          </a:bodyPr>
          <a:lstStyle>
            <a:lvl1pPr>
              <a:defRPr sz="1200"/>
            </a:lvl1pPr>
            <a:lvl2pPr>
              <a:defRPr sz="2800"/>
            </a:lvl2pPr>
            <a:lvl3pPr>
              <a:defRPr sz="2400"/>
            </a:lvl3pPr>
            <a:lvl4pPr>
              <a:defRPr sz="2000"/>
            </a:lvl4pPr>
            <a:lvl5pPr>
              <a:defRPr sz="2000"/>
            </a:lvl5pPr>
          </a:lstStyle>
          <a:p>
            <a:pPr lvl="0"/>
            <a:r>
              <a:rPr lang="en-US" dirty="0"/>
              <a:t>Photo credit or figure caption.</a:t>
            </a:r>
          </a:p>
        </p:txBody>
      </p:sp>
      <p:sp>
        <p:nvSpPr>
          <p:cNvPr id="4" name="Picture Placeholder 2">
            <a:extLst>
              <a:ext uri="{FF2B5EF4-FFF2-40B4-BE49-F238E27FC236}">
                <a16:creationId xmlns:a16="http://schemas.microsoft.com/office/drawing/2014/main" id="{163B4FD5-AD0F-C1F4-9EEE-88FF9FA34B3A}"/>
              </a:ext>
            </a:extLst>
          </p:cNvPr>
          <p:cNvSpPr>
            <a:spLocks noGrp="1"/>
          </p:cNvSpPr>
          <p:nvPr>
            <p:ph type="pic" idx="13" hasCustomPrompt="1"/>
          </p:nvPr>
        </p:nvSpPr>
        <p:spPr>
          <a:xfrm>
            <a:off x="6327274" y="2563173"/>
            <a:ext cx="2470503" cy="30968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Image or figure</a:t>
            </a:r>
          </a:p>
        </p:txBody>
      </p:sp>
      <p:sp>
        <p:nvSpPr>
          <p:cNvPr id="13" name="Content Placeholder 2">
            <a:extLst>
              <a:ext uri="{FF2B5EF4-FFF2-40B4-BE49-F238E27FC236}">
                <a16:creationId xmlns:a16="http://schemas.microsoft.com/office/drawing/2014/main" id="{841CD70C-55F1-A628-07B0-34F93B7BD047}"/>
              </a:ext>
            </a:extLst>
          </p:cNvPr>
          <p:cNvSpPr>
            <a:spLocks noGrp="1"/>
          </p:cNvSpPr>
          <p:nvPr>
            <p:ph sz="half" idx="16" hasCustomPrompt="1"/>
          </p:nvPr>
        </p:nvSpPr>
        <p:spPr>
          <a:xfrm>
            <a:off x="6327274" y="5785975"/>
            <a:ext cx="2442461" cy="253730"/>
          </a:xfrm>
        </p:spPr>
        <p:txBody>
          <a:bodyPr>
            <a:normAutofit/>
          </a:bodyPr>
          <a:lstStyle>
            <a:lvl1pPr>
              <a:defRPr sz="1200"/>
            </a:lvl1pPr>
            <a:lvl2pPr>
              <a:defRPr sz="2800"/>
            </a:lvl2pPr>
            <a:lvl3pPr>
              <a:defRPr sz="2400"/>
            </a:lvl3pPr>
            <a:lvl4pPr>
              <a:defRPr sz="2000"/>
            </a:lvl4pPr>
            <a:lvl5pPr>
              <a:defRPr sz="2000"/>
            </a:lvl5pPr>
          </a:lstStyle>
          <a:p>
            <a:pPr lvl="0"/>
            <a:r>
              <a:rPr lang="en-US" dirty="0"/>
              <a:t>Photo credit or figure caption.</a:t>
            </a:r>
          </a:p>
        </p:txBody>
      </p:sp>
      <p:sp>
        <p:nvSpPr>
          <p:cNvPr id="2" name="Picture Placeholder 2">
            <a:extLst>
              <a:ext uri="{FF2B5EF4-FFF2-40B4-BE49-F238E27FC236}">
                <a16:creationId xmlns:a16="http://schemas.microsoft.com/office/drawing/2014/main" id="{D63BE60B-796F-B33A-F43D-A7F588ACBD93}"/>
              </a:ext>
            </a:extLst>
          </p:cNvPr>
          <p:cNvSpPr>
            <a:spLocks noGrp="1"/>
          </p:cNvSpPr>
          <p:nvPr>
            <p:ph type="pic" idx="12" hasCustomPrompt="1"/>
          </p:nvPr>
        </p:nvSpPr>
        <p:spPr>
          <a:xfrm>
            <a:off x="9111896" y="2559821"/>
            <a:ext cx="2470503" cy="30968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Image or figure</a:t>
            </a:r>
          </a:p>
        </p:txBody>
      </p:sp>
      <p:sp>
        <p:nvSpPr>
          <p:cNvPr id="15" name="Content Placeholder 2">
            <a:extLst>
              <a:ext uri="{FF2B5EF4-FFF2-40B4-BE49-F238E27FC236}">
                <a16:creationId xmlns:a16="http://schemas.microsoft.com/office/drawing/2014/main" id="{43CF104B-64F4-96D7-0889-9B1A1B6B5F4A}"/>
              </a:ext>
            </a:extLst>
          </p:cNvPr>
          <p:cNvSpPr>
            <a:spLocks noGrp="1"/>
          </p:cNvSpPr>
          <p:nvPr>
            <p:ph sz="half" idx="17" hasCustomPrompt="1"/>
          </p:nvPr>
        </p:nvSpPr>
        <p:spPr>
          <a:xfrm>
            <a:off x="9111896" y="5785975"/>
            <a:ext cx="2442461" cy="253730"/>
          </a:xfrm>
        </p:spPr>
        <p:txBody>
          <a:bodyPr>
            <a:normAutofit/>
          </a:bodyPr>
          <a:lstStyle>
            <a:lvl1pPr>
              <a:defRPr sz="1200"/>
            </a:lvl1pPr>
            <a:lvl2pPr>
              <a:defRPr sz="2800"/>
            </a:lvl2pPr>
            <a:lvl3pPr>
              <a:defRPr sz="2400"/>
            </a:lvl3pPr>
            <a:lvl4pPr>
              <a:defRPr sz="2000"/>
            </a:lvl4pPr>
            <a:lvl5pPr>
              <a:defRPr sz="2000"/>
            </a:lvl5pPr>
          </a:lstStyle>
          <a:p>
            <a:pPr lvl="0"/>
            <a:r>
              <a:rPr lang="en-US" dirty="0"/>
              <a:t>Photo credit or figure caption.</a:t>
            </a:r>
          </a:p>
        </p:txBody>
      </p:sp>
      <p:grpSp>
        <p:nvGrpSpPr>
          <p:cNvPr id="8" name="Group 7">
            <a:extLst>
              <a:ext uri="{FF2B5EF4-FFF2-40B4-BE49-F238E27FC236}">
                <a16:creationId xmlns:a16="http://schemas.microsoft.com/office/drawing/2014/main" id="{D46344D7-743F-0440-C39E-F79E0B97C560}"/>
              </a:ext>
              <a:ext uri="{C183D7F6-B498-43B3-948B-1728B52AA6E4}">
                <adec:decorative xmlns:adec="http://schemas.microsoft.com/office/drawing/2017/decorative" val="1"/>
              </a:ext>
            </a:extLst>
          </p:cNvPr>
          <p:cNvGrpSpPr>
            <a:grpSpLocks noGrp="1" noUngrp="1" noRot="1" noMove="1" noResize="1"/>
          </p:cNvGrpSpPr>
          <p:nvPr userDrawn="1"/>
        </p:nvGrpSpPr>
        <p:grpSpPr>
          <a:xfrm>
            <a:off x="0" y="6172200"/>
            <a:ext cx="12192000" cy="685801"/>
            <a:chOff x="0" y="6423843"/>
            <a:chExt cx="9144000" cy="434157"/>
          </a:xfrm>
        </p:grpSpPr>
        <p:sp>
          <p:nvSpPr>
            <p:cNvPr id="9" name="Rectangle 8">
              <a:extLst>
                <a:ext uri="{FF2B5EF4-FFF2-40B4-BE49-F238E27FC236}">
                  <a16:creationId xmlns:a16="http://schemas.microsoft.com/office/drawing/2014/main" id="{A0E5AFAE-B165-EE68-BBEB-21DAEFE633F2}"/>
                </a:ext>
              </a:extLst>
            </p:cNvPr>
            <p:cNvSpPr>
              <a:spLocks noGrp="1" noRot="1" noMove="1" noResize="1" noEditPoints="1" noAdjustHandles="1" noChangeArrowheads="1" noChangeShapeType="1"/>
            </p:cNvSpPr>
            <p:nvPr userDrawn="1"/>
          </p:nvSpPr>
          <p:spPr>
            <a:xfrm>
              <a:off x="0" y="6477000"/>
              <a:ext cx="9144000" cy="381000"/>
            </a:xfrm>
            <a:prstGeom prst="rect">
              <a:avLst/>
            </a:prstGeom>
            <a:solidFill>
              <a:srgbClr val="0F426B"/>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prstClr val="white"/>
                </a:solidFill>
              </a:endParaRPr>
            </a:p>
          </p:txBody>
        </p:sp>
        <p:sp>
          <p:nvSpPr>
            <p:cNvPr id="10" name="Rectangle 9">
              <a:extLst>
                <a:ext uri="{FF2B5EF4-FFF2-40B4-BE49-F238E27FC236}">
                  <a16:creationId xmlns:a16="http://schemas.microsoft.com/office/drawing/2014/main" id="{357C6B7E-619E-D462-3F1A-83F2A95D8802}"/>
                </a:ext>
              </a:extLst>
            </p:cNvPr>
            <p:cNvSpPr>
              <a:spLocks noGrp="1" noRot="1" noMove="1" noResize="1" noEditPoints="1" noAdjustHandles="1" noChangeArrowheads="1" noChangeShapeType="1"/>
            </p:cNvSpPr>
            <p:nvPr userDrawn="1"/>
          </p:nvSpPr>
          <p:spPr>
            <a:xfrm>
              <a:off x="0" y="6423843"/>
              <a:ext cx="9144000" cy="53157"/>
            </a:xfrm>
            <a:prstGeom prst="rect">
              <a:avLst/>
            </a:prstGeom>
            <a:solidFill>
              <a:srgbClr val="92D2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1" name="TextBox 10">
            <a:extLst>
              <a:ext uri="{FF2B5EF4-FFF2-40B4-BE49-F238E27FC236}">
                <a16:creationId xmlns:a16="http://schemas.microsoft.com/office/drawing/2014/main" id="{1ADDF728-D389-41F4-E9C5-2A99E3584FD6}"/>
              </a:ext>
            </a:extLst>
          </p:cNvPr>
          <p:cNvSpPr txBox="1">
            <a:spLocks noGrp="1" noRot="1" noMove="1" noResize="1" noEditPoints="1" noAdjustHandles="1" noChangeArrowheads="1" noChangeShapeType="1"/>
          </p:cNvSpPr>
          <p:nvPr userDrawn="1"/>
        </p:nvSpPr>
        <p:spPr>
          <a:xfrm>
            <a:off x="11010900" y="6426279"/>
            <a:ext cx="711200" cy="261610"/>
          </a:xfrm>
          <a:prstGeom prst="rect">
            <a:avLst/>
          </a:prstGeom>
          <a:noFill/>
        </p:spPr>
        <p:txBody>
          <a:bodyPr wrap="square" rtlCol="0">
            <a:spAutoFit/>
          </a:bodyPr>
          <a:lstStyle/>
          <a:p>
            <a:pPr algn="r"/>
            <a:fld id="{A44CF46E-C689-44F1-B86A-2F369AF73809}" type="slidenum">
              <a:rPr lang="en-US" sz="1100" b="1" smtClean="0">
                <a:solidFill>
                  <a:schemeClr val="bg1"/>
                </a:solidFill>
                <a:latin typeface="Calibri" panose="020F0502020204030204" pitchFamily="34" charset="0"/>
                <a:ea typeface="Roboto Slab" pitchFamily="2" charset="0"/>
                <a:cs typeface="Calibri" panose="020F0502020204030204" pitchFamily="34" charset="0"/>
              </a:rPr>
              <a:t>‹#›</a:t>
            </a:fld>
            <a:endParaRPr lang="en-US" sz="1100" b="1" dirty="0">
              <a:solidFill>
                <a:schemeClr val="bg1"/>
              </a:solidFill>
              <a:latin typeface="Calibri" panose="020F0502020204030204" pitchFamily="34" charset="0"/>
              <a:ea typeface="Roboto Slab" pitchFamily="2" charset="0"/>
              <a:cs typeface="Calibri" panose="020F0502020204030204" pitchFamily="34" charset="0"/>
            </a:endParaRPr>
          </a:p>
        </p:txBody>
      </p:sp>
      <p:pic>
        <p:nvPicPr>
          <p:cNvPr id="12" name="Graphic 11">
            <a:extLst>
              <a:ext uri="{FF2B5EF4-FFF2-40B4-BE49-F238E27FC236}">
                <a16:creationId xmlns:a16="http://schemas.microsoft.com/office/drawing/2014/main" id="{5A03E084-6B9C-B381-C0BB-915F6FCE88F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3212" y="6317722"/>
            <a:ext cx="1616588" cy="478724"/>
          </a:xfrm>
          <a:prstGeom prst="rect">
            <a:avLst/>
          </a:prstGeom>
        </p:spPr>
      </p:pic>
    </p:spTree>
    <p:extLst>
      <p:ext uri="{BB962C8B-B14F-4D97-AF65-F5344CB8AC3E}">
        <p14:creationId xmlns:p14="http://schemas.microsoft.com/office/powerpoint/2010/main" val="360200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or Figur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A60C347-0F02-8ABE-9C0A-2414CF30D31D}"/>
              </a:ext>
            </a:extLst>
          </p:cNvPr>
          <p:cNvSpPr>
            <a:spLocks noGrp="1"/>
          </p:cNvSpPr>
          <p:nvPr>
            <p:ph type="title" hasCustomPrompt="1"/>
          </p:nvPr>
        </p:nvSpPr>
        <p:spPr>
          <a:xfrm>
            <a:off x="593213" y="274638"/>
            <a:ext cx="10989187" cy="868362"/>
          </a:xfrm>
        </p:spPr>
        <p:txBody>
          <a:bodyPr/>
          <a:lstStyle>
            <a:lvl1pPr algn="l">
              <a:defRPr>
                <a:solidFill>
                  <a:srgbClr val="007B55"/>
                </a:solidFill>
                <a:latin typeface="Segoe UI" panose="020B0502040204020203" pitchFamily="34" charset="0"/>
                <a:ea typeface="Roboto Slab" pitchFamily="2" charset="0"/>
                <a:cs typeface="Segoe UI" panose="020B0502040204020203" pitchFamily="34" charset="0"/>
              </a:defRPr>
            </a:lvl1pPr>
          </a:lstStyle>
          <a:p>
            <a:r>
              <a:rPr lang="en-US" dirty="0"/>
              <a:t>Master title style</a:t>
            </a:r>
          </a:p>
        </p:txBody>
      </p:sp>
      <p:sp>
        <p:nvSpPr>
          <p:cNvPr id="2" name="Picture Placeholder 2">
            <a:extLst>
              <a:ext uri="{FF2B5EF4-FFF2-40B4-BE49-F238E27FC236}">
                <a16:creationId xmlns:a16="http://schemas.microsoft.com/office/drawing/2014/main" id="{CB263469-5CF0-30FF-09BE-DBD3C2AEB576}"/>
              </a:ext>
            </a:extLst>
          </p:cNvPr>
          <p:cNvSpPr>
            <a:spLocks noGrp="1"/>
          </p:cNvSpPr>
          <p:nvPr>
            <p:ph type="pic" idx="10" hasCustomPrompt="1"/>
          </p:nvPr>
        </p:nvSpPr>
        <p:spPr>
          <a:xfrm>
            <a:off x="593213" y="1160092"/>
            <a:ext cx="10989187" cy="449662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Image or figure</a:t>
            </a:r>
          </a:p>
        </p:txBody>
      </p:sp>
      <p:sp>
        <p:nvSpPr>
          <p:cNvPr id="7" name="Content Placeholder 2">
            <a:extLst>
              <a:ext uri="{FF2B5EF4-FFF2-40B4-BE49-F238E27FC236}">
                <a16:creationId xmlns:a16="http://schemas.microsoft.com/office/drawing/2014/main" id="{03C919D3-A039-50AE-CBD9-89F458D53EDD}"/>
              </a:ext>
            </a:extLst>
          </p:cNvPr>
          <p:cNvSpPr>
            <a:spLocks noGrp="1"/>
          </p:cNvSpPr>
          <p:nvPr>
            <p:ph sz="half" idx="14" hasCustomPrompt="1"/>
          </p:nvPr>
        </p:nvSpPr>
        <p:spPr>
          <a:xfrm>
            <a:off x="609601" y="5787595"/>
            <a:ext cx="10972799" cy="253730"/>
          </a:xfrm>
        </p:spPr>
        <p:txBody>
          <a:bodyPr>
            <a:normAutofit/>
          </a:bodyPr>
          <a:lstStyle>
            <a:lvl1pPr>
              <a:defRPr sz="1200"/>
            </a:lvl1pPr>
            <a:lvl2pPr>
              <a:defRPr sz="2800"/>
            </a:lvl2pPr>
            <a:lvl3pPr>
              <a:defRPr sz="2400"/>
            </a:lvl3pPr>
            <a:lvl4pPr>
              <a:defRPr sz="2000"/>
            </a:lvl4pPr>
            <a:lvl5pPr>
              <a:defRPr sz="2000"/>
            </a:lvl5pPr>
          </a:lstStyle>
          <a:p>
            <a:pPr lvl="0"/>
            <a:r>
              <a:rPr lang="en-US" dirty="0"/>
              <a:t>Photo credit or figure caption.</a:t>
            </a:r>
          </a:p>
        </p:txBody>
      </p:sp>
      <p:grpSp>
        <p:nvGrpSpPr>
          <p:cNvPr id="4" name="Group 3">
            <a:extLst>
              <a:ext uri="{FF2B5EF4-FFF2-40B4-BE49-F238E27FC236}">
                <a16:creationId xmlns:a16="http://schemas.microsoft.com/office/drawing/2014/main" id="{C1D5208B-6EC7-23B8-8646-0B92A3FA3BEA}"/>
              </a:ext>
              <a:ext uri="{C183D7F6-B498-43B3-948B-1728B52AA6E4}">
                <adec:decorative xmlns:adec="http://schemas.microsoft.com/office/drawing/2017/decorative" val="1"/>
              </a:ext>
            </a:extLst>
          </p:cNvPr>
          <p:cNvGrpSpPr/>
          <p:nvPr userDrawn="1"/>
        </p:nvGrpSpPr>
        <p:grpSpPr>
          <a:xfrm>
            <a:off x="0" y="6172200"/>
            <a:ext cx="12192000" cy="685801"/>
            <a:chOff x="0" y="6423843"/>
            <a:chExt cx="9144000" cy="434157"/>
          </a:xfrm>
        </p:grpSpPr>
        <p:sp>
          <p:nvSpPr>
            <p:cNvPr id="5" name="Rectangle 4">
              <a:extLst>
                <a:ext uri="{FF2B5EF4-FFF2-40B4-BE49-F238E27FC236}">
                  <a16:creationId xmlns:a16="http://schemas.microsoft.com/office/drawing/2014/main" id="{BDC46A72-B502-6814-2E8D-A1A9EFAFCD24}"/>
                </a:ext>
              </a:extLst>
            </p:cNvPr>
            <p:cNvSpPr/>
            <p:nvPr userDrawn="1"/>
          </p:nvSpPr>
          <p:spPr>
            <a:xfrm>
              <a:off x="0" y="6477000"/>
              <a:ext cx="9144000" cy="381000"/>
            </a:xfrm>
            <a:prstGeom prst="rect">
              <a:avLst/>
            </a:prstGeom>
            <a:solidFill>
              <a:srgbClr val="0F426B"/>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prstClr val="white"/>
                </a:solidFill>
              </a:endParaRPr>
            </a:p>
          </p:txBody>
        </p:sp>
        <p:sp>
          <p:nvSpPr>
            <p:cNvPr id="9" name="Rectangle 8">
              <a:extLst>
                <a:ext uri="{FF2B5EF4-FFF2-40B4-BE49-F238E27FC236}">
                  <a16:creationId xmlns:a16="http://schemas.microsoft.com/office/drawing/2014/main" id="{3E5DCEC6-0F8C-5541-7442-C093800C3015}"/>
                </a:ext>
              </a:extLst>
            </p:cNvPr>
            <p:cNvSpPr/>
            <p:nvPr userDrawn="1"/>
          </p:nvSpPr>
          <p:spPr>
            <a:xfrm>
              <a:off x="0" y="6423843"/>
              <a:ext cx="9144000" cy="53157"/>
            </a:xfrm>
            <a:prstGeom prst="rect">
              <a:avLst/>
            </a:prstGeom>
            <a:solidFill>
              <a:srgbClr val="92D2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0" name="TextBox 9">
            <a:extLst>
              <a:ext uri="{FF2B5EF4-FFF2-40B4-BE49-F238E27FC236}">
                <a16:creationId xmlns:a16="http://schemas.microsoft.com/office/drawing/2014/main" id="{2E4910A2-E75A-A0F3-12FA-C7B33827BFF5}"/>
              </a:ext>
            </a:extLst>
          </p:cNvPr>
          <p:cNvSpPr txBox="1"/>
          <p:nvPr userDrawn="1"/>
        </p:nvSpPr>
        <p:spPr>
          <a:xfrm>
            <a:off x="11010900" y="6426279"/>
            <a:ext cx="711200" cy="261610"/>
          </a:xfrm>
          <a:prstGeom prst="rect">
            <a:avLst/>
          </a:prstGeom>
          <a:noFill/>
        </p:spPr>
        <p:txBody>
          <a:bodyPr wrap="square" rtlCol="0">
            <a:spAutoFit/>
          </a:bodyPr>
          <a:lstStyle/>
          <a:p>
            <a:pPr algn="r"/>
            <a:fld id="{A44CF46E-C689-44F1-B86A-2F369AF73809}" type="slidenum">
              <a:rPr lang="en-US" sz="1100" b="1" smtClean="0">
                <a:solidFill>
                  <a:schemeClr val="bg1"/>
                </a:solidFill>
                <a:latin typeface="Calibri" panose="020F0502020204030204" pitchFamily="34" charset="0"/>
                <a:ea typeface="Roboto Slab" pitchFamily="2" charset="0"/>
                <a:cs typeface="Calibri" panose="020F0502020204030204" pitchFamily="34" charset="0"/>
              </a:rPr>
              <a:t>‹#›</a:t>
            </a:fld>
            <a:endParaRPr lang="en-US" sz="1100" b="1" dirty="0">
              <a:solidFill>
                <a:schemeClr val="bg1"/>
              </a:solidFill>
              <a:latin typeface="Calibri" panose="020F0502020204030204" pitchFamily="34" charset="0"/>
              <a:ea typeface="Roboto Slab" pitchFamily="2" charset="0"/>
              <a:cs typeface="Calibri" panose="020F0502020204030204" pitchFamily="34" charset="0"/>
            </a:endParaRPr>
          </a:p>
        </p:txBody>
      </p:sp>
      <p:pic>
        <p:nvPicPr>
          <p:cNvPr id="11" name="Graphic 10">
            <a:extLst>
              <a:ext uri="{FF2B5EF4-FFF2-40B4-BE49-F238E27FC236}">
                <a16:creationId xmlns:a16="http://schemas.microsoft.com/office/drawing/2014/main" id="{CC0C22ED-5F80-CEFE-BB25-C337EB274037}"/>
              </a:ext>
              <a:ext uri="{C183D7F6-B498-43B3-948B-1728B52AA6E4}">
                <adec:decorative xmlns:adec="http://schemas.microsoft.com/office/drawing/2017/decorative" val="1"/>
              </a:ext>
            </a:extLst>
          </p:cNvPr>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3212" y="6317722"/>
            <a:ext cx="1616588" cy="478724"/>
          </a:xfrm>
          <a:prstGeom prst="rect">
            <a:avLst/>
          </a:prstGeom>
        </p:spPr>
      </p:pic>
    </p:spTree>
    <p:extLst>
      <p:ext uri="{BB962C8B-B14F-4D97-AF65-F5344CB8AC3E}">
        <p14:creationId xmlns:p14="http://schemas.microsoft.com/office/powerpoint/2010/main" val="401028201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66BB33-DB2B-91D3-D089-F85266D214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Master title style</a:t>
            </a:r>
          </a:p>
        </p:txBody>
      </p:sp>
      <p:sp>
        <p:nvSpPr>
          <p:cNvPr id="3" name="Text Placeholder 2">
            <a:extLst>
              <a:ext uri="{FF2B5EF4-FFF2-40B4-BE49-F238E27FC236}">
                <a16:creationId xmlns:a16="http://schemas.microsoft.com/office/drawing/2014/main" id="{5F01A2DB-9F95-64AA-F96F-279EB0EF76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30280026"/>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8" r:id="rId5"/>
    <p:sldLayoutId id="2147483656" r:id="rId6"/>
    <p:sldLayoutId id="2147483659" r:id="rId7"/>
    <p:sldLayoutId id="2147483660" r:id="rId8"/>
    <p:sldLayoutId id="2147483654" r:id="rId9"/>
  </p:sldLayoutIdLst>
  <p:txStyles>
    <p:titleStyle>
      <a:lvl1pPr algn="l" defTabSz="914400" rtl="0" eaLnBrk="1" latinLnBrk="0" hangingPunct="1">
        <a:lnSpc>
          <a:spcPct val="90000"/>
        </a:lnSpc>
        <a:spcBef>
          <a:spcPct val="0"/>
        </a:spcBef>
        <a:buNone/>
        <a:defRPr sz="3600" b="1" kern="1200">
          <a:solidFill>
            <a:srgbClr val="007B55"/>
          </a:solidFill>
          <a:latin typeface="Segoe UI" panose="020B0502040204020203" pitchFamily="34" charset="0"/>
          <a:ea typeface="+mj-ea"/>
          <a:cs typeface="Segoe UI" panose="020B0502040204020203"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rgbClr val="0F426B"/>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F426B"/>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F426B"/>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F426B"/>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F426B"/>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Coastal Razor Clam Harvest Monitoring</a:t>
            </a:r>
          </a:p>
        </p:txBody>
      </p:sp>
      <p:sp>
        <p:nvSpPr>
          <p:cNvPr id="3" name="Content Placeholder 2"/>
          <p:cNvSpPr>
            <a:spLocks noGrp="1"/>
          </p:cNvSpPr>
          <p:nvPr>
            <p:ph idx="1" sz="half"/>
          </p:nvPr>
        </p:nvSpPr>
        <p:spPr/>
        <p:txBody>
          <a:bodyPr wrap="square"/>
          <a:lstStyle/>
          <a:p>
            <a:r>
              <a:t>Methodology, uncertainty, and options for 2026-27</a:t>
            </a:r>
          </a:p>
          <a:p>
            <a:r>
              <a:t>Internal staff discussion  ·  Coastal Shellfish Unit, WDFW</a:t>
            </a:r>
          </a:p>
          <a:p>
            <a:r>
              <a:t>Matthew George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wrap="square"/>
          <a:lstStyle/>
          <a:p>
            <a:r>
              <a:rPr b="1" sz="2000"/>
              <a:t>1.  History </a:t>
            </a:r>
            <a:r>
              <a:rPr sz="2000"/>
              <a:t>of razor clam harvest monitoring and estimation</a:t>
            </a:r>
          </a:p>
          <a:p>
            <a:r>
              <a:rPr b="1" sz="2000"/>
              <a:t>2.  Data gaps and uncertainty</a:t>
            </a:r>
          </a:p>
          <a:p>
            <a:r>
              <a:rPr b="1" sz="2000"/>
              <a:t>3.  Impact of budget reduction</a:t>
            </a:r>
          </a:p>
          <a:p>
            <a:r>
              <a:rPr b="1" sz="2000"/>
              <a:t>4.  Data needs; a re-imagined harvest monitoring framework</a:t>
            </a:r>
          </a:p>
          <a:p>
            <a:r>
              <a:rPr b="1" sz="2000"/>
              <a:t>5.  Plan for the 2026-27 season</a:t>
            </a:r>
          </a:p>
          <a:p>
            <a:r>
              <a:rPr b="1" sz="2000"/>
              <a:t>6.  Follow-up: the 2027 stock assessment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1.  History of harvest monitoring and estimation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a harvest estimate is built</a:t>
            </a:r>
          </a:p>
        </p:txBody>
      </p:sp>
      <p:pic>
        <p:nvPicPr>
          <p:cNvPr id="3" name="Picture 2" descr="fig17_estimation_flow.png"/>
          <p:cNvPicPr>
            <a:picLocks noChangeAspect="1"/>
          </p:cNvPicPr>
          <p:nvPr/>
        </p:nvPicPr>
        <p:blipFill>
          <a:blip r:embed="rId2"/>
          <a:stretch>
            <a:fillRect/>
          </a:stretch>
        </p:blipFill>
        <p:spPr>
          <a:xfrm>
            <a:off x="2613660" y="1417320"/>
            <a:ext cx="6934200" cy="3840480"/>
          </a:xfrm>
          <a:prstGeom prst="rect">
            <a:avLst/>
          </a:prstGeom>
        </p:spPr>
      </p:pic>
      <p:sp>
        <p:nvSpPr>
          <p:cNvPr id="4" name="TextBox 3"/>
          <p:cNvSpPr txBox="1"/>
          <p:nvPr/>
        </p:nvSpPr>
        <p:spPr>
          <a:xfrm>
            <a:off x="594360" y="5532120"/>
            <a:ext cx="10972800" cy="822960"/>
          </a:xfrm>
          <a:prstGeom prst="rect">
            <a:avLst/>
          </a:prstGeom>
          <a:noFill/>
        </p:spPr>
        <p:txBody>
          <a:bodyPr wrap="square">
            <a:spAutoFit/>
          </a:bodyPr>
          <a:lstStyle/>
          <a:p>
            <a:r>
              <a:rPr b="1" sz="1300">
                <a:solidFill>
                  <a:srgbClr val="1B3A5C"/>
                </a:solidFill>
              </a:rPr>
              <a:t>In plain terms:  </a:t>
            </a:r>
            <a:r>
              <a:rPr sz="1300"/>
              <a:t>count the diggers once; divide by the correction factor for the whole day; multiply by catch-per-digger for harvest. On uncounted days both are borrowed. The red step never averages away.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estimate in four equations</a:t>
            </a:r>
          </a:p>
        </p:txBody>
      </p:sp>
      <p:sp>
        <p:nvSpPr>
          <p:cNvPr id="3" name="TextBox 2"/>
          <p:cNvSpPr txBox="1"/>
          <p:nvPr/>
        </p:nvSpPr>
        <p:spPr>
          <a:xfrm>
            <a:off x="640080" y="1371600"/>
            <a:ext cx="10972800" cy="4206240"/>
          </a:xfrm>
          <a:prstGeom prst="rect">
            <a:avLst/>
          </a:prstGeom>
          <a:noFill/>
        </p:spPr>
        <p:txBody>
          <a:bodyPr wrap="square">
            <a:spAutoFit/>
          </a:bodyPr>
          <a:lstStyle/>
          <a:p>
            <a:pPr>
              <a:spcAft>
                <a:spcPts val="600"/>
              </a:spcAft>
            </a:pPr>
            <a:r>
              <a:rPr b="1" sz="2000">
                <a:solidFill>
                  <a:srgbClr val="1B3A5C"/>
                </a:solidFill>
                <a:latin typeface="Consolas"/>
              </a:rPr>
              <a:t>CPUE  =  clams / diggers</a:t>
            </a:r>
            <a:r>
              <a:rPr sz="1300">
                <a:solidFill>
                  <a:srgbClr val="444444"/>
                </a:solidFill>
              </a:rPr>
              <a:t>   catch per digger, from the creel interviews</a:t>
            </a:r>
          </a:p>
          <a:p>
            <a:pPr>
              <a:spcAft>
                <a:spcPts val="600"/>
              </a:spcAft>
            </a:pPr>
            <a:r>
              <a:rPr b="1" sz="2000">
                <a:solidFill>
                  <a:srgbClr val="1B3A5C"/>
                </a:solidFill>
                <a:latin typeface="Consolas"/>
              </a:rPr>
              <a:t>E_total  =  E_t (1 - p) / CF</a:t>
            </a:r>
            <a:r>
              <a:rPr sz="1300">
                <a:solidFill>
                  <a:srgbClr val="444444"/>
                </a:solidFill>
              </a:rPr>
              <a:t>   expand the count E_t to the whole day; CF ~ 0.5 is the share present at count time</a:t>
            </a:r>
          </a:p>
          <a:p>
            <a:pPr>
              <a:spcAft>
                <a:spcPts val="600"/>
              </a:spcAft>
            </a:pPr>
            <a:r>
              <a:rPr b="1" sz="2000">
                <a:solidFill>
                  <a:srgbClr val="1B3A5C"/>
                </a:solidFill>
                <a:latin typeface="Consolas"/>
              </a:rPr>
              <a:t>Harvest  =  E_total  x  CPUE</a:t>
            </a:r>
            <a:r>
              <a:rPr sz="1300">
                <a:solidFill>
                  <a:srgbClr val="444444"/>
                </a:solidFill>
              </a:rPr>
              <a:t>   effort times catch rate, summed over segments, days, and beaches</a:t>
            </a:r>
          </a:p>
          <a:p>
            <a:pPr>
              <a:spcAft>
                <a:spcPts val="600"/>
              </a:spcAft>
            </a:pPr>
            <a:r>
              <a:rPr b="1" sz="2000">
                <a:solidFill>
                  <a:srgbClr val="1B3A5C"/>
                </a:solidFill>
                <a:latin typeface="Consolas"/>
              </a:rPr>
              <a:t>X_today  =  X_ref  x  ( Donor_today / Donor_ref )</a:t>
            </a:r>
            <a:r>
              <a:rPr sz="1300">
                <a:solidFill>
                  <a:srgbClr val="444444"/>
                </a:solidFill>
              </a:rPr>
              <a:t>   uncounted day: borrow a neighbour's day-over-day change</a:t>
            </a:r>
          </a:p>
        </p:txBody>
      </p:sp>
      <p:sp>
        <p:nvSpPr>
          <p:cNvPr id="4" name="TextBox 3"/>
          <p:cNvSpPr txBox="1"/>
          <p:nvPr/>
        </p:nvSpPr>
        <p:spPr>
          <a:xfrm>
            <a:off x="594360" y="5760720"/>
            <a:ext cx="10972800" cy="822960"/>
          </a:xfrm>
          <a:prstGeom prst="rect">
            <a:avLst/>
          </a:prstGeom>
          <a:noFill/>
        </p:spPr>
        <p:txBody>
          <a:bodyPr wrap="square">
            <a:spAutoFit/>
          </a:bodyPr>
          <a:lstStyle/>
          <a:p>
            <a:r>
              <a:rPr b="1" sz="1300">
                <a:solidFill>
                  <a:srgbClr val="1B3A5C"/>
                </a:solidFill>
              </a:rPr>
              <a:t>In plain terms:  </a:t>
            </a:r>
            <a:r>
              <a:rPr sz="1300"/>
              <a:t>the whole method is one measured count expanded by a correction factor and a catch rate. When a beach is not counted, the first three lines are replaced by the fourth, and the day is inferred from a neighbour.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method has moved: the May 2013 correction</a:t>
            </a:r>
          </a:p>
        </p:txBody>
      </p:sp>
      <p:sp>
        <p:nvSpPr>
          <p:cNvPr id="3" name="Content Placeholder 2"/>
          <p:cNvSpPr>
            <a:spLocks noGrp="1"/>
          </p:cNvSpPr>
          <p:nvPr>
            <p:ph idx="1" sz="half"/>
          </p:nvPr>
        </p:nvSpPr>
        <p:spPr/>
        <p:txBody>
          <a:bodyPr wrap="square"/>
          <a:lstStyle/>
          <a:p>
            <a:r>
              <a:rPr b="1" sz="1500"/>
              <a:t>May 2013 correction: </a:t>
            </a:r>
            <a:r>
              <a:rPr sz="1500"/>
              <a:t>the old arithmetic underestimated harvest by ~16%; re-estimated day-by-day back to 1997-98.</a:t>
            </a:r>
          </a:p>
          <a:p>
            <a:r>
              <a:rPr sz="1500"/>
              <a:t>The correction factor, the share of a day's effort present at the count, is the load-bearing number.</a:t>
            </a:r>
          </a:p>
          <a:p>
            <a:r>
              <a:rPr b="1" sz="1500"/>
              <a:t>Long Beach's table was reshaped after 2013: </a:t>
            </a:r>
            <a:r>
              <a:rPr sz="1500"/>
              <a:t>+33% expanded effort for the same count.</a:t>
            </a:r>
          </a:p>
          <a:p>
            <a:r>
              <a:rPr sz="1500"/>
              <a:t>Comparing Long Beach effort across that change compares two different instruments.</a:t>
            </a:r>
          </a:p>
        </p:txBody>
      </p:sp>
      <p:sp>
        <p:nvSpPr>
          <p:cNvPr id="5" name="Content Placeholder 4"/>
          <p:cNvSpPr>
            <a:spLocks noGrp="1"/>
          </p:cNvSpPr>
          <p:nvPr>
            <p:ph idx="11" sz="half"/>
          </p:nvPr>
        </p:nvSpPr>
        <p:spPr/>
        <p:txBody>
          <a:bodyPr/>
          <a:lstStyle/>
          <a:p/>
        </p:txBody>
      </p:sp>
      <p:pic>
        <p:nvPicPr>
          <p:cNvPr id="6" name="Picture 5" descr="fig09_operational_vs_vintage.png"/>
          <p:cNvPicPr>
            <a:picLocks noChangeAspect="1"/>
          </p:cNvPicPr>
          <p:nvPr/>
        </p:nvPicPr>
        <p:blipFill>
          <a:blip r:embed="rId2"/>
          <a:stretch>
            <a:fillRect/>
          </a:stretch>
        </p:blipFill>
        <p:spPr>
          <a:xfrm>
            <a:off x="6178610" y="1422412"/>
            <a:ext cx="5403790" cy="3782653"/>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2.  Data gaps and uncertainty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correction factor dominates, and it does not average down</a:t>
            </a:r>
          </a:p>
        </p:txBody>
      </p:sp>
      <p:sp>
        <p:nvSpPr>
          <p:cNvPr id="3" name="Content Placeholder 2"/>
          <p:cNvSpPr>
            <a:spLocks noGrp="1"/>
          </p:cNvSpPr>
          <p:nvPr>
            <p:ph idx="1" sz="half"/>
          </p:nvPr>
        </p:nvSpPr>
        <p:spPr/>
        <p:txBody>
          <a:bodyPr wrap="square"/>
          <a:lstStyle/>
          <a:p>
            <a:r>
              <a:rPr b="1" sz="1500"/>
              <a:t>71-96% of season effort variance </a:t>
            </a:r>
            <a:r>
              <a:rPr sz="1500"/>
              <a:t>at every beach is the correction factor.</a:t>
            </a:r>
          </a:p>
          <a:p>
            <a:r>
              <a:rPr sz="1500"/>
              <a:t>It is systematic: one table scales every beach-day, so counting more days cannot shrink it.</a:t>
            </a:r>
          </a:p>
          <a:p>
            <a:r>
              <a:rPr sz="1500"/>
              <a:t>Imputation is large on a single day but cancels within a tide series (lag-1 autocorrelation -0.68).</a:t>
            </a:r>
          </a:p>
          <a:p>
            <a:r>
              <a:rPr b="1" sz="1500"/>
              <a:t>The lever is surveys, not crew days </a:t>
            </a:r>
            <a:r>
              <a:rPr sz="1500"/>
              <a:t>for the term that dominates effort.</a:t>
            </a:r>
          </a:p>
        </p:txBody>
      </p:sp>
      <p:sp>
        <p:nvSpPr>
          <p:cNvPr id="5" name="Content Placeholder 4"/>
          <p:cNvSpPr>
            <a:spLocks noGrp="1"/>
          </p:cNvSpPr>
          <p:nvPr>
            <p:ph idx="11" sz="half"/>
          </p:nvPr>
        </p:nvSpPr>
        <p:spPr/>
        <p:txBody>
          <a:bodyPr/>
          <a:lstStyle/>
          <a:p/>
        </p:txBody>
      </p:sp>
      <p:pic>
        <p:nvPicPr>
          <p:cNvPr id="6" name="Picture 5" descr="fig10_variance_shares.png"/>
          <p:cNvPicPr>
            <a:picLocks noChangeAspect="1"/>
          </p:cNvPicPr>
          <p:nvPr/>
        </p:nvPicPr>
        <p:blipFill>
          <a:blip r:embed="rId2"/>
          <a:stretch>
            <a:fillRect/>
          </a:stretch>
        </p:blipFill>
        <p:spPr>
          <a:xfrm>
            <a:off x="6178610" y="1839978"/>
            <a:ext cx="5403790" cy="2947521"/>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Most southern beach-days are borrowed, not counted</a:t>
            </a:r>
          </a:p>
        </p:txBody>
      </p:sp>
      <p:pic>
        <p:nvPicPr>
          <p:cNvPr id="3" name="Picture 2" descr="fig18_tide_series_imputation.png"/>
          <p:cNvPicPr>
            <a:picLocks noChangeAspect="1"/>
          </p:cNvPicPr>
          <p:nvPr/>
        </p:nvPicPr>
        <p:blipFill>
          <a:blip r:embed="rId2"/>
          <a:stretch>
            <a:fillRect/>
          </a:stretch>
        </p:blipFill>
        <p:spPr>
          <a:xfrm>
            <a:off x="2298469" y="1417320"/>
            <a:ext cx="7564581" cy="3840480"/>
          </a:xfrm>
          <a:prstGeom prst="rect">
            <a:avLst/>
          </a:prstGeom>
        </p:spPr>
      </p:pic>
      <p:sp>
        <p:nvSpPr>
          <p:cNvPr id="4" name="TextBox 3"/>
          <p:cNvSpPr txBox="1"/>
          <p:nvPr/>
        </p:nvSpPr>
        <p:spPr>
          <a:xfrm>
            <a:off x="594360" y="5532120"/>
            <a:ext cx="10972800" cy="822960"/>
          </a:xfrm>
          <a:prstGeom prst="rect">
            <a:avLst/>
          </a:prstGeom>
          <a:noFill/>
        </p:spPr>
        <p:txBody>
          <a:bodyPr wrap="square">
            <a:spAutoFit/>
          </a:bodyPr>
          <a:lstStyle/>
          <a:p>
            <a:r>
              <a:rPr b="1" sz="1300">
                <a:solidFill>
                  <a:srgbClr val="1B3A5C"/>
                </a:solidFill>
              </a:rPr>
              <a:t>In plain terms:  </a:t>
            </a:r>
            <a:r>
              <a:rPr sz="1300"/>
              <a:t>Copalis and Mocrocks are counted every day they open; the southern beaches often are not, so their effort is borrowed from a counted neighbour. In 2025-26, 57% of Long Beach effort is borrowed from another beach.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 joint donor under co-management</a:t>
            </a:r>
          </a:p>
        </p:txBody>
      </p:sp>
      <p:pic>
        <p:nvPicPr>
          <p:cNvPr id="3" name="Picture 2" descr="fig19_joint_donor.png"/>
          <p:cNvPicPr>
            <a:picLocks noChangeAspect="1"/>
          </p:cNvPicPr>
          <p:nvPr/>
        </p:nvPicPr>
        <p:blipFill>
          <a:blip r:embed="rId2"/>
          <a:stretch>
            <a:fillRect/>
          </a:stretch>
        </p:blipFill>
        <p:spPr>
          <a:xfrm>
            <a:off x="2180272" y="1417320"/>
            <a:ext cx="7800975" cy="3840480"/>
          </a:xfrm>
          <a:prstGeom prst="rect">
            <a:avLst/>
          </a:prstGeom>
        </p:spPr>
      </p:pic>
      <p:sp>
        <p:nvSpPr>
          <p:cNvPr id="4" name="TextBox 3"/>
          <p:cNvSpPr txBox="1"/>
          <p:nvPr/>
        </p:nvSpPr>
        <p:spPr>
          <a:xfrm>
            <a:off x="594360" y="5532120"/>
            <a:ext cx="10972800" cy="822960"/>
          </a:xfrm>
          <a:prstGeom prst="rect">
            <a:avLst/>
          </a:prstGeom>
          <a:noFill/>
        </p:spPr>
        <p:txBody>
          <a:bodyPr wrap="square">
            <a:spAutoFit/>
          </a:bodyPr>
          <a:lstStyle/>
          <a:p>
            <a:r>
              <a:rPr b="1" sz="1300">
                <a:solidFill>
                  <a:srgbClr val="1B3A5C"/>
                </a:solidFill>
              </a:rPr>
              <a:t>In plain terms:  </a:t>
            </a:r>
            <a:r>
              <a:rPr sz="1300"/>
              <a:t>co-management means the state counts only one northern beach per day, so the best (joint) donor cannot be built. Long Beach must borrow from a single northern beach, single-day error about 0.62, roughly 45% worse than the joint donor.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Only 14% of Long Beach rests on a real count</a:t>
            </a:r>
          </a:p>
        </p:txBody>
      </p:sp>
      <p:pic>
        <p:nvPicPr>
          <p:cNvPr id="3" name="Picture 2" descr="fig20_longbeach_anatomy.png"/>
          <p:cNvPicPr>
            <a:picLocks noChangeAspect="1"/>
          </p:cNvPicPr>
          <p:nvPr/>
        </p:nvPicPr>
        <p:blipFill>
          <a:blip r:embed="rId2"/>
          <a:stretch>
            <a:fillRect/>
          </a:stretch>
        </p:blipFill>
        <p:spPr>
          <a:xfrm>
            <a:off x="2788920" y="1417320"/>
            <a:ext cx="6583680" cy="3840480"/>
          </a:xfrm>
          <a:prstGeom prst="rect">
            <a:avLst/>
          </a:prstGeom>
        </p:spPr>
      </p:pic>
      <p:sp>
        <p:nvSpPr>
          <p:cNvPr id="4" name="TextBox 3"/>
          <p:cNvSpPr txBox="1"/>
          <p:nvPr/>
        </p:nvSpPr>
        <p:spPr>
          <a:xfrm>
            <a:off x="594360" y="5532120"/>
            <a:ext cx="10972800" cy="822960"/>
          </a:xfrm>
          <a:prstGeom prst="rect">
            <a:avLst/>
          </a:prstGeom>
          <a:noFill/>
        </p:spPr>
        <p:txBody>
          <a:bodyPr wrap="square">
            <a:spAutoFit/>
          </a:bodyPr>
          <a:lstStyle/>
          <a:p>
            <a:r>
              <a:rPr b="1" sz="1300">
                <a:solidFill>
                  <a:srgbClr val="1B3A5C"/>
                </a:solidFill>
              </a:rPr>
              <a:t>In plain terms:  </a:t>
            </a:r>
            <a:r>
              <a:rPr sz="1300"/>
              <a:t>28 miles walked in two halves; only 13.8% of 2025-26 effort rests on a full count. The correction factor, the section split, and the whole-beach total are each assumed, not measured.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3.  Impact of budget reduction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 budget cut does to Long Beach</a:t>
            </a:r>
          </a:p>
        </p:txBody>
      </p:sp>
      <p:pic>
        <p:nvPicPr>
          <p:cNvPr id="3" name="Picture 2" descr="fig21_budget_cut.png"/>
          <p:cNvPicPr>
            <a:picLocks noChangeAspect="1"/>
          </p:cNvPicPr>
          <p:nvPr/>
        </p:nvPicPr>
        <p:blipFill>
          <a:blip r:embed="rId2"/>
          <a:stretch>
            <a:fillRect/>
          </a:stretch>
        </p:blipFill>
        <p:spPr>
          <a:xfrm>
            <a:off x="2298469" y="1417320"/>
            <a:ext cx="7564581" cy="3840480"/>
          </a:xfrm>
          <a:prstGeom prst="rect">
            <a:avLst/>
          </a:prstGeom>
        </p:spPr>
      </p:pic>
      <p:sp>
        <p:nvSpPr>
          <p:cNvPr id="4" name="TextBox 3"/>
          <p:cNvSpPr txBox="1"/>
          <p:nvPr/>
        </p:nvSpPr>
        <p:spPr>
          <a:xfrm>
            <a:off x="594360" y="5532120"/>
            <a:ext cx="10972800" cy="822960"/>
          </a:xfrm>
          <a:prstGeom prst="rect">
            <a:avLst/>
          </a:prstGeom>
          <a:noFill/>
        </p:spPr>
        <p:txBody>
          <a:bodyPr wrap="square">
            <a:spAutoFit/>
          </a:bodyPr>
          <a:lstStyle/>
          <a:p>
            <a:r>
              <a:rPr b="1" sz="1250">
                <a:solidFill>
                  <a:srgbClr val="1B3A5C"/>
                </a:solidFill>
              </a:rPr>
              <a:t>In plain terms:  </a:t>
            </a:r>
            <a:r>
              <a:rPr sz="1250"/>
              <a:t>if cuts leave Long Beach 100% imputed, its season effort CV rises from about 9% to about 32%. Most of that increase is systematic: Long Beach does not track the northern beaches (ratio swings 31%), and no amount of donor sampling fixes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 reduction actually costs</a:t>
            </a:r>
          </a:p>
        </p:txBody>
      </p:sp>
      <p:sp>
        <p:nvSpPr>
          <p:cNvPr id="3" name="Content Placeholder 2"/>
          <p:cNvSpPr>
            <a:spLocks noGrp="1"/>
          </p:cNvSpPr>
          <p:nvPr>
            <p:ph idx="1"/>
          </p:nvPr>
        </p:nvSpPr>
        <p:spPr/>
        <p:txBody>
          <a:bodyPr wrap="square"/>
          <a:lstStyle/>
          <a:p>
            <a:r>
              <a:rPr b="1" sz="1500"/>
              <a:t>The cheap beaches are already efficient. </a:t>
            </a:r>
            <a:r>
              <a:rPr sz="1500"/>
              <a:t>Copalis and Mocrocks are counted every open day and sit near 6-9% CV; cutting them saves little and loses the donor the south depends on.</a:t>
            </a:r>
          </a:p>
          <a:p>
            <a:r>
              <a:rPr b="1" sz="1500"/>
              <a:t>The expensive uncertainty is at Long Beach and Twin Harbors, </a:t>
            </a:r>
            <a:r>
              <a:rPr sz="1500"/>
              <a:t>the two beaches already most imputed. Cutting them is where a budget reduction bites hardest.</a:t>
            </a:r>
          </a:p>
          <a:p>
            <a:r>
              <a:rPr b="1" sz="1500"/>
              <a:t>Imputation is not a free substitute for counting. </a:t>
            </a:r>
            <a:r>
              <a:rPr sz="1500"/>
              <a:t>At 100% imputation Long Beach's uncertainty is dominated by a systematic term that more donor sampling cannot reduce.</a:t>
            </a:r>
          </a:p>
          <a:p>
            <a:r>
              <a:rPr b="1" sz="1500"/>
              <a:t>A reduction is therefore a choice about which beach's estimate to weaken, </a:t>
            </a:r>
            <a:r>
              <a:rPr sz="1500"/>
              <a:t>not a uniform trim. The next section is where a smaller budget should go.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4.  Data needs; a re-imagined framework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re-imagined monitoring framework, in one page</a:t>
            </a:r>
          </a:p>
        </p:txBody>
      </p:sp>
      <p:sp>
        <p:nvSpPr>
          <p:cNvPr id="3" name="Content Placeholder 2"/>
          <p:cNvSpPr>
            <a:spLocks noGrp="1"/>
          </p:cNvSpPr>
          <p:nvPr>
            <p:ph idx="1"/>
          </p:nvPr>
        </p:nvSpPr>
        <p:spPr/>
        <p:txBody>
          <a:bodyPr wrap="square"/>
          <a:lstStyle/>
          <a:p>
            <a:r>
              <a:rPr b="1" sz="1500"/>
              <a:t>Survey the term that dominates. </a:t>
            </a:r>
            <a:r>
              <a:rPr sz="1500"/>
              <a:t>The correction factor is the largest error everywhere; egress surveys, not more counted days, are the lever. Priority: Long Beach and Twin Harbors, whose tables are the oldest and thinnest.</a:t>
            </a:r>
          </a:p>
          <a:p>
            <a:r>
              <a:rPr b="1" sz="1500"/>
              <a:t>Count enough days, and the right days. </a:t>
            </a:r>
            <a:r>
              <a:rPr sz="1500"/>
              <a:t>About 45% of a beach's open days, largest-effort first, meets a published precision standard; below that, imputation error grows.</a:t>
            </a:r>
          </a:p>
          <a:p>
            <a:r>
              <a:rPr b="1" sz="1500"/>
              <a:t>Protect the donor. </a:t>
            </a:r>
            <a:r>
              <a:rPr sz="1500"/>
              <a:t>Keep one of Copalis or Mocrocks counted every dig day (the co-management floor); the joint donor is gone, so the single donor must at least be current.</a:t>
            </a:r>
          </a:p>
          <a:p>
            <a:r>
              <a:rPr b="1" sz="1500"/>
              <a:t>Anchor the imputed beaches with their own data. </a:t>
            </a:r>
            <a:r>
              <a:rPr sz="1500"/>
              <a:t>A whole-beach Long Beach pilot replaces three stacked assumptions with one measurement and calibrates cheap partial surveys for later.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Run egress surveys at Long Beach and Twin Harbors</a:t>
            </a:r>
          </a:p>
        </p:txBody>
      </p:sp>
      <p:sp>
        <p:nvSpPr>
          <p:cNvPr id="3" name="Content Placeholder 2"/>
          <p:cNvSpPr>
            <a:spLocks noGrp="1"/>
          </p:cNvSpPr>
          <p:nvPr>
            <p:ph idx="1" sz="half"/>
          </p:nvPr>
        </p:nvSpPr>
        <p:spPr/>
        <p:txBody>
          <a:bodyPr wrap="square"/>
          <a:lstStyle/>
          <a:p>
            <a:r>
              <a:rPr sz="1500"/>
              <a:t>The correction factor is the largest term, and these two beaches now carry the worst of it.</a:t>
            </a:r>
          </a:p>
          <a:p>
            <a:r>
              <a:rPr b="1" sz="1500"/>
              <a:t>Newest survey: 2011. </a:t>
            </a:r>
            <a:r>
              <a:rPr sz="1500"/>
              <a:t>Twin Harbors evening rests on just two surveys.</a:t>
            </a:r>
          </a:p>
          <a:p>
            <a:r>
              <a:rPr sz="1500"/>
              <a:t>Copalis and Mocrocks were resurveyed 2022-2026 and no longer need egress effort.</a:t>
            </a:r>
          </a:p>
          <a:p>
            <a:r>
              <a:rPr b="1" sz="1500"/>
              <a:t>The single most valuable unpurchased input </a:t>
            </a:r>
            <a:r>
              <a:rPr sz="1500"/>
              <a:t>in the program.</a:t>
            </a:r>
          </a:p>
        </p:txBody>
      </p:sp>
      <p:sp>
        <p:nvSpPr>
          <p:cNvPr id="5" name="Content Placeholder 4"/>
          <p:cNvSpPr>
            <a:spLocks noGrp="1"/>
          </p:cNvSpPr>
          <p:nvPr>
            <p:ph idx="11" sz="half"/>
          </p:nvPr>
        </p:nvSpPr>
        <p:spPr/>
        <p:txBody>
          <a:bodyPr/>
          <a:lstStyle/>
          <a:p/>
        </p:txBody>
      </p:sp>
      <p:pic>
        <p:nvPicPr>
          <p:cNvPr id="6" name="Picture 5" descr="fig08_located_egress_surveys.png"/>
          <p:cNvPicPr>
            <a:picLocks noChangeAspect="1"/>
          </p:cNvPicPr>
          <p:nvPr/>
        </p:nvPicPr>
        <p:blipFill>
          <a:blip r:embed="rId2"/>
          <a:stretch>
            <a:fillRect/>
          </a:stretch>
        </p:blipFill>
        <p:spPr>
          <a:xfrm>
            <a:off x="6178610" y="2085605"/>
            <a:ext cx="5403790" cy="2456268"/>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Long Beach pilot: whole-beach egress across six approaches</a:t>
            </a:r>
          </a:p>
        </p:txBody>
      </p:sp>
      <p:graphicFrame>
        <p:nvGraphicFramePr>
          <p:cNvPr id="3" name="Table 2"/>
          <p:cNvGraphicFramePr>
            <a:graphicFrameLocks noGrp="1"/>
          </p:cNvGraphicFramePr>
          <p:nvPr/>
        </p:nvGraphicFramePr>
        <p:xfrm>
          <a:off x="594360" y="1325880"/>
          <a:ext cx="10607040" cy="2560320"/>
        </p:xfrm>
        <a:graphic>
          <a:graphicData uri="http://schemas.openxmlformats.org/drawingml/2006/table">
            <a:tbl>
              <a:tblPr firstRow="1" bandRow="1">
                <a:tableStyleId>{5C22544A-7EE6-4342-B048-85BDC9FD1C3A}</a:tableStyleId>
              </a:tblPr>
              <a:tblGrid>
                <a:gridCol w="3657600"/>
                <a:gridCol w="4937760"/>
                <a:gridCol w="2011680"/>
              </a:tblGrid>
              <a:tr h="365760">
                <a:tc>
                  <a:txBody>
                    <a:bodyPr/>
                    <a:lstStyle/>
                    <a:p>
                      <a:r>
                        <a:rPr sz="1300" b="1">
                          <a:solidFill>
                            <a:srgbClr val="FFFFFF"/>
                          </a:solidFill>
                        </a:rPr>
                        <a:t>Vehicle approach  (south to north)</a:t>
                      </a:r>
                    </a:p>
                  </a:txBody>
                  <a:tcPr>
                    <a:solidFill>
                      <a:srgbClr val="1B3A5C"/>
                    </a:solidFill>
                  </a:tcPr>
                </a:tc>
                <a:tc>
                  <a:txBody>
                    <a:bodyPr/>
                    <a:lstStyle/>
                    <a:p>
                      <a:r>
                        <a:rPr sz="1300" b="1">
                          <a:solidFill>
                            <a:srgbClr val="FFFFFF"/>
                          </a:solidFill>
                        </a:rPr>
                        <a:t>Historical egress coverage</a:t>
                      </a:r>
                    </a:p>
                  </a:txBody>
                  <a:tcPr>
                    <a:solidFill>
                      <a:srgbClr val="1B3A5C"/>
                    </a:solidFill>
                  </a:tcPr>
                </a:tc>
                <a:tc>
                  <a:txBody>
                    <a:bodyPr/>
                    <a:lstStyle/>
                    <a:p>
                      <a:r>
                        <a:rPr sz="1300" b="1">
                          <a:solidFill>
                            <a:srgbClr val="FFFFFF"/>
                          </a:solidFill>
                        </a:rPr>
                        <a:t>Pilot role</a:t>
                      </a:r>
                    </a:p>
                  </a:txBody>
                  <a:tcPr>
                    <a:solidFill>
                      <a:srgbClr val="1B3A5C"/>
                    </a:solidFill>
                  </a:tcPr>
                </a:tc>
              </a:tr>
              <a:tr h="365760">
                <a:tc>
                  <a:txBody>
                    <a:bodyPr/>
                    <a:lstStyle/>
                    <a:p>
                      <a:r>
                        <a:rPr sz="1200"/>
                        <a:t>Seaview</a:t>
                      </a:r>
                    </a:p>
                  </a:txBody>
                  <a:tcPr/>
                </a:tc>
                <a:tc>
                  <a:txBody>
                    <a:bodyPr/>
                    <a:lstStyle/>
                    <a:p>
                      <a:r>
                        <a:rPr sz="1200"/>
                        <a:t>2004 only (south to Beards Hollow)</a:t>
                      </a:r>
                    </a:p>
                  </a:txBody>
                  <a:tcPr/>
                </a:tc>
                <a:tc>
                  <a:txBody>
                    <a:bodyPr/>
                    <a:lstStyle/>
                    <a:p>
                      <a:r>
                        <a:rPr sz="1200"/>
                        <a:t>Counter</a:t>
                      </a:r>
                    </a:p>
                  </a:txBody>
                  <a:tcPr/>
                </a:tc>
              </a:tr>
              <a:tr h="365760">
                <a:tc>
                  <a:txBody>
                    <a:bodyPr/>
                    <a:lstStyle/>
                    <a:p>
                      <a:r>
                        <a:rPr sz="1200"/>
                        <a:t>Long Beach (Bolstad)</a:t>
                      </a:r>
                    </a:p>
                  </a:txBody>
                  <a:tcPr/>
                </a:tc>
                <a:tc>
                  <a:txBody>
                    <a:bodyPr/>
                    <a:lstStyle/>
                    <a:p>
                      <a:r>
                        <a:rPr sz="1200"/>
                        <a:t>never counted</a:t>
                      </a:r>
                    </a:p>
                  </a:txBody>
                  <a:tcPr/>
                </a:tc>
                <a:tc>
                  <a:txBody>
                    <a:bodyPr/>
                    <a:lstStyle/>
                    <a:p>
                      <a:r>
                        <a:rPr sz="1200"/>
                        <a:t>Counter</a:t>
                      </a:r>
                    </a:p>
                  </a:txBody>
                  <a:tcPr/>
                </a:tc>
              </a:tr>
              <a:tr h="365760">
                <a:tc>
                  <a:txBody>
                    <a:bodyPr/>
                    <a:lstStyle/>
                    <a:p>
                      <a:r>
                        <a:rPr sz="1200"/>
                        <a:t>Cranberry</a:t>
                      </a:r>
                    </a:p>
                  </a:txBody>
                  <a:tcPr/>
                </a:tc>
                <a:tc>
                  <a:txBody>
                    <a:bodyPr/>
                    <a:lstStyle/>
                    <a:p>
                      <a:r>
                        <a:rPr sz="1200"/>
                        <a:t>never counted</a:t>
                      </a:r>
                    </a:p>
                  </a:txBody>
                  <a:tcPr/>
                </a:tc>
                <a:tc>
                  <a:txBody>
                    <a:bodyPr/>
                    <a:lstStyle/>
                    <a:p>
                      <a:r>
                        <a:rPr sz="1200"/>
                        <a:t>Counter</a:t>
                      </a:r>
                    </a:p>
                  </a:txBody>
                  <a:tcPr/>
                </a:tc>
              </a:tr>
              <a:tr h="365760">
                <a:tc>
                  <a:txBody>
                    <a:bodyPr/>
                    <a:lstStyle/>
                    <a:p>
                      <a:r>
                        <a:rPr sz="1200"/>
                        <a:t>Klipsan</a:t>
                      </a:r>
                    </a:p>
                  </a:txBody>
                  <a:tcPr/>
                </a:tc>
                <a:tc>
                  <a:txBody>
                    <a:bodyPr/>
                    <a:lstStyle/>
                    <a:p>
                      <a:r>
                        <a:rPr sz="1200"/>
                        <a:t>never counted</a:t>
                      </a:r>
                    </a:p>
                  </a:txBody>
                  <a:tcPr/>
                </a:tc>
                <a:tc>
                  <a:txBody>
                    <a:bodyPr/>
                    <a:lstStyle/>
                    <a:p>
                      <a:r>
                        <a:rPr sz="1200"/>
                        <a:t>Counter</a:t>
                      </a:r>
                    </a:p>
                  </a:txBody>
                  <a:tcPr/>
                </a:tc>
              </a:tr>
              <a:tr h="365760">
                <a:tc>
                  <a:txBody>
                    <a:bodyPr/>
                    <a:lstStyle/>
                    <a:p>
                      <a:r>
                        <a:rPr sz="1200"/>
                        <a:t>Ocean Park</a:t>
                      </a:r>
                    </a:p>
                  </a:txBody>
                  <a:tcPr/>
                </a:tc>
                <a:tc>
                  <a:txBody>
                    <a:bodyPr/>
                    <a:lstStyle/>
                    <a:p>
                      <a:r>
                        <a:rPr sz="1200"/>
                        <a:t>never counted</a:t>
                      </a:r>
                    </a:p>
                  </a:txBody>
                  <a:tcPr/>
                </a:tc>
                <a:tc>
                  <a:txBody>
                    <a:bodyPr/>
                    <a:lstStyle/>
                    <a:p>
                      <a:r>
                        <a:rPr sz="1200"/>
                        <a:t>Counter</a:t>
                      </a:r>
                    </a:p>
                  </a:txBody>
                  <a:tcPr/>
                </a:tc>
              </a:tr>
              <a:tr h="365760">
                <a:tc>
                  <a:txBody>
                    <a:bodyPr/>
                    <a:lstStyle/>
                    <a:p>
                      <a:r>
                        <a:rPr sz="1200"/>
                        <a:t>Oysterville</a:t>
                      </a:r>
                    </a:p>
                  </a:txBody>
                  <a:tcPr/>
                </a:tc>
                <a:tc>
                  <a:txBody>
                    <a:bodyPr/>
                    <a:lstStyle/>
                    <a:p>
                      <a:r>
                        <a:rPr sz="1200"/>
                        <a:t>1990, 1998, 2004, 2011 (north to Leadbetter)</a:t>
                      </a:r>
                    </a:p>
                  </a:txBody>
                  <a:tcPr/>
                </a:tc>
                <a:tc>
                  <a:txBody>
                    <a:bodyPr/>
                    <a:lstStyle/>
                    <a:p>
                      <a:r>
                        <a:rPr sz="1200"/>
                        <a:t>Counter</a:t>
                      </a:r>
                    </a:p>
                  </a:txBody>
                  <a:tcPr/>
                </a:tc>
              </a:tr>
            </a:tbl>
          </a:graphicData>
        </a:graphic>
      </p:graphicFrame>
      <p:sp>
        <p:nvSpPr>
          <p:cNvPr id="4" name="TextBox 3"/>
          <p:cNvSpPr txBox="1"/>
          <p:nvPr/>
        </p:nvSpPr>
        <p:spPr>
          <a:xfrm>
            <a:off x="594360" y="4297680"/>
            <a:ext cx="10972800" cy="1554480"/>
          </a:xfrm>
          <a:prstGeom prst="rect">
            <a:avLst/>
          </a:prstGeom>
          <a:noFill/>
        </p:spPr>
        <p:txBody>
          <a:bodyPr wrap="square">
            <a:spAutoFit/>
          </a:bodyPr>
          <a:lstStyle/>
          <a:p>
            <a:r>
              <a:rPr sz="1300"/>
              <a:t>One counter per approach records cars on and off in 15-minute bins across the tidal window. Four of the six approaches have never been counted, and no survey has ever counted all six on the same day. This is the first whole-beach measurement, and it retires the section-ratio and CF-from-one-end assumptions.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Staffing: eight for Long Beach, thirteen with a paired northern beach</a:t>
            </a:r>
          </a:p>
        </p:txBody>
      </p:sp>
      <p:graphicFrame>
        <p:nvGraphicFramePr>
          <p:cNvPr id="3" name="Table 2"/>
          <p:cNvGraphicFramePr>
            <a:graphicFrameLocks noGrp="1"/>
          </p:cNvGraphicFramePr>
          <p:nvPr/>
        </p:nvGraphicFramePr>
        <p:xfrm>
          <a:off x="594360" y="1325880"/>
          <a:ext cx="10972800" cy="2194560"/>
        </p:xfrm>
        <a:graphic>
          <a:graphicData uri="http://schemas.openxmlformats.org/drawingml/2006/table">
            <a:tbl>
              <a:tblPr firstRow="1" bandRow="1">
                <a:tableStyleId>{5C22544A-7EE6-4342-B048-85BDC9FD1C3A}</a:tableStyleId>
              </a:tblPr>
              <a:tblGrid>
                <a:gridCol w="5120640"/>
                <a:gridCol w="1188720"/>
                <a:gridCol w="4663440"/>
              </a:tblGrid>
              <a:tr h="365760">
                <a:tc>
                  <a:txBody>
                    <a:bodyPr/>
                    <a:lstStyle/>
                    <a:p>
                      <a:r>
                        <a:rPr sz="1300" b="1">
                          <a:solidFill>
                            <a:srgbClr val="FFFFFF"/>
                          </a:solidFill>
                        </a:rPr>
                        <a:t>Role</a:t>
                      </a:r>
                    </a:p>
                  </a:txBody>
                  <a:tcPr>
                    <a:solidFill>
                      <a:srgbClr val="1B3A5C"/>
                    </a:solidFill>
                  </a:tcPr>
                </a:tc>
                <a:tc>
                  <a:txBody>
                    <a:bodyPr/>
                    <a:lstStyle/>
                    <a:p>
                      <a:r>
                        <a:rPr sz="1300" b="1">
                          <a:solidFill>
                            <a:srgbClr val="FFFFFF"/>
                          </a:solidFill>
                        </a:rPr>
                        <a:t>Staff</a:t>
                      </a:r>
                    </a:p>
                  </a:txBody>
                  <a:tcPr>
                    <a:solidFill>
                      <a:srgbClr val="1B3A5C"/>
                    </a:solidFill>
                  </a:tcPr>
                </a:tc>
                <a:tc>
                  <a:txBody>
                    <a:bodyPr/>
                    <a:lstStyle/>
                    <a:p>
                      <a:r>
                        <a:rPr sz="1300" b="1">
                          <a:solidFill>
                            <a:srgbClr val="FFFFFF"/>
                          </a:solidFill>
                        </a:rPr>
                        <a:t>Basis</a:t>
                      </a:r>
                    </a:p>
                  </a:txBody>
                  <a:tcPr>
                    <a:solidFill>
                      <a:srgbClr val="1B3A5C"/>
                    </a:solidFill>
                  </a:tcPr>
                </a:tc>
              </a:tr>
              <a:tr h="365760">
                <a:tc>
                  <a:txBody>
                    <a:bodyPr/>
                    <a:lstStyle/>
                    <a:p>
                      <a:r>
                        <a:rPr sz="1200"/>
                        <a:t>Approach counters</a:t>
                      </a:r>
                    </a:p>
                  </a:txBody>
                  <a:tcPr/>
                </a:tc>
                <a:tc>
                  <a:txBody>
                    <a:bodyPr/>
                    <a:lstStyle/>
                    <a:p>
                      <a:r>
                        <a:rPr sz="1200"/>
                        <a:t>6</a:t>
                      </a:r>
                    </a:p>
                  </a:txBody>
                  <a:tcPr/>
                </a:tc>
                <a:tc>
                  <a:txBody>
                    <a:bodyPr/>
                    <a:lstStyle/>
                    <a:p>
                      <a:r>
                        <a:rPr sz="1200"/>
                        <a:t>one per drivable approach (1998 field model)</a:t>
                      </a:r>
                    </a:p>
                  </a:txBody>
                  <a:tcPr/>
                </a:tc>
              </a:tr>
              <a:tr h="365760">
                <a:tc>
                  <a:txBody>
                    <a:bodyPr/>
                    <a:lstStyle/>
                    <a:p>
                      <a:r>
                        <a:rPr sz="1200"/>
                        <a:t>Roving beach-count / interview crews</a:t>
                      </a:r>
                    </a:p>
                  </a:txBody>
                  <a:tcPr/>
                </a:tc>
                <a:tc>
                  <a:txBody>
                    <a:bodyPr/>
                    <a:lstStyle/>
                    <a:p>
                      <a:r>
                        <a:rPr sz="1200"/>
                        <a:t>2</a:t>
                      </a:r>
                    </a:p>
                  </a:txBody>
                  <a:tcPr/>
                </a:tc>
                <a:tc>
                  <a:txBody>
                    <a:bodyPr/>
                    <a:lstStyle/>
                    <a:p>
                      <a:r>
                        <a:rPr sz="1200"/>
                        <a:t>28-mile beach, up to ~5,200 trips on a 90th-percentile day</a:t>
                      </a:r>
                    </a:p>
                  </a:txBody>
                  <a:tcPr/>
                </a:tc>
              </a:tr>
              <a:tr h="365760">
                <a:tc>
                  <a:txBody>
                    <a:bodyPr/>
                    <a:lstStyle/>
                    <a:p>
                      <a:r>
                        <a:rPr sz="1200" b="1"/>
                        <a:t>Long Beach core, per survey day</a:t>
                      </a:r>
                    </a:p>
                  </a:txBody>
                  <a:tcPr/>
                </a:tc>
                <a:tc>
                  <a:txBody>
                    <a:bodyPr/>
                    <a:lstStyle/>
                    <a:p>
                      <a:r>
                        <a:rPr sz="1200" b="1"/>
                        <a:t>8</a:t>
                      </a:r>
                    </a:p>
                  </a:txBody>
                  <a:tcPr/>
                </a:tc>
                <a:tc>
                  <a:txBody>
                    <a:bodyPr/>
                    <a:lstStyle/>
                    <a:p/>
                  </a:txBody>
                  <a:tcPr/>
                </a:tc>
              </a:tr>
              <a:tr h="365760">
                <a:tc>
                  <a:txBody>
                    <a:bodyPr/>
                    <a:lstStyle/>
                    <a:p>
                      <a:r>
                        <a:rPr sz="1200"/>
                        <a:t>Paired northern egress (Copalis or Mocrocks)</a:t>
                      </a:r>
                    </a:p>
                  </a:txBody>
                  <a:tcPr/>
                </a:tc>
                <a:tc>
                  <a:txBody>
                    <a:bodyPr/>
                    <a:lstStyle/>
                    <a:p>
                      <a:r>
                        <a:rPr sz="1200"/>
                        <a:t>+5</a:t>
                      </a:r>
                    </a:p>
                  </a:txBody>
                  <a:tcPr/>
                </a:tc>
                <a:tc>
                  <a:txBody>
                    <a:bodyPr/>
                    <a:lstStyle/>
                    <a:p>
                      <a:r>
                        <a:rPr sz="1200"/>
                        <a:t>same-day donor truth on a subset of days</a:t>
                      </a:r>
                    </a:p>
                  </a:txBody>
                  <a:tcPr/>
                </a:tc>
              </a:tr>
              <a:tr h="365760">
                <a:tc>
                  <a:txBody>
                    <a:bodyPr/>
                    <a:lstStyle/>
                    <a:p>
                      <a:r>
                        <a:rPr sz="1200" b="1"/>
                        <a:t>Peak, on a paired day</a:t>
                      </a:r>
                    </a:p>
                  </a:txBody>
                  <a:tcPr/>
                </a:tc>
                <a:tc>
                  <a:txBody>
                    <a:bodyPr/>
                    <a:lstStyle/>
                    <a:p>
                      <a:r>
                        <a:rPr sz="1200" b="1"/>
                        <a:t>13</a:t>
                      </a:r>
                    </a:p>
                  </a:txBody>
                  <a:tcPr/>
                </a:tc>
                <a:tc>
                  <a:txBody>
                    <a:bodyPr/>
                    <a:lstStyle/>
                    <a:p/>
                  </a:txBody>
                  <a:tcPr/>
                </a:tc>
              </a:tr>
            </a:tbl>
          </a:graphicData>
        </a:graphic>
      </p:graphicFrame>
      <p:sp>
        <p:nvSpPr>
          <p:cNvPr id="4" name="TextBox 3"/>
          <p:cNvSpPr txBox="1"/>
          <p:nvPr/>
        </p:nvSpPr>
        <p:spPr>
          <a:xfrm>
            <a:off x="594360" y="4160520"/>
            <a:ext cx="10972800" cy="1554480"/>
          </a:xfrm>
          <a:prstGeom prst="rect">
            <a:avLst/>
          </a:prstGeom>
          <a:noFill/>
        </p:spPr>
        <p:txBody>
          <a:bodyPr wrap="square">
            <a:spAutoFit/>
          </a:bodyPr>
          <a:lstStyle/>
          <a:p>
            <a:r>
              <a:rPr sz="1300"/>
              <a:t>Counters are stationary and low-skill; the roving crews are the program's regular samplers, on the beach that day regardless, so the marginal cost is mainly the six counters. On a subset of days, add a whole-beach egress at whichever northern donor the state is digging, to measure the imputation transfer directly.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not just one fall and one spring survey?</a:t>
            </a:r>
          </a:p>
        </p:txBody>
      </p:sp>
      <p:pic>
        <p:nvPicPr>
          <p:cNvPr id="3" name="Picture 2" descr="fig16_lb_survey_target.png"/>
          <p:cNvPicPr>
            <a:picLocks noChangeAspect="1"/>
          </p:cNvPicPr>
          <p:nvPr/>
        </p:nvPicPr>
        <p:blipFill>
          <a:blip r:embed="rId2"/>
          <a:stretch>
            <a:fillRect/>
          </a:stretch>
        </p:blipFill>
        <p:spPr>
          <a:xfrm>
            <a:off x="2788920" y="1417320"/>
            <a:ext cx="6583680" cy="3840480"/>
          </a:xfrm>
          <a:prstGeom prst="rect">
            <a:avLst/>
          </a:prstGeom>
        </p:spPr>
      </p:pic>
      <p:sp>
        <p:nvSpPr>
          <p:cNvPr id="4" name="TextBox 3"/>
          <p:cNvSpPr txBox="1"/>
          <p:nvPr/>
        </p:nvSpPr>
        <p:spPr>
          <a:xfrm>
            <a:off x="594360" y="5532120"/>
            <a:ext cx="10972800" cy="822960"/>
          </a:xfrm>
          <a:prstGeom prst="rect">
            <a:avLst/>
          </a:prstGeom>
          <a:noFill/>
        </p:spPr>
        <p:txBody>
          <a:bodyPr wrap="square">
            <a:spAutoFit/>
          </a:bodyPr>
          <a:lstStyle/>
          <a:p>
            <a:r>
              <a:rPr b="1" sz="1250">
                <a:solidFill>
                  <a:srgbClr val="1B3A5C"/>
                </a:solidFill>
              </a:rPr>
              <a:t>In plain terms:  </a:t>
            </a:r>
            <a:r>
              <a:rPr sz="1250"/>
              <a:t>one survey per condition pins the shape and is worth doing; but the correction factor swings about 30% per survey, so precision improves only as 1 over root-N. About eight surveys halve today's uncertainty.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Hold the southern donor at its co-management floor</a:t>
            </a:r>
          </a:p>
        </p:txBody>
      </p:sp>
      <p:pic>
        <p:nvPicPr>
          <p:cNvPr id="3" name="Picture 2" descr="fig15_donor_comanagement.png"/>
          <p:cNvPicPr>
            <a:picLocks noChangeAspect="1"/>
          </p:cNvPicPr>
          <p:nvPr/>
        </p:nvPicPr>
        <p:blipFill>
          <a:blip r:embed="rId2"/>
          <a:stretch>
            <a:fillRect/>
          </a:stretch>
        </p:blipFill>
        <p:spPr>
          <a:xfrm>
            <a:off x="2880360" y="1417320"/>
            <a:ext cx="6400800" cy="3840480"/>
          </a:xfrm>
          <a:prstGeom prst="rect">
            <a:avLst/>
          </a:prstGeom>
        </p:spPr>
      </p:pic>
      <p:sp>
        <p:nvSpPr>
          <p:cNvPr id="4" name="TextBox 3"/>
          <p:cNvSpPr txBox="1"/>
          <p:nvPr/>
        </p:nvSpPr>
        <p:spPr>
          <a:xfrm>
            <a:off x="594360" y="5532120"/>
            <a:ext cx="10972800" cy="822960"/>
          </a:xfrm>
          <a:prstGeom prst="rect">
            <a:avLst/>
          </a:prstGeom>
          <a:noFill/>
        </p:spPr>
        <p:txBody>
          <a:bodyPr wrap="square">
            <a:spAutoFit/>
          </a:bodyPr>
          <a:lstStyle/>
          <a:p>
            <a:r>
              <a:rPr b="1" sz="1250">
                <a:solidFill>
                  <a:srgbClr val="1B3A5C"/>
                </a:solidFill>
              </a:rPr>
              <a:t>In plain terms:  </a:t>
            </a:r>
            <a:r>
              <a:rPr sz="1250"/>
              <a:t>pulling Copalis and Mocrocks back raises the southern imputation error with no tribal offset, because the Quinault alternate-day fishery is not a state proxy. Keep one of the two counted every dig day.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many days per tide series: about 45%, floor of two</a:t>
            </a:r>
          </a:p>
        </p:txBody>
      </p:sp>
      <p:sp>
        <p:nvSpPr>
          <p:cNvPr id="3" name="Content Placeholder 2"/>
          <p:cNvSpPr>
            <a:spLocks noGrp="1"/>
          </p:cNvSpPr>
          <p:nvPr>
            <p:ph idx="1" sz="half"/>
          </p:nvPr>
        </p:nvSpPr>
        <p:spPr/>
        <p:txBody>
          <a:bodyPr wrap="square"/>
          <a:lstStyle/>
          <a:p>
            <a:r>
              <a:rPr b="1" sz="1500"/>
              <a:t>Count 2 of a 4- or 5-day series; </a:t>
            </a:r>
            <a:r>
              <a:rPr sz="1500"/>
              <a:t>3 of a 6- or 7-day series.</a:t>
            </a:r>
          </a:p>
          <a:p>
            <a:r>
              <a:rPr sz="1500"/>
              <a:t>Counting one day per series never meets the CV 0.20 design target.</a:t>
            </a:r>
          </a:p>
          <a:p>
            <a:r>
              <a:rPr b="1" sz="1500"/>
              <a:t>Read it as 45% of open days, floor of two, </a:t>
            </a:r>
            <a:r>
              <a:rPr sz="1500"/>
              <a:t>largest-effort days first.</a:t>
            </a:r>
          </a:p>
          <a:p>
            <a:r>
              <a:rPr sz="1500"/>
              <a:t>Copalis needs all three of a three-day series, its floor, not sampling, binds.</a:t>
            </a:r>
          </a:p>
        </p:txBody>
      </p:sp>
      <p:sp>
        <p:nvSpPr>
          <p:cNvPr id="5" name="Content Placeholder 4"/>
          <p:cNvSpPr>
            <a:spLocks noGrp="1"/>
          </p:cNvSpPr>
          <p:nvPr>
            <p:ph idx="11" sz="half"/>
          </p:nvPr>
        </p:nvSpPr>
        <p:spPr/>
        <p:txBody>
          <a:bodyPr/>
          <a:lstStyle/>
          <a:p/>
        </p:txBody>
      </p:sp>
      <p:pic>
        <p:nvPicPr>
          <p:cNvPr id="6" name="Picture 5" descr="fig13_tide_series_cv.png"/>
          <p:cNvPicPr>
            <a:picLocks noChangeAspect="1"/>
          </p:cNvPicPr>
          <p:nvPr/>
        </p:nvPicPr>
        <p:blipFill>
          <a:blip r:embed="rId2"/>
          <a:stretch>
            <a:fillRect/>
          </a:stretch>
        </p:blipFill>
        <p:spPr>
          <a:xfrm>
            <a:off x="6178610" y="1692602"/>
            <a:ext cx="5403790" cy="3242274"/>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Borrowing catch rate across the north-south divide is the worst case</a:t>
            </a:r>
          </a:p>
        </p:txBody>
      </p:sp>
      <p:pic>
        <p:nvPicPr>
          <p:cNvPr id="3" name="Picture 2" descr="cpue_fig1_by_pair.png"/>
          <p:cNvPicPr>
            <a:picLocks noChangeAspect="1"/>
          </p:cNvPicPr>
          <p:nvPr/>
        </p:nvPicPr>
        <p:blipFill>
          <a:blip r:embed="rId2"/>
          <a:stretch>
            <a:fillRect/>
          </a:stretch>
        </p:blipFill>
        <p:spPr>
          <a:xfrm>
            <a:off x="2275676" y="1417320"/>
            <a:ext cx="7610167" cy="3931920"/>
          </a:xfrm>
          <a:prstGeom prst="rect">
            <a:avLst/>
          </a:prstGeom>
        </p:spPr>
      </p:pic>
      <p:sp>
        <p:nvSpPr>
          <p:cNvPr id="4" name="TextBox 3"/>
          <p:cNvSpPr txBox="1"/>
          <p:nvPr/>
        </p:nvSpPr>
        <p:spPr>
          <a:xfrm>
            <a:off x="594360" y="5532120"/>
            <a:ext cx="10972800" cy="822960"/>
          </a:xfrm>
          <a:prstGeom prst="rect">
            <a:avLst/>
          </a:prstGeom>
          <a:noFill/>
        </p:spPr>
        <p:txBody>
          <a:bodyPr wrap="square">
            <a:spAutoFit/>
          </a:bodyPr>
          <a:lstStyle/>
          <a:p>
            <a:r>
              <a:rPr b="1" sz="1250">
                <a:solidFill>
                  <a:srgbClr val="1B3A5C"/>
                </a:solidFill>
              </a:rPr>
              <a:t>In plain terms:  </a:t>
            </a:r>
            <a:r>
              <a:rPr sz="1250"/>
              <a:t>on days both beaches were interviewed, a northern donor's catch rate matches Long Beach or Twin Harbors only at ~0.45 in the log (unbiased). The two northern beaches match each other at 0.26; catch rate is regional, and the imputation borrows it across the divide.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lever on harvest is interviewing the target, not counting the donor</a:t>
            </a:r>
          </a:p>
        </p:txBody>
      </p:sp>
      <p:pic>
        <p:nvPicPr>
          <p:cNvPr id="3" name="Picture 2" descr="cpue_fig3_floor.png"/>
          <p:cNvPicPr>
            <a:picLocks noChangeAspect="1"/>
          </p:cNvPicPr>
          <p:nvPr/>
        </p:nvPicPr>
        <p:blipFill>
          <a:blip r:embed="rId2"/>
          <a:stretch>
            <a:fillRect/>
          </a:stretch>
        </p:blipFill>
        <p:spPr>
          <a:xfrm>
            <a:off x="2476500" y="1417320"/>
            <a:ext cx="7208520" cy="3931920"/>
          </a:xfrm>
          <a:prstGeom prst="rect">
            <a:avLst/>
          </a:prstGeom>
        </p:spPr>
      </p:pic>
      <p:sp>
        <p:nvSpPr>
          <p:cNvPr id="4" name="TextBox 3"/>
          <p:cNvSpPr txBox="1"/>
          <p:nvPr/>
        </p:nvSpPr>
        <p:spPr>
          <a:xfrm>
            <a:off x="594360" y="5532120"/>
            <a:ext cx="10972800" cy="822960"/>
          </a:xfrm>
          <a:prstGeom prst="rect">
            <a:avLst/>
          </a:prstGeom>
          <a:noFill/>
        </p:spPr>
        <p:txBody>
          <a:bodyPr wrap="square">
            <a:spAutoFit/>
          </a:bodyPr>
          <a:lstStyle/>
          <a:p>
            <a:r>
              <a:rPr b="1" sz="1250">
                <a:solidFill>
                  <a:srgbClr val="1B3A5C"/>
                </a:solidFill>
              </a:rPr>
              <a:t>In plain terms:  </a:t>
            </a:r>
            <a:r>
              <a:rPr sz="1250"/>
              <a:t>day-to-day catch-rate noise averages down over a season either way; what remains is a season-level floor (~0.16) that donor sampling cannot remove. Interviewing Long Beach / Twin Harbors directly drops it toward the interview sampling noise (~0.04).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each ingress/egress pilot needs, and its goal</a:t>
            </a:r>
          </a:p>
        </p:txBody>
      </p:sp>
      <p:sp>
        <p:nvSpPr>
          <p:cNvPr id="3" name="Content Placeholder 2"/>
          <p:cNvSpPr>
            <a:spLocks noGrp="1"/>
          </p:cNvSpPr>
          <p:nvPr>
            <p:ph idx="1"/>
          </p:nvPr>
        </p:nvSpPr>
        <p:spPr/>
        <p:txBody>
          <a:bodyPr wrap="square"/>
          <a:lstStyle/>
          <a:p>
            <a:r>
              <a:rPr b="1" sz="1500"/>
              <a:t>Four data streams, run on the same day: </a:t>
            </a:r>
            <a:r>
              <a:rPr sz="1500"/>
              <a:t>a counter at every drivable approach (cars on/off in 15-min bins); an instantaneous beach count taken BY SEGMENT; a full-beach creel; and tide/condition metadata.</a:t>
            </a:r>
          </a:p>
          <a:p>
            <a:r>
              <a:rPr b="1" sz="1500"/>
              <a:t>The egress count alone gives only the correction factor. </a:t>
            </a:r>
            <a:r>
              <a:rPr sz="1500"/>
              <a:t>It retires the section ratio only if the beach count is by segment, and grounds catch rate only if the creel is worked.</a:t>
            </a:r>
          </a:p>
          <a:p>
            <a:r>
              <a:rPr b="1" sz="1500"/>
              <a:t>Long Beach goal: retire three stacked assumptions at once </a:t>
            </a:r>
            <a:r>
              <a:rPr sz="1500"/>
              <a:t>(whole-beach CF, section ratio, and a modern table; newest survey 2011) by counting all six approaches and seven segments.</a:t>
            </a:r>
          </a:p>
          <a:p>
            <a:r>
              <a:rPr b="1" sz="1500"/>
              <a:t>Twin Harbors goal: refresh a thin, old table </a:t>
            </a:r>
            <a:r>
              <a:rPr sz="1500"/>
              <a:t>(the evening table rests on two surveys); it is already whole-beach walked, so no section-ratio problem.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often to ground-truth a largely-imputed beach</a:t>
            </a:r>
          </a:p>
        </p:txBody>
      </p:sp>
      <p:sp>
        <p:nvSpPr>
          <p:cNvPr id="3" name="Content Placeholder 2"/>
          <p:cNvSpPr>
            <a:spLocks noGrp="1"/>
          </p:cNvSpPr>
          <p:nvPr>
            <p:ph idx="1"/>
          </p:nvPr>
        </p:nvSpPr>
        <p:spPr/>
        <p:txBody>
          <a:bodyPr wrap="square"/>
          <a:lstStyle/>
          <a:p>
            <a:r>
              <a:rPr b="1" sz="1500"/>
              <a:t>Effort fails by lag. </a:t>
            </a:r>
            <a:r>
              <a:rPr sz="1500"/>
              <a:t>Imputation error grows with the gap to the nearest counted day (0.49 at 1 day to 0.74 at 4-5). Keep it short: at least one counted day per tide series, spread across fall / winter / spring to catch the ratio drift.</a:t>
            </a:r>
          </a:p>
          <a:p>
            <a:r>
              <a:rPr b="1" sz="1500"/>
              <a:t>Harvest fails by a season-level catch-rate floor. </a:t>
            </a:r>
            <a:r>
              <a:rPr sz="1500"/>
              <a:t>Removed not by counting the donor but by interviewing the target beach across the season.</a:t>
            </a:r>
          </a:p>
          <a:p>
            <a:r>
              <a:rPr b="1" sz="1500"/>
              <a:t>One cadence does both: </a:t>
            </a:r>
            <a:r>
              <a:rPr sz="1500"/>
              <a:t>one fully-sampled day, a beach count AND a creel, per tide series at Long Beach and Twin Harbors, on the largest-effort opener.</a:t>
            </a:r>
          </a:p>
          <a:p>
            <a:r>
              <a:rPr b="1" sz="1500"/>
              <a:t>That is more than the staffing model's aggressive imputation implies, and far less than full counting. </a:t>
            </a:r>
            <a:r>
              <a:rPr sz="1500"/>
              <a:t>It is the cadence a reduced budget should protect first.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5.  Plan for the 2026-27 season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reallocation is cost-neutral, but not free</a:t>
            </a:r>
          </a:p>
        </p:txBody>
      </p:sp>
      <p:graphicFrame>
        <p:nvGraphicFramePr>
          <p:cNvPr id="3" name="Table 2"/>
          <p:cNvGraphicFramePr>
            <a:graphicFrameLocks noGrp="1"/>
          </p:cNvGraphicFramePr>
          <p:nvPr/>
        </p:nvGraphicFramePr>
        <p:xfrm>
          <a:off x="594360" y="1463040"/>
          <a:ext cx="10972798" cy="2194560"/>
        </p:xfrm>
        <a:graphic>
          <a:graphicData uri="http://schemas.openxmlformats.org/drawingml/2006/table">
            <a:tbl>
              <a:tblPr firstRow="1" bandRow="1">
                <a:tableStyleId>{5C22544A-7EE6-4342-B048-85BDC9FD1C3A}</a:tableStyleId>
              </a:tblPr>
              <a:tblGrid>
                <a:gridCol w="2560320"/>
                <a:gridCol w="1463040"/>
                <a:gridCol w="1920240"/>
                <a:gridCol w="1280160"/>
                <a:gridCol w="1874519"/>
                <a:gridCol w="1874519"/>
              </a:tblGrid>
              <a:tr h="365760">
                <a:tc>
                  <a:txBody>
                    <a:bodyPr/>
                    <a:lstStyle/>
                    <a:p>
                      <a:r>
                        <a:rPr sz="1300" b="1">
                          <a:solidFill>
                            <a:srgbClr val="FFFFFF"/>
                          </a:solidFill>
                        </a:rPr>
                        <a:t>Beach</a:t>
                      </a:r>
                    </a:p>
                  </a:txBody>
                  <a:tcPr>
                    <a:solidFill>
                      <a:srgbClr val="1B3A5C"/>
                    </a:solidFill>
                  </a:tcPr>
                </a:tc>
                <a:tc>
                  <a:txBody>
                    <a:bodyPr/>
                    <a:lstStyle/>
                    <a:p>
                      <a:r>
                        <a:rPr sz="1300" b="1">
                          <a:solidFill>
                            <a:srgbClr val="FFFFFF"/>
                          </a:solidFill>
                        </a:rPr>
                        <a:t>Open days</a:t>
                      </a:r>
                    </a:p>
                  </a:txBody>
                  <a:tcPr>
                    <a:solidFill>
                      <a:srgbClr val="1B3A5C"/>
                    </a:solidFill>
                  </a:tcPr>
                </a:tc>
                <a:tc>
                  <a:txBody>
                    <a:bodyPr/>
                    <a:lstStyle/>
                    <a:p>
                      <a:r>
                        <a:rPr sz="1300" b="1">
                          <a:solidFill>
                            <a:srgbClr val="FFFFFF"/>
                          </a:solidFill>
                        </a:rPr>
                        <a:t>Counted now</a:t>
                      </a:r>
                    </a:p>
                  </a:txBody>
                  <a:tcPr>
                    <a:solidFill>
                      <a:srgbClr val="1B3A5C"/>
                    </a:solidFill>
                  </a:tcPr>
                </a:tc>
                <a:tc>
                  <a:txBody>
                    <a:bodyPr/>
                    <a:lstStyle/>
                    <a:p>
                      <a:r>
                        <a:rPr sz="1300" b="1">
                          <a:solidFill>
                            <a:srgbClr val="FFFFFF"/>
                          </a:solidFill>
                        </a:rPr>
                        <a:t>At 45%</a:t>
                      </a:r>
                    </a:p>
                  </a:txBody>
                  <a:tcPr>
                    <a:solidFill>
                      <a:srgbClr val="1B3A5C"/>
                    </a:solidFill>
                  </a:tcPr>
                </a:tc>
                <a:tc>
                  <a:txBody>
                    <a:bodyPr/>
                    <a:lstStyle/>
                    <a:p>
                      <a:r>
                        <a:rPr sz="1300" b="1">
                          <a:solidFill>
                            <a:srgbClr val="FFFFFF"/>
                          </a:solidFill>
                        </a:rPr>
                        <a:t>CV now</a:t>
                      </a:r>
                    </a:p>
                  </a:txBody>
                  <a:tcPr>
                    <a:solidFill>
                      <a:srgbClr val="1B3A5C"/>
                    </a:solidFill>
                  </a:tcPr>
                </a:tc>
                <a:tc>
                  <a:txBody>
                    <a:bodyPr/>
                    <a:lstStyle/>
                    <a:p>
                      <a:r>
                        <a:rPr sz="1300" b="1">
                          <a:solidFill>
                            <a:srgbClr val="FFFFFF"/>
                          </a:solidFill>
                        </a:rPr>
                        <a:t>CV at 45%</a:t>
                      </a:r>
                    </a:p>
                  </a:txBody>
                  <a:tcPr>
                    <a:solidFill>
                      <a:srgbClr val="1B3A5C"/>
                    </a:solidFill>
                  </a:tcPr>
                </a:tc>
              </a:tr>
              <a:tr h="365760">
                <a:tc>
                  <a:txBody>
                    <a:bodyPr/>
                    <a:lstStyle/>
                    <a:p>
                      <a:r>
                        <a:rPr sz="1200"/>
                        <a:t>Copalis</a:t>
                      </a:r>
                    </a:p>
                  </a:txBody>
                  <a:tcPr/>
                </a:tc>
                <a:tc>
                  <a:txBody>
                    <a:bodyPr/>
                    <a:lstStyle/>
                    <a:p>
                      <a:r>
                        <a:rPr sz="1200"/>
                        <a:t>51</a:t>
                      </a:r>
                    </a:p>
                  </a:txBody>
                  <a:tcPr/>
                </a:tc>
                <a:tc>
                  <a:txBody>
                    <a:bodyPr/>
                    <a:lstStyle/>
                    <a:p>
                      <a:r>
                        <a:rPr sz="1200"/>
                        <a:t>51  (100%)</a:t>
                      </a:r>
                    </a:p>
                  </a:txBody>
                  <a:tcPr/>
                </a:tc>
                <a:tc>
                  <a:txBody>
                    <a:bodyPr/>
                    <a:lstStyle/>
                    <a:p>
                      <a:r>
                        <a:rPr sz="1200"/>
                        <a:t>23</a:t>
                      </a:r>
                    </a:p>
                  </a:txBody>
                  <a:tcPr/>
                </a:tc>
                <a:tc>
                  <a:txBody>
                    <a:bodyPr/>
                    <a:lstStyle/>
                    <a:p>
                      <a:r>
                        <a:rPr sz="1200"/>
                        <a:t>0.129</a:t>
                      </a:r>
                    </a:p>
                  </a:txBody>
                  <a:tcPr/>
                </a:tc>
                <a:tc>
                  <a:txBody>
                    <a:bodyPr/>
                    <a:lstStyle/>
                    <a:p>
                      <a:r>
                        <a:rPr sz="1200"/>
                        <a:t>0.192</a:t>
                      </a:r>
                    </a:p>
                  </a:txBody>
                  <a:tcPr/>
                </a:tc>
              </a:tr>
              <a:tr h="365760">
                <a:tc>
                  <a:txBody>
                    <a:bodyPr/>
                    <a:lstStyle/>
                    <a:p>
                      <a:r>
                        <a:rPr sz="1200"/>
                        <a:t>Mocrocks</a:t>
                      </a:r>
                    </a:p>
                  </a:txBody>
                  <a:tcPr/>
                </a:tc>
                <a:tc>
                  <a:txBody>
                    <a:bodyPr/>
                    <a:lstStyle/>
                    <a:p>
                      <a:r>
                        <a:rPr sz="1200"/>
                        <a:t>52</a:t>
                      </a:r>
                    </a:p>
                  </a:txBody>
                  <a:tcPr/>
                </a:tc>
                <a:tc>
                  <a:txBody>
                    <a:bodyPr/>
                    <a:lstStyle/>
                    <a:p>
                      <a:r>
                        <a:rPr sz="1200"/>
                        <a:t>52  (100%)</a:t>
                      </a:r>
                    </a:p>
                  </a:txBody>
                  <a:tcPr/>
                </a:tc>
                <a:tc>
                  <a:txBody>
                    <a:bodyPr/>
                    <a:lstStyle/>
                    <a:p>
                      <a:r>
                        <a:rPr sz="1200"/>
                        <a:t>23</a:t>
                      </a:r>
                    </a:p>
                  </a:txBody>
                  <a:tcPr/>
                </a:tc>
                <a:tc>
                  <a:txBody>
                    <a:bodyPr/>
                    <a:lstStyle/>
                    <a:p>
                      <a:r>
                        <a:rPr sz="1200"/>
                        <a:t>0.099</a:t>
                      </a:r>
                    </a:p>
                  </a:txBody>
                  <a:tcPr/>
                </a:tc>
                <a:tc>
                  <a:txBody>
                    <a:bodyPr/>
                    <a:lstStyle/>
                    <a:p>
                      <a:r>
                        <a:rPr sz="1200"/>
                        <a:t>0.171</a:t>
                      </a:r>
                    </a:p>
                  </a:txBody>
                  <a:tcPr/>
                </a:tc>
              </a:tr>
              <a:tr h="365760">
                <a:tc>
                  <a:txBody>
                    <a:bodyPr/>
                    <a:lstStyle/>
                    <a:p>
                      <a:r>
                        <a:rPr sz="1200"/>
                        <a:t>Twin Harbors</a:t>
                      </a:r>
                    </a:p>
                  </a:txBody>
                  <a:tcPr/>
                </a:tc>
                <a:tc>
                  <a:txBody>
                    <a:bodyPr/>
                    <a:lstStyle/>
                    <a:p>
                      <a:r>
                        <a:rPr sz="1200"/>
                        <a:t>103</a:t>
                      </a:r>
                    </a:p>
                  </a:txBody>
                  <a:tcPr/>
                </a:tc>
                <a:tc>
                  <a:txBody>
                    <a:bodyPr/>
                    <a:lstStyle/>
                    <a:p>
                      <a:r>
                        <a:rPr sz="1200"/>
                        <a:t>52  (50%)</a:t>
                      </a:r>
                    </a:p>
                  </a:txBody>
                  <a:tcPr/>
                </a:tc>
                <a:tc>
                  <a:txBody>
                    <a:bodyPr/>
                    <a:lstStyle/>
                    <a:p>
                      <a:r>
                        <a:rPr sz="1200"/>
                        <a:t>46</a:t>
                      </a:r>
                    </a:p>
                  </a:txBody>
                  <a:tcPr/>
                </a:tc>
                <a:tc>
                  <a:txBody>
                    <a:bodyPr/>
                    <a:lstStyle/>
                    <a:p>
                      <a:r>
                        <a:rPr sz="1200"/>
                        <a:t>0.164</a:t>
                      </a:r>
                    </a:p>
                  </a:txBody>
                  <a:tcPr/>
                </a:tc>
                <a:tc>
                  <a:txBody>
                    <a:bodyPr/>
                    <a:lstStyle/>
                    <a:p>
                      <a:r>
                        <a:rPr sz="1200"/>
                        <a:t>0.164</a:t>
                      </a:r>
                    </a:p>
                  </a:txBody>
                  <a:tcPr/>
                </a:tc>
              </a:tr>
              <a:tr h="365760">
                <a:tc>
                  <a:txBody>
                    <a:bodyPr/>
                    <a:lstStyle/>
                    <a:p>
                      <a:r>
                        <a:rPr sz="1200"/>
                        <a:t>Long Beach</a:t>
                      </a:r>
                    </a:p>
                  </a:txBody>
                  <a:tcPr/>
                </a:tc>
                <a:tc>
                  <a:txBody>
                    <a:bodyPr/>
                    <a:lstStyle/>
                    <a:p>
                      <a:r>
                        <a:rPr sz="1200"/>
                        <a:t>103</a:t>
                      </a:r>
                    </a:p>
                  </a:txBody>
                  <a:tcPr/>
                </a:tc>
                <a:tc>
                  <a:txBody>
                    <a:bodyPr/>
                    <a:lstStyle/>
                    <a:p>
                      <a:r>
                        <a:rPr sz="1200"/>
                        <a:t>9  (9%)</a:t>
                      </a:r>
                    </a:p>
                  </a:txBody>
                  <a:tcPr/>
                </a:tc>
                <a:tc>
                  <a:txBody>
                    <a:bodyPr/>
                    <a:lstStyle/>
                    <a:p>
                      <a:r>
                        <a:rPr sz="1200"/>
                        <a:t>46</a:t>
                      </a:r>
                    </a:p>
                  </a:txBody>
                  <a:tcPr/>
                </a:tc>
                <a:tc>
                  <a:txBody>
                    <a:bodyPr/>
                    <a:lstStyle/>
                    <a:p>
                      <a:r>
                        <a:rPr sz="1200"/>
                        <a:t>0.294</a:t>
                      </a:r>
                    </a:p>
                  </a:txBody>
                  <a:tcPr/>
                </a:tc>
                <a:tc>
                  <a:txBody>
                    <a:bodyPr/>
                    <a:lstStyle/>
                    <a:p>
                      <a:r>
                        <a:rPr sz="1200"/>
                        <a:t>0.175</a:t>
                      </a:r>
                    </a:p>
                  </a:txBody>
                  <a:tcPr/>
                </a:tc>
              </a:tr>
              <a:tr h="365760">
                <a:tc>
                  <a:txBody>
                    <a:bodyPr/>
                    <a:lstStyle/>
                    <a:p>
                      <a:r>
                        <a:rPr sz="1200" b="1"/>
                        <a:t>Total crew-day units</a:t>
                      </a:r>
                    </a:p>
                  </a:txBody>
                  <a:tcPr/>
                </a:tc>
                <a:tc>
                  <a:txBody>
                    <a:bodyPr/>
                    <a:lstStyle/>
                    <a:p/>
                  </a:txBody>
                  <a:tcPr/>
                </a:tc>
                <a:tc>
                  <a:txBody>
                    <a:bodyPr/>
                    <a:lstStyle/>
                    <a:p>
                      <a:r>
                        <a:rPr sz="1200" b="1"/>
                        <a:t>203</a:t>
                      </a:r>
                    </a:p>
                  </a:txBody>
                  <a:tcPr/>
                </a:tc>
                <a:tc>
                  <a:txBody>
                    <a:bodyPr/>
                    <a:lstStyle/>
                    <a:p>
                      <a:r>
                        <a:rPr sz="1200" b="1"/>
                        <a:t>184</a:t>
                      </a:r>
                    </a:p>
                  </a:txBody>
                  <a:tcPr/>
                </a:tc>
                <a:tc>
                  <a:txBody>
                    <a:bodyPr/>
                    <a:lstStyle/>
                    <a:p/>
                  </a:txBody>
                  <a:tcPr/>
                </a:tc>
                <a:tc>
                  <a:txBody>
                    <a:bodyPr/>
                    <a:lstStyle/>
                    <a:p>
                      <a:r>
                        <a:rPr sz="1200" b="1"/>
                        <a:t>-19</a:t>
                      </a:r>
                    </a:p>
                  </a:txBody>
                  <a:tcPr/>
                </a:tc>
              </a:tr>
            </a:tbl>
          </a:graphicData>
        </a:graphic>
      </p:graphicFrame>
      <p:sp>
        <p:nvSpPr>
          <p:cNvPr id="4" name="TextBox 3"/>
          <p:cNvSpPr txBox="1"/>
          <p:nvPr/>
        </p:nvSpPr>
        <p:spPr>
          <a:xfrm>
            <a:off x="594360" y="4206240"/>
            <a:ext cx="10972800" cy="1554480"/>
          </a:xfrm>
          <a:prstGeom prst="rect">
            <a:avLst/>
          </a:prstGeom>
          <a:noFill/>
        </p:spPr>
        <p:txBody>
          <a:bodyPr wrap="square">
            <a:spAutoFit/>
          </a:bodyPr>
          <a:lstStyle/>
          <a:p>
            <a:r>
              <a:rPr sz="1300"/>
              <a:t>Long Beach's series CV falls from 0.294 to 0.175, crossing the design target for the first time; the northern beaches rise but stay inside it. Nineteen crew-day units move south. But those units are not truly free once the donor role is counted (see item 4): read the reallocation as a trade, not a surplus.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in priority order</a:t>
            </a:r>
          </a:p>
        </p:txBody>
      </p:sp>
      <p:sp>
        <p:nvSpPr>
          <p:cNvPr id="3" name="Content Placeholder 2"/>
          <p:cNvSpPr>
            <a:spLocks noGrp="1"/>
          </p:cNvSpPr>
          <p:nvPr>
            <p:ph idx="1"/>
          </p:nvPr>
        </p:nvSpPr>
        <p:spPr/>
        <p:txBody>
          <a:bodyPr wrap="square"/>
          <a:lstStyle/>
          <a:p>
            <a:r>
              <a:rPr b="1" sz="1400"/>
              <a:t>1.  Survey Long Beach first. </a:t>
            </a:r>
            <a:r>
              <a:rPr sz="1400"/>
              <a:t>Run the whole-beach egress pilot, six approaches and about eight staff, with the beach count by segment and a full creel. Start with one survey per tide condition, build toward eight.</a:t>
            </a:r>
          </a:p>
          <a:p>
            <a:r>
              <a:rPr b="1" sz="1400"/>
              <a:t>2.  Keep one full-sample day per tide series at Long Beach and Twin Harbors. </a:t>
            </a:r>
            <a:r>
              <a:rPr sz="1400"/>
              <a:t>A count plus a creel on the largest-effort opener controls the effort lag AND removes the harvest catch-rate floor. This is the cadence to protect first.</a:t>
            </a:r>
          </a:p>
          <a:p>
            <a:r>
              <a:rPr b="1" sz="1400"/>
              <a:t>3.  Hold the southern donor at its co-management floor. </a:t>
            </a:r>
            <a:r>
              <a:rPr sz="1400"/>
              <a:t>Keep one of Copalis or Mocrocks counted every dig day; there is no joint donor and the Quinault's counts are not a state proxy.</a:t>
            </a:r>
          </a:p>
          <a:p>
            <a:r>
              <a:rPr b="1" sz="1400"/>
              <a:t>4.  Do not treat imputation as a free substitute. </a:t>
            </a:r>
            <a:r>
              <a:rPr sz="1400"/>
              <a:t>At full imputation Long Beach uncertainty roughly triples (effort), and the harvest catch-rate floor is removed only by interviewing the target, not by counting the donor.</a:t>
            </a:r>
          </a:p>
          <a:p>
            <a:r>
              <a:rPr b="1" sz="1400"/>
              <a:t>5.  Sample ~45% of open days, largest-effort first, </a:t>
            </a:r>
            <a:r>
              <a:rPr sz="1400"/>
              <a:t>and accept the Copalis floor (a harvest CV of 0.10 is infeasible there at any rate).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6.  Follow-up: the 2027 stock assessment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Toward the 2027 stock assessment</a:t>
            </a:r>
          </a:p>
        </p:txBody>
      </p:sp>
      <p:sp>
        <p:nvSpPr>
          <p:cNvPr id="3" name="Content Placeholder 2"/>
          <p:cNvSpPr>
            <a:spLocks noGrp="1"/>
          </p:cNvSpPr>
          <p:nvPr>
            <p:ph idx="1"/>
          </p:nvPr>
        </p:nvSpPr>
        <p:spPr/>
        <p:txBody>
          <a:bodyPr wrap="square"/>
          <a:lstStyle/>
          <a:p>
            <a:r>
              <a:rPr b="1" sz="1500"/>
              <a:t>Harvest is one input to the assessment. </a:t>
            </a:r>
            <a:r>
              <a:rPr sz="1500"/>
              <a:t>The pumped-area population estimate and the exploitation-rate policy set the TAC that harvest is measured against; a follow-up meeting should connect the two.</a:t>
            </a:r>
          </a:p>
          <a:p>
            <a:r>
              <a:rPr b="1" sz="1500"/>
              <a:t>Carry a defensible uncertainty forward. </a:t>
            </a:r>
            <a:r>
              <a:rPr sz="1500"/>
              <a:t>This review now propagates five of nine error sources; the assessment should inherit the harvest interval, not a point estimate.</a:t>
            </a:r>
          </a:p>
          <a:p>
            <a:r>
              <a:rPr b="1" sz="1500"/>
              <a:t>Decide the survey investment before the season is set, </a:t>
            </a:r>
            <a:r>
              <a:rPr sz="1500"/>
              <a:t>so the Long Beach pilot and the egress refresh can be scheduled into 2026-27 fieldwork.</a:t>
            </a:r>
          </a:p>
          <a:p>
            <a:r>
              <a:rPr b="1" sz="1500"/>
              <a:t>Open questions for the group: </a:t>
            </a:r>
            <a:r>
              <a:rPr sz="1500"/>
              <a:t>survey crewing and timing, the co-management data conversation, and how a reduced budget is allocated across beaches.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Discussion</a:t>
            </a:r>
          </a:p>
        </p:txBody>
      </p:sp>
    </p:spTree>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0E2841"/>
      </a:dk2>
      <a:lt2>
        <a:srgbClr val="E8E8E8"/>
      </a:lt2>
      <a:accent1>
        <a:srgbClr val="007B55"/>
      </a:accent1>
      <a:accent2>
        <a:srgbClr val="0F426B"/>
      </a:accent2>
      <a:accent3>
        <a:srgbClr val="92D2D8"/>
      </a:accent3>
      <a:accent4>
        <a:srgbClr val="FFD12E"/>
      </a:accent4>
      <a:accent5>
        <a:srgbClr val="D1D3D4"/>
      </a:accent5>
      <a:accent6>
        <a:srgbClr val="4EA72E"/>
      </a:accent6>
      <a:hlink>
        <a:srgbClr val="009D7D"/>
      </a:hlink>
      <a:folHlink>
        <a:srgbClr val="7286A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3DF6C379CEE474091FA722A741F562C" ma:contentTypeVersion="18" ma:contentTypeDescription="Create a new document." ma:contentTypeScope="" ma:versionID="6d943700fdf77bec9a4960ab6af060cd">
  <xsd:schema xmlns:xsd="http://www.w3.org/2001/XMLSchema" xmlns:xs="http://www.w3.org/2001/XMLSchema" xmlns:p="http://schemas.microsoft.com/office/2006/metadata/properties" xmlns:ns1="http://schemas.microsoft.com/sharepoint/v3" xmlns:ns2="c55fcec3-bb2d-4ee6-a56c-bdfd532525fc" xmlns:ns3="73c3c465-f3d4-4d37-9c58-e2ee535ad8e0" targetNamespace="http://schemas.microsoft.com/office/2006/metadata/properties" ma:root="true" ma:fieldsID="f5f2cddc585f7bcfd68998bfccb1991a" ns1:_="" ns2:_="" ns3:_="">
    <xsd:import namespace="http://schemas.microsoft.com/sharepoint/v3"/>
    <xsd:import namespace="c55fcec3-bb2d-4ee6-a56c-bdfd532525fc"/>
    <xsd:import namespace="73c3c465-f3d4-4d37-9c58-e2ee535ad8e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1:_ip_UnifiedCompliancePolicyProperties" minOccurs="0"/>
                <xsd:element ref="ns1:_ip_UnifiedCompliancePolicyUIActio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MediaServiceObjectDetectorVersions" minOccurs="0"/>
                <xsd:element ref="ns2:MediaServiceSearchProperties" minOccurs="0"/>
                <xsd:element ref="ns2:NameinDAM"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55fcec3-bb2d-4ee6-a56c-bdfd532525f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360a6a1c-50a4-4ec0-87e3-f00760ffe76b"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NameinDAM" ma:index="25" nillable="true" ma:displayName="Name in DAM" ma:format="Dropdown" ma:internalName="NameinDAM">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3c3c465-f3d4-4d37-9c58-e2ee535ad8e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1c90470e-89a5-48c8-b2d6-7cca2721473a}" ma:internalName="TaxCatchAll" ma:showField="CatchAllData" ma:web="73c3c465-f3d4-4d37-9c58-e2ee535ad8e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c55fcec3-bb2d-4ee6-a56c-bdfd532525fc">
      <Terms xmlns="http://schemas.microsoft.com/office/infopath/2007/PartnerControls"/>
    </lcf76f155ced4ddcb4097134ff3c332f>
    <TaxCatchAll xmlns="73c3c465-f3d4-4d37-9c58-e2ee535ad8e0" xsi:nil="true"/>
    <NameinDAM xmlns="c55fcec3-bb2d-4ee6-a56c-bdfd532525f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36337B2-684D-4381-98D1-02BFB399796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c55fcec3-bb2d-4ee6-a56c-bdfd532525fc"/>
    <ds:schemaRef ds:uri="73c3c465-f3d4-4d37-9c58-e2ee535ad8e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432BB05-EAC0-435E-80C7-C3FC0DCFDF5B}">
  <ds:schemaRefs>
    <ds:schemaRef ds:uri="http://www.w3.org/XML/1998/namespace"/>
    <ds:schemaRef ds:uri="73c3c465-f3d4-4d37-9c58-e2ee535ad8e0"/>
    <ds:schemaRef ds:uri="http://schemas.microsoft.com/sharepoint/v3"/>
    <ds:schemaRef ds:uri="http://schemas.microsoft.com/office/2006/documentManagement/types"/>
    <ds:schemaRef ds:uri="http://purl.org/dc/elements/1.1/"/>
    <ds:schemaRef ds:uri="http://schemas.microsoft.com/office/infopath/2007/PartnerControls"/>
    <ds:schemaRef ds:uri="c55fcec3-bb2d-4ee6-a56c-bdfd532525fc"/>
    <ds:schemaRef ds:uri="http://schemas.openxmlformats.org/package/2006/metadata/core-properties"/>
    <ds:schemaRef ds:uri="http://schemas.microsoft.com/office/2006/metadata/properties"/>
    <ds:schemaRef ds:uri="http://purl.org/dc/dcmitype/"/>
    <ds:schemaRef ds:uri="http://purl.org/dc/terms/"/>
  </ds:schemaRefs>
</ds:datastoreItem>
</file>

<file path=customXml/itemProps3.xml><?xml version="1.0" encoding="utf-8"?>
<ds:datastoreItem xmlns:ds="http://schemas.openxmlformats.org/officeDocument/2006/customXml" ds:itemID="{01EA9719-73E1-4AAC-90C2-9E9ED399E0F4}">
  <ds:schemaRefs>
    <ds:schemaRef ds:uri="http://schemas.microsoft.com/sharepoint/v3/contenttype/forms"/>
  </ds:schemaRefs>
</ds:datastoreItem>
</file>

<file path=docMetadata/LabelInfo.xml><?xml version="1.0" encoding="utf-8"?>
<clbl:labelList xmlns:clbl="http://schemas.microsoft.com/office/2020/mipLabelMetadata">
  <clbl:label id="{45011977-b912-4387-97a4-f4c94a801377}" enabled="1" method="Standard" siteId="{11d0e217-264e-400a-8ba0-57dcc127d72d}" removed="0"/>
</clbl:labelList>
</file>

<file path=docProps/app.xml><?xml version="1.0" encoding="utf-8"?>
<Properties xmlns="http://schemas.openxmlformats.org/officeDocument/2006/extended-properties" xmlns:vt="http://schemas.openxmlformats.org/officeDocument/2006/docPropsVTypes">
  <TotalTime>1742</TotalTime>
  <Words>483</Words>
  <Application>Microsoft Office PowerPoint</Application>
  <PresentationFormat>Widescreen</PresentationFormat>
  <Paragraphs>81</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Calibri</vt:lpstr>
      <vt:lpstr>Segoe UI</vt:lpstr>
      <vt:lpstr>Office Theme</vt:lpstr>
      <vt:lpstr>Presentation title  Note: this PowerPoint template utilizes a wide template size to accommodate modern screen/monitor sizes. Standard size slides are no longer available.</vt:lpstr>
      <vt:lpstr>Transition slide title</vt:lpstr>
      <vt:lpstr>Content slide title</vt:lpstr>
      <vt:lpstr>Two column slide title</vt:lpstr>
      <vt:lpstr>Content with one image or figure slide title</vt:lpstr>
      <vt:lpstr>Content with two images or figures slide title</vt:lpstr>
      <vt:lpstr>Content with three images or figures slide title</vt:lpstr>
      <vt:lpstr>Content with four images or figures slide title</vt:lpstr>
      <vt:lpstr>Image or figure only slide title</vt:lpstr>
      <vt:lpstr>Table guidance</vt:lpstr>
      <vt:lpstr>Sample table</vt:lpstr>
      <vt:lpstr>Figure guidance</vt:lpstr>
      <vt:lpstr>Sample figures</vt:lpstr>
      <vt:lpstr>Questions?   Contact your Communications Manager for help and review of your PowerPoint.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Washington Department of Fish and Wildlife</dc:creator>
  <cp:lastModifiedBy>Lazaras, Kate E (DFW)</cp:lastModifiedBy>
  <cp:revision>14</cp:revision>
  <dcterms:created xsi:type="dcterms:W3CDTF">2024-02-02T23:28:24Z</dcterms:created>
  <dcterms:modified xsi:type="dcterms:W3CDTF">2026-03-12T20:11:28Z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5011977-b912-4387-97a4-f4c94a801377_Enabled">
    <vt:lpwstr>true</vt:lpwstr>
  </property>
  <property fmtid="{D5CDD505-2E9C-101B-9397-08002B2CF9AE}" pid="3" name="MSIP_Label_45011977-b912-4387-97a4-f4c94a801377_SetDate">
    <vt:lpwstr>2024-02-03T00:07:05Z</vt:lpwstr>
  </property>
  <property fmtid="{D5CDD505-2E9C-101B-9397-08002B2CF9AE}" pid="4" name="MSIP_Label_45011977-b912-4387-97a4-f4c94a801377_Method">
    <vt:lpwstr>Standard</vt:lpwstr>
  </property>
  <property fmtid="{D5CDD505-2E9C-101B-9397-08002B2CF9AE}" pid="5" name="MSIP_Label_45011977-b912-4387-97a4-f4c94a801377_Name">
    <vt:lpwstr>Uncategorized Data</vt:lpwstr>
  </property>
  <property fmtid="{D5CDD505-2E9C-101B-9397-08002B2CF9AE}" pid="6" name="MSIP_Label_45011977-b912-4387-97a4-f4c94a801377_SiteId">
    <vt:lpwstr>11d0e217-264e-400a-8ba0-57dcc127d72d</vt:lpwstr>
  </property>
  <property fmtid="{D5CDD505-2E9C-101B-9397-08002B2CF9AE}" pid="7" name="MSIP_Label_45011977-b912-4387-97a4-f4c94a801377_ActionId">
    <vt:lpwstr>2dc8ed1d-0dbc-44fc-8405-9fa39dbf00ba</vt:lpwstr>
  </property>
  <property fmtid="{D5CDD505-2E9C-101B-9397-08002B2CF9AE}" pid="8" name="MSIP_Label_45011977-b912-4387-97a4-f4c94a801377_ContentBits">
    <vt:lpwstr>0</vt:lpwstr>
  </property>
  <property fmtid="{D5CDD505-2E9C-101B-9397-08002B2CF9AE}" pid="9" name="ContentTypeId">
    <vt:lpwstr>0x01010053DF6C379CEE474091FA722A741F562C</vt:lpwstr>
  </property>
  <property fmtid="{D5CDD505-2E9C-101B-9397-08002B2CF9AE}" pid="10" name="MediaServiceImageTags">
    <vt:lpwstr/>
  </property>
</Properties>
</file>