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5"/>
  </p:notesMasterIdLst>
  <p:handoutMasterIdLst>
    <p:handoutMasterId r:id="rId26"/>
  </p:handout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07EB4D7-25B6-6B85-9290-F95130246F2E}" name="Couch, Eryn (DFW)" initials="C(" userId="S::eryn.couch@dfw.wa.gov::6628dc54-d9a5-4187-8a46-71485c065632" providerId="AD"/>
  <p188:author id="{DCBB07DC-9E44-AA92-C39B-18FE8A26D185}" name="Hart, Alison L (DFW)" initials="AH" userId="Hart, Alison L (DFW)" providerId="None"/>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0F426B"/>
    <a:srgbClr val="92D2D8"/>
    <a:srgbClr val="007B55"/>
    <a:srgbClr val="F15D44"/>
    <a:srgbClr val="5A594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107" d="100"/>
          <a:sy n="107" d="100"/>
        </p:scale>
        <p:origin x="672" y="102"/>
      </p:cViewPr>
      <p:guideLst/>
    </p:cSldViewPr>
  </p:slideViewPr>
  <p:notesTextViewPr>
    <p:cViewPr>
      <p:scale>
        <a:sx n="1" d="1"/>
        <a:sy n="1" d="1"/>
      </p:scale>
      <p:origin x="0" y="0"/>
    </p:cViewPr>
  </p:notesTextViewPr>
  <p:notesViewPr>
    <p:cSldViewPr snapToGrid="0">
      <p:cViewPr varScale="1">
        <p:scale>
          <a:sx n="85" d="100"/>
          <a:sy n="85" d="100"/>
        </p:scale>
        <p:origin x="3888" y="9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microsoft.com/office/2018/10/relationships/authors" Target="author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31" Type="http://schemas.microsoft.com/office/2016/11/relationships/changesInfo" Target="changesInfos/changesInfo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eorge, Matthew (DFW)" userId="8ba433ef-8e18-4348-89a6-fb3bb26ec9f1" providerId="ADAL" clId="{11FC2F9B-6E6E-4645-819B-98A64F5AF5DA}"/>
    <pc:docChg chg="modSld">
      <pc:chgData name="George, Matthew (DFW)" userId="8ba433ef-8e18-4348-89a6-fb3bb26ec9f1" providerId="ADAL" clId="{11FC2F9B-6E6E-4645-819B-98A64F5AF5DA}" dt="2026-07-13T19:26:03.258" v="1" actId="14100"/>
      <pc:docMkLst>
        <pc:docMk/>
      </pc:docMkLst>
      <pc:sldChg chg="modSp mod">
        <pc:chgData name="George, Matthew (DFW)" userId="8ba433ef-8e18-4348-89a6-fb3bb26ec9f1" providerId="ADAL" clId="{11FC2F9B-6E6E-4645-819B-98A64F5AF5DA}" dt="2026-07-13T19:21:27.189" v="0" actId="404"/>
        <pc:sldMkLst>
          <pc:docMk/>
          <pc:sldMk cId="0" sldId="264"/>
        </pc:sldMkLst>
        <pc:spChg chg="mod">
          <ac:chgData name="George, Matthew (DFW)" userId="8ba433ef-8e18-4348-89a6-fb3bb26ec9f1" providerId="ADAL" clId="{11FC2F9B-6E6E-4645-819B-98A64F5AF5DA}" dt="2026-07-13T19:21:27.189" v="0" actId="404"/>
          <ac:spMkLst>
            <pc:docMk/>
            <pc:sldMk cId="0" sldId="264"/>
            <ac:spMk id="3" creationId="{00000000-0000-0000-0000-000000000000}"/>
          </ac:spMkLst>
        </pc:spChg>
      </pc:sldChg>
      <pc:sldChg chg="modSp mod">
        <pc:chgData name="George, Matthew (DFW)" userId="8ba433ef-8e18-4348-89a6-fb3bb26ec9f1" providerId="ADAL" clId="{11FC2F9B-6E6E-4645-819B-98A64F5AF5DA}" dt="2026-07-13T19:26:03.258" v="1" actId="14100"/>
        <pc:sldMkLst>
          <pc:docMk/>
          <pc:sldMk cId="0" sldId="273"/>
        </pc:sldMkLst>
        <pc:spChg chg="mod">
          <ac:chgData name="George, Matthew (DFW)" userId="8ba433ef-8e18-4348-89a6-fb3bb26ec9f1" providerId="ADAL" clId="{11FC2F9B-6E6E-4645-819B-98A64F5AF5DA}" dt="2026-07-13T19:26:03.258" v="1" actId="14100"/>
          <ac:spMkLst>
            <pc:docMk/>
            <pc:sldMk cId="0" sldId="273"/>
            <ac:spMk id="3"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D709FEE8-815C-9F09-84E1-59C2DBCAC01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C3208CE1-7C1C-D566-D628-3E61F2FFFEA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AA1D058-9860-4C37-9D21-AC6EFE975A47}" type="datetimeFigureOut">
              <a:rPr lang="en-US" smtClean="0"/>
              <a:t>7/13/2026</a:t>
            </a:fld>
            <a:endParaRPr lang="en-US"/>
          </a:p>
        </p:txBody>
      </p:sp>
      <p:sp>
        <p:nvSpPr>
          <p:cNvPr id="4" name="Footer Placeholder 3">
            <a:extLst>
              <a:ext uri="{FF2B5EF4-FFF2-40B4-BE49-F238E27FC236}">
                <a16:creationId xmlns:a16="http://schemas.microsoft.com/office/drawing/2014/main" id="{6A63D8D6-66E1-4233-947C-6DCAC9382402}"/>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61F51885-49A3-9397-8220-7D6CCC81D7BF}"/>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76BAD10-440F-40BF-A94A-4B961E111E2E}" type="slidenum">
              <a:rPr lang="en-US" smtClean="0"/>
              <a:t>‹#›</a:t>
            </a:fld>
            <a:endParaRPr lang="en-US"/>
          </a:p>
        </p:txBody>
      </p:sp>
    </p:spTree>
    <p:extLst>
      <p:ext uri="{BB962C8B-B14F-4D97-AF65-F5344CB8AC3E}">
        <p14:creationId xmlns:p14="http://schemas.microsoft.com/office/powerpoint/2010/main" val="201305022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328365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Goal: present the Section 11 sampling-design result, framed by the error budget (Sec 10) and the history (Sec 6), plus survey recommendations and the Copalis/Mocrocks donor question under co-management.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 up the decision. The standard is external because WDFW has none for this fishery.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 6.2-6.3. The instrument itself changed, which propagates into the imputation ratios.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 10.1 / Table 14. Key reframing: magnitude is not what matters, correlation is.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 10.2 / Tables 15-16. Foreshadows the donor question: the southern beaches are the donors.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 11.2 / Table 19. The headline answer.</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 11.3 / Table 20.</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 11.4 / Table 21. Only surveys move the floor.</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 11.5 / Table 22. Cost-neutral. But see the donor caveat next.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 10.3 / Table 4. Priority: TH evening (2 surveys), LB evening &amp; daylight, TH daylight.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 11.6-11.7 + revised Fig 15. Correction: the Quinault alternate-day fishery is NOT a state proxy, so there is no offsetting data-share. The cost of thinning the donor is real and unoffset. This is why the recommendation is to hold the donor at its co-management floor and fund Long Beach from the pilot instead.</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Sources: INGRESSPLAN98.docx (method, one counter per approach); consolidated IE inventory (Long Beach surveys were Oysterville-north-only or Seaview-south-only, never whole-beach); wdfw02656.pdf (7-section effort structure; the six drivable approaches are Seaview, Long Beach/Bolstad, Cranberry, Klipsan, Ocean Park, Oysterville).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crews, not one, because Long Beach is far longer than Twin Harbors or Mocrocks and carries several thousand diggers on a good day. The paired northern survey is the explicit test of the imputation the whole program leans on.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 10.3 / new Fig 16. The pilot is not one survey but the start of a rebuilt table; and because it is whole-beach it fixes the within-beach section allocation that partial surveys leave imputed.</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Reordered after the Quinault correction. #1 (the pilot) and #2 (hold the donor floor) are the highest-leverage moves. #4 replaces the old 'condition the pullback on tribal data-sharing', which was wrong: there is no tribal offset.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29B20E8-EE02-1820-5544-18085A336327}"/>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userDrawn="1"/>
        </p:nvSpPr>
        <p:spPr>
          <a:xfrm>
            <a:off x="0" y="0"/>
            <a:ext cx="12192000" cy="3429000"/>
          </a:xfrm>
          <a:prstGeom prst="rect">
            <a:avLst/>
          </a:prstGeom>
          <a:solidFill>
            <a:srgbClr val="0F426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solidFill>
                <a:srgbClr val="007A53"/>
              </a:solidFill>
            </a:endParaRPr>
          </a:p>
        </p:txBody>
      </p:sp>
      <p:sp>
        <p:nvSpPr>
          <p:cNvPr id="8" name="Title 1">
            <a:extLst>
              <a:ext uri="{FF2B5EF4-FFF2-40B4-BE49-F238E27FC236}">
                <a16:creationId xmlns:a16="http://schemas.microsoft.com/office/drawing/2014/main" id="{6BC7EB52-0C9C-F1C6-B091-BF55222372B7}"/>
              </a:ext>
            </a:extLst>
          </p:cNvPr>
          <p:cNvSpPr>
            <a:spLocks noGrp="1"/>
          </p:cNvSpPr>
          <p:nvPr>
            <p:ph type="title" hasCustomPrompt="1"/>
          </p:nvPr>
        </p:nvSpPr>
        <p:spPr>
          <a:xfrm>
            <a:off x="508000" y="1143000"/>
            <a:ext cx="11176000" cy="1143000"/>
          </a:xfrm>
        </p:spPr>
        <p:txBody>
          <a:bodyPr>
            <a:normAutofit/>
          </a:bodyPr>
          <a:lstStyle>
            <a:lvl1pPr>
              <a:defRPr sz="4200" b="1" baseline="0">
                <a:solidFill>
                  <a:schemeClr val="bg1"/>
                </a:solidFill>
                <a:latin typeface="Segoe UI" panose="020B0502040204020203" pitchFamily="34" charset="0"/>
                <a:cs typeface="Segoe UI" panose="020B0502040204020203" pitchFamily="34" charset="0"/>
              </a:defRPr>
            </a:lvl1pPr>
          </a:lstStyle>
          <a:p>
            <a:r>
              <a:rPr lang="en-US" dirty="0"/>
              <a:t>Master title style</a:t>
            </a:r>
          </a:p>
        </p:txBody>
      </p:sp>
      <p:sp>
        <p:nvSpPr>
          <p:cNvPr id="2" name="Content Placeholder 2">
            <a:extLst>
              <a:ext uri="{FF2B5EF4-FFF2-40B4-BE49-F238E27FC236}">
                <a16:creationId xmlns:a16="http://schemas.microsoft.com/office/drawing/2014/main" id="{5A35CD5F-D907-C543-D46B-BA1D02F01831}"/>
              </a:ext>
            </a:extLst>
          </p:cNvPr>
          <p:cNvSpPr>
            <a:spLocks noGrp="1"/>
          </p:cNvSpPr>
          <p:nvPr>
            <p:ph sz="half" idx="1" hasCustomPrompt="1"/>
          </p:nvPr>
        </p:nvSpPr>
        <p:spPr>
          <a:xfrm>
            <a:off x="2180065" y="3645260"/>
            <a:ext cx="7831869" cy="1551490"/>
          </a:xfrm>
        </p:spPr>
        <p:txBody>
          <a:bodyPr>
            <a:normAutofit/>
          </a:bodyPr>
          <a:lstStyle>
            <a:lvl1pPr algn="ctr">
              <a:defRPr sz="2800">
                <a:solidFill>
                  <a:srgbClr val="5A594D"/>
                </a:solidFill>
              </a:defRPr>
            </a:lvl1pPr>
            <a:lvl2pPr>
              <a:defRPr sz="2800"/>
            </a:lvl2pPr>
            <a:lvl3pPr>
              <a:defRPr sz="2400"/>
            </a:lvl3pPr>
            <a:lvl4pPr>
              <a:defRPr sz="2000"/>
            </a:lvl4pPr>
            <a:lvl5pPr>
              <a:defRPr sz="2000"/>
            </a:lvl5pPr>
          </a:lstStyle>
          <a:p>
            <a:pPr lvl="0"/>
            <a:r>
              <a:rPr lang="en-US" dirty="0"/>
              <a:t>Speaker Name</a:t>
            </a:r>
          </a:p>
          <a:p>
            <a:pPr lvl="0"/>
            <a:r>
              <a:rPr lang="en-US" dirty="0"/>
              <a:t>Title, Program Name</a:t>
            </a:r>
          </a:p>
          <a:p>
            <a:pPr lvl="0"/>
            <a:r>
              <a:rPr lang="en-US" dirty="0"/>
              <a:t>Date</a:t>
            </a:r>
          </a:p>
        </p:txBody>
      </p:sp>
      <p:pic>
        <p:nvPicPr>
          <p:cNvPr id="10" name="Picture 8">
            <a:extLst>
              <a:ext uri="{FF2B5EF4-FFF2-40B4-BE49-F238E27FC236}">
                <a16:creationId xmlns:a16="http://schemas.microsoft.com/office/drawing/2014/main" id="{0DCAE3D6-58BB-7007-2D20-F621752710BE}"/>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p:blipFill>
        <p:spPr>
          <a:xfrm>
            <a:off x="5023353" y="5314966"/>
            <a:ext cx="2145293" cy="1199670"/>
          </a:xfrm>
          <a:prstGeom prst="rect">
            <a:avLst/>
          </a:prstGeom>
        </p:spPr>
      </p:pic>
      <p:sp>
        <p:nvSpPr>
          <p:cNvPr id="9" name="Rectangle 8">
            <a:extLst>
              <a:ext uri="{FF2B5EF4-FFF2-40B4-BE49-F238E27FC236}">
                <a16:creationId xmlns:a16="http://schemas.microsoft.com/office/drawing/2014/main" id="{D2BDC616-847B-BDDA-D087-1397910DA645}"/>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userDrawn="1"/>
        </p:nvSpPr>
        <p:spPr>
          <a:xfrm>
            <a:off x="0" y="3429000"/>
            <a:ext cx="12192000" cy="76200"/>
          </a:xfrm>
          <a:prstGeom prst="rect">
            <a:avLst/>
          </a:prstGeom>
          <a:solidFill>
            <a:srgbClr val="92D2D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Tree>
    <p:extLst>
      <p:ext uri="{BB962C8B-B14F-4D97-AF65-F5344CB8AC3E}">
        <p14:creationId xmlns:p14="http://schemas.microsoft.com/office/powerpoint/2010/main" val="33650280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4731443-4BAF-A624-C348-6ABCE5F5E791}"/>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userDrawn="1"/>
        </p:nvSpPr>
        <p:spPr>
          <a:xfrm>
            <a:off x="0" y="2057400"/>
            <a:ext cx="12192000" cy="2743200"/>
          </a:xfrm>
          <a:prstGeom prst="rect">
            <a:avLst/>
          </a:prstGeom>
          <a:solidFill>
            <a:srgbClr val="0F426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itle 1">
            <a:extLst>
              <a:ext uri="{FF2B5EF4-FFF2-40B4-BE49-F238E27FC236}">
                <a16:creationId xmlns:a16="http://schemas.microsoft.com/office/drawing/2014/main" id="{BDAEBB8A-5F07-AAF3-2E74-B640CE9A3DF6}"/>
              </a:ext>
              <a:ext uri="{C183D7F6-B498-43B3-948B-1728B52AA6E4}">
                <adec:decorative xmlns:adec="http://schemas.microsoft.com/office/drawing/2017/decorative" val="0"/>
              </a:ext>
            </a:extLst>
          </p:cNvPr>
          <p:cNvSpPr>
            <a:spLocks noGrp="1"/>
          </p:cNvSpPr>
          <p:nvPr>
            <p:ph type="ctrTitle" hasCustomPrompt="1"/>
          </p:nvPr>
        </p:nvSpPr>
        <p:spPr>
          <a:xfrm>
            <a:off x="2844800" y="2667000"/>
            <a:ext cx="8534400" cy="1371600"/>
          </a:xfrm>
        </p:spPr>
        <p:txBody>
          <a:bodyPr>
            <a:normAutofit/>
          </a:bodyPr>
          <a:lstStyle>
            <a:lvl1pPr algn="l">
              <a:defRPr sz="4000" b="1">
                <a:solidFill>
                  <a:schemeClr val="bg1"/>
                </a:solidFill>
                <a:latin typeface="Segoe UI" panose="020B0502040204020203" pitchFamily="34" charset="0"/>
                <a:ea typeface="Roboto Slab" pitchFamily="2" charset="0"/>
                <a:cs typeface="Segoe UI" panose="020B0502040204020203" pitchFamily="34" charset="0"/>
              </a:defRPr>
            </a:lvl1pPr>
          </a:lstStyle>
          <a:p>
            <a:r>
              <a:rPr lang="en-US" dirty="0"/>
              <a:t>Master title style</a:t>
            </a:r>
          </a:p>
        </p:txBody>
      </p:sp>
      <p:pic>
        <p:nvPicPr>
          <p:cNvPr id="9" name="Picture 8">
            <a:extLst>
              <a:ext uri="{FF2B5EF4-FFF2-40B4-BE49-F238E27FC236}">
                <a16:creationId xmlns:a16="http://schemas.microsoft.com/office/drawing/2014/main" id="{915BFBA1-44DB-AF22-0306-2F799446F60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userDrawn="1"/>
        </p:nvPicPr>
        <p:blipFill>
          <a:blip r:embed="rId2" cstate="print">
            <a:extLst>
              <a:ext uri="{28A0092B-C50C-407E-A947-70E740481C1C}">
                <a14:useLocalDpi xmlns:a14="http://schemas.microsoft.com/office/drawing/2010/main" val="0"/>
              </a:ext>
            </a:extLst>
          </a:blip>
          <a:srcRect/>
          <a:stretch/>
        </p:blipFill>
        <p:spPr>
          <a:xfrm>
            <a:off x="813594" y="2543175"/>
            <a:ext cx="1281906" cy="1619250"/>
          </a:xfrm>
          <a:prstGeom prst="rect">
            <a:avLst/>
          </a:prstGeom>
        </p:spPr>
      </p:pic>
      <p:sp>
        <p:nvSpPr>
          <p:cNvPr id="10" name="TextBox 9">
            <a:extLst>
              <a:ext uri="{FF2B5EF4-FFF2-40B4-BE49-F238E27FC236}">
                <a16:creationId xmlns:a16="http://schemas.microsoft.com/office/drawing/2014/main" id="{AEBE36C2-37B7-77C8-A2C8-8CEB14566916}"/>
              </a:ext>
              <a:ext uri="{C183D7F6-B498-43B3-948B-1728B52AA6E4}">
                <adec:decorative xmlns:adec="http://schemas.microsoft.com/office/drawing/2017/decorative" val="0"/>
              </a:ext>
            </a:extLst>
          </p:cNvPr>
          <p:cNvSpPr txBox="1">
            <a:spLocks noGrp="1" noRot="1" noMove="1" noResize="1" noEditPoints="1" noAdjustHandles="1" noChangeArrowheads="1" noChangeShapeType="1"/>
          </p:cNvSpPr>
          <p:nvPr userDrawn="1"/>
        </p:nvSpPr>
        <p:spPr>
          <a:xfrm>
            <a:off x="11010900" y="6426279"/>
            <a:ext cx="711200" cy="261610"/>
          </a:xfrm>
          <a:prstGeom prst="rect">
            <a:avLst/>
          </a:prstGeom>
          <a:noFill/>
        </p:spPr>
        <p:txBody>
          <a:bodyPr wrap="square" rtlCol="0">
            <a:spAutoFit/>
          </a:bodyPr>
          <a:lstStyle/>
          <a:p>
            <a:pPr algn="r"/>
            <a:fld id="{A44CF46E-C689-44F1-B86A-2F369AF73809}" type="slidenum">
              <a:rPr lang="en-US" sz="1100" b="1" smtClean="0">
                <a:solidFill>
                  <a:srgbClr val="5A594D"/>
                </a:solidFill>
                <a:latin typeface="Calibri" panose="020F0502020204030204" pitchFamily="34" charset="0"/>
                <a:ea typeface="Roboto Slab" pitchFamily="2" charset="0"/>
                <a:cs typeface="Calibri" panose="020F0502020204030204" pitchFamily="34" charset="0"/>
              </a:rPr>
              <a:t>‹#›</a:t>
            </a:fld>
            <a:endParaRPr lang="en-US" sz="1100" b="1" dirty="0">
              <a:solidFill>
                <a:srgbClr val="5A594D"/>
              </a:solidFill>
              <a:latin typeface="Calibri" panose="020F0502020204030204" pitchFamily="34" charset="0"/>
              <a:ea typeface="Roboto Slab" pitchFamily="2" charset="0"/>
              <a:cs typeface="Calibri" panose="020F0502020204030204" pitchFamily="34" charset="0"/>
            </a:endParaRPr>
          </a:p>
        </p:txBody>
      </p:sp>
    </p:spTree>
    <p:extLst>
      <p:ext uri="{BB962C8B-B14F-4D97-AF65-F5344CB8AC3E}">
        <p14:creationId xmlns:p14="http://schemas.microsoft.com/office/powerpoint/2010/main" val="20610813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Slide">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5D687948-4D2F-57CF-C228-5BD687C99F52}"/>
              </a:ext>
              <a:ext uri="{C183D7F6-B498-43B3-948B-1728B52AA6E4}">
                <adec:decorative xmlns:adec="http://schemas.microsoft.com/office/drawing/2017/decorative" val="1"/>
              </a:ext>
            </a:extLst>
          </p:cNvPr>
          <p:cNvGrpSpPr>
            <a:grpSpLocks noGrp="1" noUngrp="1" noRot="1" noMove="1" noResize="1"/>
          </p:cNvGrpSpPr>
          <p:nvPr userDrawn="1"/>
        </p:nvGrpSpPr>
        <p:grpSpPr>
          <a:xfrm>
            <a:off x="0" y="6172200"/>
            <a:ext cx="12192000" cy="685801"/>
            <a:chOff x="0" y="6423843"/>
            <a:chExt cx="9144000" cy="434157"/>
          </a:xfrm>
        </p:grpSpPr>
        <p:sp>
          <p:nvSpPr>
            <p:cNvPr id="8" name="Rectangle 7">
              <a:extLst>
                <a:ext uri="{FF2B5EF4-FFF2-40B4-BE49-F238E27FC236}">
                  <a16:creationId xmlns:a16="http://schemas.microsoft.com/office/drawing/2014/main" id="{5E09C125-C78B-1E7C-9B80-02C0025D15EE}"/>
                </a:ext>
              </a:extLst>
            </p:cNvPr>
            <p:cNvSpPr>
              <a:spLocks noGrp="1" noRot="1" noMove="1" noResize="1" noEditPoints="1" noAdjustHandles="1" noChangeArrowheads="1" noChangeShapeType="1"/>
            </p:cNvSpPr>
            <p:nvPr userDrawn="1"/>
          </p:nvSpPr>
          <p:spPr>
            <a:xfrm>
              <a:off x="0" y="6477000"/>
              <a:ext cx="9144000" cy="381000"/>
            </a:xfrm>
            <a:prstGeom prst="rect">
              <a:avLst/>
            </a:prstGeom>
            <a:solidFill>
              <a:srgbClr val="0F426B"/>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solidFill>
                  <a:prstClr val="white"/>
                </a:solidFill>
              </a:endParaRPr>
            </a:p>
          </p:txBody>
        </p:sp>
        <p:sp>
          <p:nvSpPr>
            <p:cNvPr id="9" name="Rectangle 8">
              <a:extLst>
                <a:ext uri="{FF2B5EF4-FFF2-40B4-BE49-F238E27FC236}">
                  <a16:creationId xmlns:a16="http://schemas.microsoft.com/office/drawing/2014/main" id="{112519E8-CEBF-D73C-75F5-F992DC2B96EE}"/>
                </a:ext>
              </a:extLst>
            </p:cNvPr>
            <p:cNvSpPr>
              <a:spLocks noGrp="1" noRot="1" noMove="1" noResize="1" noEditPoints="1" noAdjustHandles="1" noChangeArrowheads="1" noChangeShapeType="1"/>
            </p:cNvSpPr>
            <p:nvPr userDrawn="1"/>
          </p:nvSpPr>
          <p:spPr>
            <a:xfrm>
              <a:off x="0" y="6423843"/>
              <a:ext cx="9144000" cy="53157"/>
            </a:xfrm>
            <a:prstGeom prst="rect">
              <a:avLst/>
            </a:prstGeom>
            <a:solidFill>
              <a:srgbClr val="92D2D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grpSp>
      <p:sp>
        <p:nvSpPr>
          <p:cNvPr id="10" name="Title 1">
            <a:extLst>
              <a:ext uri="{FF2B5EF4-FFF2-40B4-BE49-F238E27FC236}">
                <a16:creationId xmlns:a16="http://schemas.microsoft.com/office/drawing/2014/main" id="{FEE575BB-B8AD-3961-7DC1-7A99C084FD64}"/>
              </a:ext>
            </a:extLst>
          </p:cNvPr>
          <p:cNvSpPr>
            <a:spLocks noGrp="1"/>
          </p:cNvSpPr>
          <p:nvPr>
            <p:ph type="title" hasCustomPrompt="1"/>
          </p:nvPr>
        </p:nvSpPr>
        <p:spPr>
          <a:xfrm>
            <a:off x="593213" y="274638"/>
            <a:ext cx="10989187" cy="868362"/>
          </a:xfrm>
        </p:spPr>
        <p:txBody>
          <a:bodyPr/>
          <a:lstStyle>
            <a:lvl1pPr algn="l">
              <a:defRPr>
                <a:solidFill>
                  <a:srgbClr val="007B55"/>
                </a:solidFill>
                <a:latin typeface="Segoe UI" panose="020B0502040204020203" pitchFamily="34" charset="0"/>
                <a:ea typeface="Roboto Slab" pitchFamily="2" charset="0"/>
                <a:cs typeface="Segoe UI" panose="020B0502040204020203" pitchFamily="34" charset="0"/>
              </a:defRPr>
            </a:lvl1pPr>
          </a:lstStyle>
          <a:p>
            <a:r>
              <a:rPr lang="en-US" dirty="0"/>
              <a:t>Master title style</a:t>
            </a:r>
          </a:p>
        </p:txBody>
      </p:sp>
      <p:sp>
        <p:nvSpPr>
          <p:cNvPr id="11" name="Content Placeholder 2">
            <a:extLst>
              <a:ext uri="{FF2B5EF4-FFF2-40B4-BE49-F238E27FC236}">
                <a16:creationId xmlns:a16="http://schemas.microsoft.com/office/drawing/2014/main" id="{849C2614-C120-DE70-9364-4FE58CE3B8B7}"/>
              </a:ext>
            </a:extLst>
          </p:cNvPr>
          <p:cNvSpPr>
            <a:spLocks noGrp="1"/>
          </p:cNvSpPr>
          <p:nvPr>
            <p:ph idx="1" hasCustomPrompt="1"/>
          </p:nvPr>
        </p:nvSpPr>
        <p:spPr>
          <a:xfrm>
            <a:off x="593212" y="1143000"/>
            <a:ext cx="10989187" cy="4800600"/>
          </a:xfrm>
        </p:spPr>
        <p:txBody>
          <a:bodyPr>
            <a:normAutofit/>
          </a:bodyPr>
          <a:lstStyle>
            <a:lvl1pPr marL="0" indent="0">
              <a:buNone/>
              <a:defRPr sz="3200">
                <a:solidFill>
                  <a:srgbClr val="0F426B"/>
                </a:solidFill>
                <a:latin typeface="Calibri" panose="020F0502020204030204" pitchFamily="34" charset="0"/>
                <a:ea typeface="Ebrima" panose="02000000000000000000" pitchFamily="2" charset="0"/>
                <a:cs typeface="Calibri" panose="020F0502020204030204" pitchFamily="34" charset="0"/>
              </a:defRPr>
            </a:lvl1pPr>
            <a:lvl2pPr marL="365760" indent="-274320">
              <a:defRPr sz="2800">
                <a:solidFill>
                  <a:srgbClr val="0F426B"/>
                </a:solidFill>
                <a:latin typeface="Calibri" panose="020F0502020204030204" pitchFamily="34" charset="0"/>
                <a:ea typeface="Ebrima" panose="02000000000000000000" pitchFamily="2" charset="0"/>
                <a:cs typeface="Calibri" panose="020F0502020204030204" pitchFamily="34" charset="0"/>
              </a:defRPr>
            </a:lvl2pPr>
            <a:lvl3pPr marL="640080" indent="-182880">
              <a:defRPr sz="2400">
                <a:solidFill>
                  <a:srgbClr val="0F426B"/>
                </a:solidFill>
                <a:latin typeface="Calibri" panose="020F0502020204030204" pitchFamily="34" charset="0"/>
                <a:ea typeface="Ebrima" panose="02000000000000000000" pitchFamily="2" charset="0"/>
                <a:cs typeface="Calibri" panose="020F0502020204030204" pitchFamily="34" charset="0"/>
              </a:defRPr>
            </a:lvl3pPr>
            <a:lvl4pPr marL="1005840">
              <a:defRPr sz="2000">
                <a:solidFill>
                  <a:srgbClr val="0F426B"/>
                </a:solidFill>
                <a:latin typeface="Calibri" panose="020F0502020204030204" pitchFamily="34" charset="0"/>
                <a:ea typeface="Ebrima" panose="02000000000000000000" pitchFamily="2" charset="0"/>
                <a:cs typeface="Calibri" panose="020F0502020204030204" pitchFamily="34" charset="0"/>
              </a:defRPr>
            </a:lvl4pPr>
            <a:lvl5pPr marL="1188720">
              <a:defRPr sz="2000">
                <a:solidFill>
                  <a:srgbClr val="0F426B"/>
                </a:solidFill>
                <a:latin typeface="Calibri" panose="020F0502020204030204" pitchFamily="34" charset="0"/>
                <a:ea typeface="Ebrima" panose="02000000000000000000" pitchFamily="2" charset="0"/>
                <a:cs typeface="Calibri" panose="020F0502020204030204" pitchFamily="34" charset="0"/>
              </a:defRPr>
            </a:lvl5pPr>
          </a:lstStyle>
          <a:p>
            <a:pPr lvl="0"/>
            <a:r>
              <a:rPr lang="en-US" dirty="0"/>
              <a:t>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TextBox 11">
            <a:extLst>
              <a:ext uri="{FF2B5EF4-FFF2-40B4-BE49-F238E27FC236}">
                <a16:creationId xmlns:a16="http://schemas.microsoft.com/office/drawing/2014/main" id="{E2A7A3E6-A8D9-A61B-AD99-07756017775B}"/>
              </a:ext>
            </a:extLst>
          </p:cNvPr>
          <p:cNvSpPr txBox="1">
            <a:spLocks noGrp="1" noRot="1" noMove="1" noResize="1" noEditPoints="1" noAdjustHandles="1" noChangeArrowheads="1" noChangeShapeType="1"/>
          </p:cNvSpPr>
          <p:nvPr userDrawn="1"/>
        </p:nvSpPr>
        <p:spPr>
          <a:xfrm>
            <a:off x="11010900" y="6426279"/>
            <a:ext cx="711200" cy="261610"/>
          </a:xfrm>
          <a:prstGeom prst="rect">
            <a:avLst/>
          </a:prstGeom>
          <a:noFill/>
        </p:spPr>
        <p:txBody>
          <a:bodyPr wrap="square" rtlCol="0">
            <a:spAutoFit/>
          </a:bodyPr>
          <a:lstStyle/>
          <a:p>
            <a:pPr algn="r"/>
            <a:fld id="{A44CF46E-C689-44F1-B86A-2F369AF73809}" type="slidenum">
              <a:rPr lang="en-US" sz="1100" b="1" smtClean="0">
                <a:solidFill>
                  <a:schemeClr val="bg1"/>
                </a:solidFill>
                <a:latin typeface="Calibri" panose="020F0502020204030204" pitchFamily="34" charset="0"/>
                <a:ea typeface="Roboto Slab" pitchFamily="2" charset="0"/>
                <a:cs typeface="Calibri" panose="020F0502020204030204" pitchFamily="34" charset="0"/>
              </a:rPr>
              <a:t>‹#›</a:t>
            </a:fld>
            <a:endParaRPr lang="en-US" sz="1100" b="1" dirty="0">
              <a:solidFill>
                <a:schemeClr val="bg1"/>
              </a:solidFill>
              <a:latin typeface="Calibri" panose="020F0502020204030204" pitchFamily="34" charset="0"/>
              <a:ea typeface="Roboto Slab" pitchFamily="2" charset="0"/>
              <a:cs typeface="Calibri" panose="020F0502020204030204" pitchFamily="34" charset="0"/>
            </a:endParaRPr>
          </a:p>
        </p:txBody>
      </p:sp>
      <p:pic>
        <p:nvPicPr>
          <p:cNvPr id="13" name="Graphic 12">
            <a:extLst>
              <a:ext uri="{FF2B5EF4-FFF2-40B4-BE49-F238E27FC236}">
                <a16:creationId xmlns:a16="http://schemas.microsoft.com/office/drawing/2014/main" id="{E0E51DA3-5135-68FE-C33C-DE98F42D59C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93212" y="6317722"/>
            <a:ext cx="1616588" cy="478724"/>
          </a:xfrm>
          <a:prstGeom prst="rect">
            <a:avLst/>
          </a:prstGeom>
        </p:spPr>
      </p:pic>
    </p:spTree>
    <p:extLst>
      <p:ext uri="{BB962C8B-B14F-4D97-AF65-F5344CB8AC3E}">
        <p14:creationId xmlns:p14="http://schemas.microsoft.com/office/powerpoint/2010/main" val="22085008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lumn Slide">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FC68F89E-9F7A-9A57-5461-D6F332212357}"/>
              </a:ext>
            </a:extLst>
          </p:cNvPr>
          <p:cNvSpPr>
            <a:spLocks noGrp="1"/>
          </p:cNvSpPr>
          <p:nvPr>
            <p:ph type="title" hasCustomPrompt="1"/>
          </p:nvPr>
        </p:nvSpPr>
        <p:spPr>
          <a:xfrm>
            <a:off x="593213" y="274638"/>
            <a:ext cx="10989187" cy="868362"/>
          </a:xfrm>
        </p:spPr>
        <p:txBody>
          <a:bodyPr/>
          <a:lstStyle>
            <a:lvl1pPr algn="l">
              <a:defRPr>
                <a:solidFill>
                  <a:srgbClr val="007B55"/>
                </a:solidFill>
                <a:latin typeface="Segoe UI" panose="020B0502040204020203" pitchFamily="34" charset="0"/>
                <a:ea typeface="Roboto Slab" pitchFamily="2" charset="0"/>
                <a:cs typeface="Segoe UI" panose="020B0502040204020203" pitchFamily="34" charset="0"/>
              </a:defRPr>
            </a:lvl1pPr>
          </a:lstStyle>
          <a:p>
            <a:r>
              <a:rPr lang="en-US" dirty="0"/>
              <a:t>Master title style</a:t>
            </a:r>
          </a:p>
        </p:txBody>
      </p:sp>
      <p:sp>
        <p:nvSpPr>
          <p:cNvPr id="3" name="Content Placeholder 2">
            <a:extLst>
              <a:ext uri="{FF2B5EF4-FFF2-40B4-BE49-F238E27FC236}">
                <a16:creationId xmlns:a16="http://schemas.microsoft.com/office/drawing/2014/main" id="{AE2E124A-15E3-FBD3-700B-54BADAFDB1E8}"/>
              </a:ext>
            </a:extLst>
          </p:cNvPr>
          <p:cNvSpPr>
            <a:spLocks noGrp="1"/>
          </p:cNvSpPr>
          <p:nvPr>
            <p:ph sz="half" idx="1" hasCustomPrompt="1"/>
          </p:nvPr>
        </p:nvSpPr>
        <p:spPr>
          <a:xfrm>
            <a:off x="593212" y="1160091"/>
            <a:ext cx="5420180" cy="4731137"/>
          </a:xfrm>
        </p:spPr>
        <p:txBody>
          <a:bodyPr/>
          <a:lstStyle>
            <a:lvl1pPr>
              <a:defRPr sz="3200"/>
            </a:lvl1pPr>
            <a:lvl2pPr>
              <a:defRPr sz="2800"/>
            </a:lvl2pPr>
            <a:lvl3pPr>
              <a:defRPr sz="2400"/>
            </a:lvl3pPr>
            <a:lvl4pPr>
              <a:defRPr sz="2000"/>
            </a:lvl4pPr>
            <a:lvl5pPr>
              <a:defRPr sz="2000"/>
            </a:lvl5pPr>
          </a:lstStyle>
          <a:p>
            <a:pPr lvl="0"/>
            <a:r>
              <a:rPr lang="en-US" dirty="0"/>
              <a:t>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160C714A-E925-8EA8-C39B-E61BE08F0257}"/>
              </a:ext>
            </a:extLst>
          </p:cNvPr>
          <p:cNvSpPr>
            <a:spLocks noGrp="1"/>
          </p:cNvSpPr>
          <p:nvPr>
            <p:ph sz="half" idx="2" hasCustomPrompt="1"/>
          </p:nvPr>
        </p:nvSpPr>
        <p:spPr>
          <a:xfrm>
            <a:off x="6178609" y="1156914"/>
            <a:ext cx="5403791" cy="4731137"/>
          </a:xfrm>
        </p:spPr>
        <p:txBody>
          <a:bodyPr/>
          <a:lstStyle>
            <a:lvl1pPr>
              <a:defRPr sz="3200"/>
            </a:lvl1pPr>
            <a:lvl2pPr>
              <a:defRPr sz="2800"/>
            </a:lvl2pPr>
            <a:lvl3pPr>
              <a:defRPr sz="2400"/>
            </a:lvl3pPr>
            <a:lvl4pPr>
              <a:defRPr sz="2000"/>
            </a:lvl4pPr>
            <a:lvl5pPr>
              <a:defRPr sz="2000"/>
            </a:lvl5pPr>
          </a:lstStyle>
          <a:p>
            <a:pPr lvl="0"/>
            <a:r>
              <a:rPr lang="en-US" dirty="0"/>
              <a:t>Master text styles</a:t>
            </a:r>
          </a:p>
          <a:p>
            <a:pPr lvl="1"/>
            <a:r>
              <a:rPr lang="en-US" dirty="0"/>
              <a:t>Second level</a:t>
            </a:r>
          </a:p>
          <a:p>
            <a:pPr lvl="2"/>
            <a:r>
              <a:rPr lang="en-US" dirty="0"/>
              <a:t>Third level</a:t>
            </a:r>
          </a:p>
          <a:p>
            <a:pPr lvl="3"/>
            <a:r>
              <a:rPr lang="en-US" dirty="0"/>
              <a:t>Fourth level</a:t>
            </a:r>
          </a:p>
          <a:p>
            <a:pPr lvl="4"/>
            <a:r>
              <a:rPr lang="en-US" dirty="0"/>
              <a:t>Fifth level</a:t>
            </a:r>
          </a:p>
        </p:txBody>
      </p:sp>
      <p:grpSp>
        <p:nvGrpSpPr>
          <p:cNvPr id="8" name="Group 7">
            <a:extLst>
              <a:ext uri="{FF2B5EF4-FFF2-40B4-BE49-F238E27FC236}">
                <a16:creationId xmlns:a16="http://schemas.microsoft.com/office/drawing/2014/main" id="{72D35D01-D513-A49B-DF93-0460AE6D357B}"/>
              </a:ext>
              <a:ext uri="{C183D7F6-B498-43B3-948B-1728B52AA6E4}">
                <adec:decorative xmlns:adec="http://schemas.microsoft.com/office/drawing/2017/decorative" val="1"/>
              </a:ext>
            </a:extLst>
          </p:cNvPr>
          <p:cNvGrpSpPr>
            <a:grpSpLocks noGrp="1" noUngrp="1" noRot="1" noMove="1" noResize="1"/>
          </p:cNvGrpSpPr>
          <p:nvPr userDrawn="1"/>
        </p:nvGrpSpPr>
        <p:grpSpPr>
          <a:xfrm>
            <a:off x="0" y="6172200"/>
            <a:ext cx="12192000" cy="685801"/>
            <a:chOff x="0" y="6423843"/>
            <a:chExt cx="9144000" cy="434157"/>
          </a:xfrm>
        </p:grpSpPr>
        <p:sp>
          <p:nvSpPr>
            <p:cNvPr id="9" name="Rectangle 8">
              <a:extLst>
                <a:ext uri="{FF2B5EF4-FFF2-40B4-BE49-F238E27FC236}">
                  <a16:creationId xmlns:a16="http://schemas.microsoft.com/office/drawing/2014/main" id="{3199AB99-1256-B198-1E90-DE4CB94B53F8}"/>
                </a:ext>
              </a:extLst>
            </p:cNvPr>
            <p:cNvSpPr>
              <a:spLocks noGrp="1" noRot="1" noMove="1" noResize="1" noEditPoints="1" noAdjustHandles="1" noChangeArrowheads="1" noChangeShapeType="1"/>
            </p:cNvSpPr>
            <p:nvPr userDrawn="1"/>
          </p:nvSpPr>
          <p:spPr>
            <a:xfrm>
              <a:off x="0" y="6477000"/>
              <a:ext cx="9144000" cy="381000"/>
            </a:xfrm>
            <a:prstGeom prst="rect">
              <a:avLst/>
            </a:prstGeom>
            <a:solidFill>
              <a:srgbClr val="0F426B"/>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solidFill>
                  <a:prstClr val="white"/>
                </a:solidFill>
              </a:endParaRPr>
            </a:p>
          </p:txBody>
        </p:sp>
        <p:sp>
          <p:nvSpPr>
            <p:cNvPr id="10" name="Rectangle 9">
              <a:extLst>
                <a:ext uri="{FF2B5EF4-FFF2-40B4-BE49-F238E27FC236}">
                  <a16:creationId xmlns:a16="http://schemas.microsoft.com/office/drawing/2014/main" id="{A6E16079-6D89-C3DD-D420-D01EA7654A70}"/>
                </a:ext>
              </a:extLst>
            </p:cNvPr>
            <p:cNvSpPr>
              <a:spLocks noGrp="1" noRot="1" noMove="1" noResize="1" noEditPoints="1" noAdjustHandles="1" noChangeArrowheads="1" noChangeShapeType="1"/>
            </p:cNvSpPr>
            <p:nvPr userDrawn="1"/>
          </p:nvSpPr>
          <p:spPr>
            <a:xfrm>
              <a:off x="0" y="6423843"/>
              <a:ext cx="9144000" cy="53157"/>
            </a:xfrm>
            <a:prstGeom prst="rect">
              <a:avLst/>
            </a:prstGeom>
            <a:solidFill>
              <a:srgbClr val="92D2D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grpSp>
      <p:sp>
        <p:nvSpPr>
          <p:cNvPr id="11" name="TextBox 10">
            <a:extLst>
              <a:ext uri="{FF2B5EF4-FFF2-40B4-BE49-F238E27FC236}">
                <a16:creationId xmlns:a16="http://schemas.microsoft.com/office/drawing/2014/main" id="{ECCF79BF-5446-4474-D141-994C1D284078}"/>
              </a:ext>
            </a:extLst>
          </p:cNvPr>
          <p:cNvSpPr txBox="1">
            <a:spLocks noGrp="1" noRot="1" noMove="1" noResize="1" noEditPoints="1" noAdjustHandles="1" noChangeArrowheads="1" noChangeShapeType="1"/>
          </p:cNvSpPr>
          <p:nvPr userDrawn="1"/>
        </p:nvSpPr>
        <p:spPr>
          <a:xfrm>
            <a:off x="11010900" y="6426279"/>
            <a:ext cx="711200" cy="261610"/>
          </a:xfrm>
          <a:prstGeom prst="rect">
            <a:avLst/>
          </a:prstGeom>
          <a:noFill/>
        </p:spPr>
        <p:txBody>
          <a:bodyPr wrap="square" rtlCol="0">
            <a:spAutoFit/>
          </a:bodyPr>
          <a:lstStyle/>
          <a:p>
            <a:pPr algn="r"/>
            <a:fld id="{A44CF46E-C689-44F1-B86A-2F369AF73809}" type="slidenum">
              <a:rPr lang="en-US" sz="1100" b="1" smtClean="0">
                <a:solidFill>
                  <a:schemeClr val="bg1"/>
                </a:solidFill>
                <a:latin typeface="Calibri" panose="020F0502020204030204" pitchFamily="34" charset="0"/>
                <a:ea typeface="Roboto Slab" pitchFamily="2" charset="0"/>
                <a:cs typeface="Calibri" panose="020F0502020204030204" pitchFamily="34" charset="0"/>
              </a:rPr>
              <a:t>‹#›</a:t>
            </a:fld>
            <a:endParaRPr lang="en-US" sz="1100" b="1" dirty="0">
              <a:solidFill>
                <a:schemeClr val="bg1"/>
              </a:solidFill>
              <a:latin typeface="Calibri" panose="020F0502020204030204" pitchFamily="34" charset="0"/>
              <a:ea typeface="Roboto Slab" pitchFamily="2" charset="0"/>
              <a:cs typeface="Calibri" panose="020F0502020204030204" pitchFamily="34" charset="0"/>
            </a:endParaRPr>
          </a:p>
        </p:txBody>
      </p:sp>
      <p:pic>
        <p:nvPicPr>
          <p:cNvPr id="12" name="Graphic 11">
            <a:extLst>
              <a:ext uri="{FF2B5EF4-FFF2-40B4-BE49-F238E27FC236}">
                <a16:creationId xmlns:a16="http://schemas.microsoft.com/office/drawing/2014/main" id="{DBB3D561-8F5A-4471-40E1-22AEA0B949DA}"/>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93212" y="6317722"/>
            <a:ext cx="1616588" cy="478724"/>
          </a:xfrm>
          <a:prstGeom prst="rect">
            <a:avLst/>
          </a:prstGeom>
        </p:spPr>
      </p:pic>
    </p:spTree>
    <p:extLst>
      <p:ext uri="{BB962C8B-B14F-4D97-AF65-F5344CB8AC3E}">
        <p14:creationId xmlns:p14="http://schemas.microsoft.com/office/powerpoint/2010/main" val="16485154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 with One Image or Figure">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FC68F89E-9F7A-9A57-5461-D6F332212357}"/>
              </a:ext>
            </a:extLst>
          </p:cNvPr>
          <p:cNvSpPr>
            <a:spLocks noGrp="1"/>
          </p:cNvSpPr>
          <p:nvPr>
            <p:ph type="title" hasCustomPrompt="1"/>
          </p:nvPr>
        </p:nvSpPr>
        <p:spPr>
          <a:xfrm>
            <a:off x="593213" y="274638"/>
            <a:ext cx="10989187" cy="868362"/>
          </a:xfrm>
        </p:spPr>
        <p:txBody>
          <a:bodyPr/>
          <a:lstStyle>
            <a:lvl1pPr algn="l">
              <a:defRPr>
                <a:solidFill>
                  <a:srgbClr val="007B55"/>
                </a:solidFill>
                <a:latin typeface="Segoe UI" panose="020B0502040204020203" pitchFamily="34" charset="0"/>
                <a:ea typeface="Roboto Slab" pitchFamily="2" charset="0"/>
                <a:cs typeface="Segoe UI" panose="020B0502040204020203" pitchFamily="34" charset="0"/>
              </a:defRPr>
            </a:lvl1pPr>
          </a:lstStyle>
          <a:p>
            <a:r>
              <a:rPr lang="en-US" dirty="0"/>
              <a:t>Master title style</a:t>
            </a:r>
          </a:p>
        </p:txBody>
      </p:sp>
      <p:sp>
        <p:nvSpPr>
          <p:cNvPr id="3" name="Content Placeholder 2">
            <a:extLst>
              <a:ext uri="{FF2B5EF4-FFF2-40B4-BE49-F238E27FC236}">
                <a16:creationId xmlns:a16="http://schemas.microsoft.com/office/drawing/2014/main" id="{AE2E124A-15E3-FBD3-700B-54BADAFDB1E8}"/>
              </a:ext>
              <a:ext uri="{C183D7F6-B498-43B3-948B-1728B52AA6E4}">
                <adec:decorative xmlns:adec="http://schemas.microsoft.com/office/drawing/2017/decorative" val="0"/>
              </a:ext>
            </a:extLst>
          </p:cNvPr>
          <p:cNvSpPr>
            <a:spLocks noGrp="1"/>
          </p:cNvSpPr>
          <p:nvPr>
            <p:ph sz="half" idx="1" hasCustomPrompt="1"/>
          </p:nvPr>
        </p:nvSpPr>
        <p:spPr>
          <a:xfrm>
            <a:off x="593212" y="1160091"/>
            <a:ext cx="5420180" cy="4731137"/>
          </a:xfrm>
        </p:spPr>
        <p:txBody>
          <a:bodyPr/>
          <a:lstStyle>
            <a:lvl1pPr>
              <a:defRPr sz="3200"/>
            </a:lvl1pPr>
            <a:lvl2pPr>
              <a:defRPr sz="2800"/>
            </a:lvl2pPr>
            <a:lvl3pPr>
              <a:defRPr sz="2400"/>
            </a:lvl3pPr>
            <a:lvl4pPr>
              <a:defRPr sz="2000"/>
            </a:lvl4pPr>
            <a:lvl5pPr>
              <a:defRPr sz="2000"/>
            </a:lvl5pPr>
          </a:lstStyle>
          <a:p>
            <a:pPr lvl="0"/>
            <a:r>
              <a:rPr lang="en-US" dirty="0"/>
              <a:t>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Picture Placeholder 2">
            <a:extLst>
              <a:ext uri="{FF2B5EF4-FFF2-40B4-BE49-F238E27FC236}">
                <a16:creationId xmlns:a16="http://schemas.microsoft.com/office/drawing/2014/main" id="{B6584567-5C82-5AF2-16CA-CC5F6B47E877}"/>
              </a:ext>
            </a:extLst>
          </p:cNvPr>
          <p:cNvSpPr>
            <a:spLocks noGrp="1"/>
          </p:cNvSpPr>
          <p:nvPr>
            <p:ph type="pic" idx="10" hasCustomPrompt="1"/>
          </p:nvPr>
        </p:nvSpPr>
        <p:spPr>
          <a:xfrm>
            <a:off x="6178610" y="1160092"/>
            <a:ext cx="5403790" cy="430729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5" name="Content Placeholder 2">
            <a:extLst>
              <a:ext uri="{FF2B5EF4-FFF2-40B4-BE49-F238E27FC236}">
                <a16:creationId xmlns:a16="http://schemas.microsoft.com/office/drawing/2014/main" id="{21943B9D-1DE3-3E5F-C3F7-356B4EE5C2FA}"/>
              </a:ext>
            </a:extLst>
          </p:cNvPr>
          <p:cNvSpPr>
            <a:spLocks noGrp="1"/>
          </p:cNvSpPr>
          <p:nvPr>
            <p:ph sz="half" idx="11" hasCustomPrompt="1"/>
          </p:nvPr>
        </p:nvSpPr>
        <p:spPr>
          <a:xfrm>
            <a:off x="6178610" y="5637498"/>
            <a:ext cx="5420180"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grpSp>
        <p:nvGrpSpPr>
          <p:cNvPr id="8" name="Group 7">
            <a:extLst>
              <a:ext uri="{FF2B5EF4-FFF2-40B4-BE49-F238E27FC236}">
                <a16:creationId xmlns:a16="http://schemas.microsoft.com/office/drawing/2014/main" id="{72D35D01-D513-A49B-DF93-0460AE6D357B}"/>
              </a:ext>
              <a:ext uri="{C183D7F6-B498-43B3-948B-1728B52AA6E4}">
                <adec:decorative xmlns:adec="http://schemas.microsoft.com/office/drawing/2017/decorative" val="1"/>
              </a:ext>
            </a:extLst>
          </p:cNvPr>
          <p:cNvGrpSpPr>
            <a:grpSpLocks noGrp="1" noUngrp="1" noRot="1" noMove="1" noResize="1"/>
          </p:cNvGrpSpPr>
          <p:nvPr userDrawn="1"/>
        </p:nvGrpSpPr>
        <p:grpSpPr>
          <a:xfrm>
            <a:off x="0" y="6172200"/>
            <a:ext cx="12192000" cy="685801"/>
            <a:chOff x="0" y="6423843"/>
            <a:chExt cx="9144000" cy="434157"/>
          </a:xfrm>
        </p:grpSpPr>
        <p:sp>
          <p:nvSpPr>
            <p:cNvPr id="9" name="Rectangle 8">
              <a:extLst>
                <a:ext uri="{FF2B5EF4-FFF2-40B4-BE49-F238E27FC236}">
                  <a16:creationId xmlns:a16="http://schemas.microsoft.com/office/drawing/2014/main" id="{3199AB99-1256-B198-1E90-DE4CB94B53F8}"/>
                </a:ext>
              </a:extLst>
            </p:cNvPr>
            <p:cNvSpPr>
              <a:spLocks noGrp="1" noRot="1" noMove="1" noResize="1" noEditPoints="1" noAdjustHandles="1" noChangeArrowheads="1" noChangeShapeType="1"/>
            </p:cNvSpPr>
            <p:nvPr userDrawn="1"/>
          </p:nvSpPr>
          <p:spPr>
            <a:xfrm>
              <a:off x="0" y="6477000"/>
              <a:ext cx="9144000" cy="381000"/>
            </a:xfrm>
            <a:prstGeom prst="rect">
              <a:avLst/>
            </a:prstGeom>
            <a:solidFill>
              <a:srgbClr val="0F426B"/>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solidFill>
                  <a:prstClr val="white"/>
                </a:solidFill>
              </a:endParaRPr>
            </a:p>
          </p:txBody>
        </p:sp>
        <p:sp>
          <p:nvSpPr>
            <p:cNvPr id="10" name="Rectangle 9">
              <a:extLst>
                <a:ext uri="{FF2B5EF4-FFF2-40B4-BE49-F238E27FC236}">
                  <a16:creationId xmlns:a16="http://schemas.microsoft.com/office/drawing/2014/main" id="{A6E16079-6D89-C3DD-D420-D01EA7654A70}"/>
                </a:ext>
              </a:extLst>
            </p:cNvPr>
            <p:cNvSpPr>
              <a:spLocks noGrp="1" noRot="1" noMove="1" noResize="1" noEditPoints="1" noAdjustHandles="1" noChangeArrowheads="1" noChangeShapeType="1"/>
            </p:cNvSpPr>
            <p:nvPr userDrawn="1"/>
          </p:nvSpPr>
          <p:spPr>
            <a:xfrm>
              <a:off x="0" y="6423843"/>
              <a:ext cx="9144000" cy="53157"/>
            </a:xfrm>
            <a:prstGeom prst="rect">
              <a:avLst/>
            </a:prstGeom>
            <a:solidFill>
              <a:srgbClr val="92D2D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grpSp>
      <p:sp>
        <p:nvSpPr>
          <p:cNvPr id="11" name="TextBox 10">
            <a:extLst>
              <a:ext uri="{FF2B5EF4-FFF2-40B4-BE49-F238E27FC236}">
                <a16:creationId xmlns:a16="http://schemas.microsoft.com/office/drawing/2014/main" id="{ECCF79BF-5446-4474-D141-994C1D284078}"/>
              </a:ext>
            </a:extLst>
          </p:cNvPr>
          <p:cNvSpPr txBox="1">
            <a:spLocks noGrp="1" noRot="1" noMove="1" noResize="1" noEditPoints="1" noAdjustHandles="1" noChangeArrowheads="1" noChangeShapeType="1"/>
          </p:cNvSpPr>
          <p:nvPr userDrawn="1"/>
        </p:nvSpPr>
        <p:spPr>
          <a:xfrm>
            <a:off x="11010900" y="6426279"/>
            <a:ext cx="711200" cy="261610"/>
          </a:xfrm>
          <a:prstGeom prst="rect">
            <a:avLst/>
          </a:prstGeom>
          <a:noFill/>
        </p:spPr>
        <p:txBody>
          <a:bodyPr wrap="square" rtlCol="0">
            <a:spAutoFit/>
          </a:bodyPr>
          <a:lstStyle/>
          <a:p>
            <a:pPr algn="r"/>
            <a:fld id="{A44CF46E-C689-44F1-B86A-2F369AF73809}" type="slidenum">
              <a:rPr lang="en-US" sz="1100" b="1" smtClean="0">
                <a:solidFill>
                  <a:schemeClr val="bg1"/>
                </a:solidFill>
                <a:latin typeface="Calibri" panose="020F0502020204030204" pitchFamily="34" charset="0"/>
                <a:ea typeface="Roboto Slab" pitchFamily="2" charset="0"/>
                <a:cs typeface="Calibri" panose="020F0502020204030204" pitchFamily="34" charset="0"/>
              </a:rPr>
              <a:t>‹#›</a:t>
            </a:fld>
            <a:endParaRPr lang="en-US" sz="1100" b="1" dirty="0">
              <a:solidFill>
                <a:schemeClr val="bg1"/>
              </a:solidFill>
              <a:latin typeface="Calibri" panose="020F0502020204030204" pitchFamily="34" charset="0"/>
              <a:ea typeface="Roboto Slab" pitchFamily="2" charset="0"/>
              <a:cs typeface="Calibri" panose="020F0502020204030204" pitchFamily="34" charset="0"/>
            </a:endParaRPr>
          </a:p>
        </p:txBody>
      </p:sp>
      <p:pic>
        <p:nvPicPr>
          <p:cNvPr id="12" name="Graphic 11">
            <a:extLst>
              <a:ext uri="{FF2B5EF4-FFF2-40B4-BE49-F238E27FC236}">
                <a16:creationId xmlns:a16="http://schemas.microsoft.com/office/drawing/2014/main" id="{DBB3D561-8F5A-4471-40E1-22AEA0B949DA}"/>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93212" y="6317722"/>
            <a:ext cx="1616588" cy="478724"/>
          </a:xfrm>
          <a:prstGeom prst="rect">
            <a:avLst/>
          </a:prstGeom>
        </p:spPr>
      </p:pic>
    </p:spTree>
    <p:extLst>
      <p:ext uri="{BB962C8B-B14F-4D97-AF65-F5344CB8AC3E}">
        <p14:creationId xmlns:p14="http://schemas.microsoft.com/office/powerpoint/2010/main" val="19890122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ntent with Two Images or Figures">
    <p:spTree>
      <p:nvGrpSpPr>
        <p:cNvPr id="1" name=""/>
        <p:cNvGrpSpPr/>
        <p:nvPr/>
      </p:nvGrpSpPr>
      <p:grpSpPr>
        <a:xfrm>
          <a:off x="0" y="0"/>
          <a:ext cx="0" cy="0"/>
          <a:chOff x="0" y="0"/>
          <a:chExt cx="0" cy="0"/>
        </a:xfrm>
      </p:grpSpPr>
      <p:sp>
        <p:nvSpPr>
          <p:cNvPr id="18" name="Title 1">
            <a:extLst>
              <a:ext uri="{FF2B5EF4-FFF2-40B4-BE49-F238E27FC236}">
                <a16:creationId xmlns:a16="http://schemas.microsoft.com/office/drawing/2014/main" id="{66A8D98D-32F0-3856-8ECD-C7676C4EDA25}"/>
              </a:ext>
            </a:extLst>
          </p:cNvPr>
          <p:cNvSpPr>
            <a:spLocks noGrp="1"/>
          </p:cNvSpPr>
          <p:nvPr>
            <p:ph type="title" hasCustomPrompt="1"/>
          </p:nvPr>
        </p:nvSpPr>
        <p:spPr>
          <a:xfrm>
            <a:off x="593213" y="274638"/>
            <a:ext cx="10989187" cy="868362"/>
          </a:xfrm>
        </p:spPr>
        <p:txBody>
          <a:bodyPr/>
          <a:lstStyle>
            <a:lvl1pPr algn="l">
              <a:defRPr>
                <a:solidFill>
                  <a:srgbClr val="007B55"/>
                </a:solidFill>
                <a:latin typeface="Segoe UI" panose="020B0502040204020203" pitchFamily="34" charset="0"/>
                <a:ea typeface="Roboto Slab" pitchFamily="2" charset="0"/>
                <a:cs typeface="Segoe UI" panose="020B0502040204020203" pitchFamily="34" charset="0"/>
              </a:defRPr>
            </a:lvl1pPr>
          </a:lstStyle>
          <a:p>
            <a:r>
              <a:rPr lang="en-US" dirty="0"/>
              <a:t>Master title style</a:t>
            </a:r>
          </a:p>
        </p:txBody>
      </p:sp>
      <p:sp>
        <p:nvSpPr>
          <p:cNvPr id="3" name="Content Placeholder 2">
            <a:extLst>
              <a:ext uri="{FF2B5EF4-FFF2-40B4-BE49-F238E27FC236}">
                <a16:creationId xmlns:a16="http://schemas.microsoft.com/office/drawing/2014/main" id="{696F640D-08FB-1ABB-A45A-322CD0EEA06B}"/>
              </a:ext>
            </a:extLst>
          </p:cNvPr>
          <p:cNvSpPr>
            <a:spLocks noGrp="1"/>
          </p:cNvSpPr>
          <p:nvPr>
            <p:ph idx="1" hasCustomPrompt="1"/>
          </p:nvPr>
        </p:nvSpPr>
        <p:spPr>
          <a:xfrm>
            <a:off x="594094" y="1154103"/>
            <a:ext cx="10988305" cy="1213084"/>
          </a:xfrm>
        </p:spPr>
        <p:txBody>
          <a:bodyPr/>
          <a:lstStyle>
            <a:lvl1pPr>
              <a:defRPr sz="3200"/>
            </a:lvl1pPr>
            <a:lvl2pPr marL="457200" indent="0">
              <a:buNone/>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Master text styles</a:t>
            </a:r>
          </a:p>
        </p:txBody>
      </p:sp>
      <p:sp>
        <p:nvSpPr>
          <p:cNvPr id="16" name="Picture Placeholder 2">
            <a:extLst>
              <a:ext uri="{FF2B5EF4-FFF2-40B4-BE49-F238E27FC236}">
                <a16:creationId xmlns:a16="http://schemas.microsoft.com/office/drawing/2014/main" id="{4F45E2E3-2911-AE05-4C8E-7C84A13D79AA}"/>
              </a:ext>
            </a:extLst>
          </p:cNvPr>
          <p:cNvSpPr>
            <a:spLocks noGrp="1"/>
          </p:cNvSpPr>
          <p:nvPr>
            <p:ph type="pic" idx="11" hasCustomPrompt="1"/>
          </p:nvPr>
        </p:nvSpPr>
        <p:spPr>
          <a:xfrm>
            <a:off x="609601" y="2511660"/>
            <a:ext cx="5403790" cy="314506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2" name="Content Placeholder 2">
            <a:extLst>
              <a:ext uri="{FF2B5EF4-FFF2-40B4-BE49-F238E27FC236}">
                <a16:creationId xmlns:a16="http://schemas.microsoft.com/office/drawing/2014/main" id="{15D12262-081C-F343-CB0B-2EF83F9B63CB}"/>
              </a:ext>
            </a:extLst>
          </p:cNvPr>
          <p:cNvSpPr>
            <a:spLocks noGrp="1"/>
          </p:cNvSpPr>
          <p:nvPr>
            <p:ph sz="half" idx="14" hasCustomPrompt="1"/>
          </p:nvPr>
        </p:nvSpPr>
        <p:spPr>
          <a:xfrm>
            <a:off x="609601" y="5787595"/>
            <a:ext cx="5420180"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sp>
        <p:nvSpPr>
          <p:cNvPr id="14" name="Picture Placeholder 2">
            <a:extLst>
              <a:ext uri="{FF2B5EF4-FFF2-40B4-BE49-F238E27FC236}">
                <a16:creationId xmlns:a16="http://schemas.microsoft.com/office/drawing/2014/main" id="{227D89F9-E5E8-1D23-B541-9AC0A1B3D3DA}"/>
              </a:ext>
            </a:extLst>
          </p:cNvPr>
          <p:cNvSpPr>
            <a:spLocks noGrp="1"/>
          </p:cNvSpPr>
          <p:nvPr>
            <p:ph type="pic" idx="10" hasCustomPrompt="1"/>
          </p:nvPr>
        </p:nvSpPr>
        <p:spPr>
          <a:xfrm>
            <a:off x="6178610" y="2511660"/>
            <a:ext cx="5403790" cy="314506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6" name="Content Placeholder 2">
            <a:extLst>
              <a:ext uri="{FF2B5EF4-FFF2-40B4-BE49-F238E27FC236}">
                <a16:creationId xmlns:a16="http://schemas.microsoft.com/office/drawing/2014/main" id="{E28F8F39-9023-8D9C-C875-114F54DEB10F}"/>
              </a:ext>
            </a:extLst>
          </p:cNvPr>
          <p:cNvSpPr>
            <a:spLocks noGrp="1"/>
          </p:cNvSpPr>
          <p:nvPr>
            <p:ph sz="half" idx="13" hasCustomPrompt="1"/>
          </p:nvPr>
        </p:nvSpPr>
        <p:spPr>
          <a:xfrm>
            <a:off x="6178610" y="5787595"/>
            <a:ext cx="5420180"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grpSp>
        <p:nvGrpSpPr>
          <p:cNvPr id="8" name="Group 7">
            <a:extLst>
              <a:ext uri="{FF2B5EF4-FFF2-40B4-BE49-F238E27FC236}">
                <a16:creationId xmlns:a16="http://schemas.microsoft.com/office/drawing/2014/main" id="{D46344D7-743F-0440-C39E-F79E0B97C560}"/>
              </a:ext>
              <a:ext uri="{C183D7F6-B498-43B3-948B-1728B52AA6E4}">
                <adec:decorative xmlns:adec="http://schemas.microsoft.com/office/drawing/2017/decorative" val="1"/>
              </a:ext>
            </a:extLst>
          </p:cNvPr>
          <p:cNvGrpSpPr>
            <a:grpSpLocks noGrp="1" noUngrp="1" noRot="1" noMove="1" noResize="1"/>
          </p:cNvGrpSpPr>
          <p:nvPr userDrawn="1"/>
        </p:nvGrpSpPr>
        <p:grpSpPr>
          <a:xfrm>
            <a:off x="0" y="6172200"/>
            <a:ext cx="12192000" cy="685801"/>
            <a:chOff x="0" y="6423843"/>
            <a:chExt cx="9144000" cy="434157"/>
          </a:xfrm>
        </p:grpSpPr>
        <p:sp>
          <p:nvSpPr>
            <p:cNvPr id="9" name="Rectangle 8">
              <a:extLst>
                <a:ext uri="{FF2B5EF4-FFF2-40B4-BE49-F238E27FC236}">
                  <a16:creationId xmlns:a16="http://schemas.microsoft.com/office/drawing/2014/main" id="{A0E5AFAE-B165-EE68-BBEB-21DAEFE633F2}"/>
                </a:ext>
              </a:extLst>
            </p:cNvPr>
            <p:cNvSpPr>
              <a:spLocks noGrp="1" noRot="1" noMove="1" noResize="1" noEditPoints="1" noAdjustHandles="1" noChangeArrowheads="1" noChangeShapeType="1"/>
            </p:cNvSpPr>
            <p:nvPr userDrawn="1"/>
          </p:nvSpPr>
          <p:spPr>
            <a:xfrm>
              <a:off x="0" y="6477000"/>
              <a:ext cx="9144000" cy="381000"/>
            </a:xfrm>
            <a:prstGeom prst="rect">
              <a:avLst/>
            </a:prstGeom>
            <a:solidFill>
              <a:srgbClr val="0F426B"/>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solidFill>
                  <a:prstClr val="white"/>
                </a:solidFill>
              </a:endParaRPr>
            </a:p>
          </p:txBody>
        </p:sp>
        <p:sp>
          <p:nvSpPr>
            <p:cNvPr id="10" name="Rectangle 9">
              <a:extLst>
                <a:ext uri="{FF2B5EF4-FFF2-40B4-BE49-F238E27FC236}">
                  <a16:creationId xmlns:a16="http://schemas.microsoft.com/office/drawing/2014/main" id="{357C6B7E-619E-D462-3F1A-83F2A95D8802}"/>
                </a:ext>
              </a:extLst>
            </p:cNvPr>
            <p:cNvSpPr>
              <a:spLocks noGrp="1" noRot="1" noMove="1" noResize="1" noEditPoints="1" noAdjustHandles="1" noChangeArrowheads="1" noChangeShapeType="1"/>
            </p:cNvSpPr>
            <p:nvPr userDrawn="1"/>
          </p:nvSpPr>
          <p:spPr>
            <a:xfrm>
              <a:off x="0" y="6423843"/>
              <a:ext cx="9144000" cy="53157"/>
            </a:xfrm>
            <a:prstGeom prst="rect">
              <a:avLst/>
            </a:prstGeom>
            <a:solidFill>
              <a:srgbClr val="92D2D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grpSp>
      <p:sp>
        <p:nvSpPr>
          <p:cNvPr id="11" name="TextBox 10">
            <a:extLst>
              <a:ext uri="{FF2B5EF4-FFF2-40B4-BE49-F238E27FC236}">
                <a16:creationId xmlns:a16="http://schemas.microsoft.com/office/drawing/2014/main" id="{1ADDF728-D389-41F4-E9C5-2A99E3584FD6}"/>
              </a:ext>
            </a:extLst>
          </p:cNvPr>
          <p:cNvSpPr txBox="1">
            <a:spLocks noGrp="1" noRot="1" noMove="1" noResize="1" noEditPoints="1" noAdjustHandles="1" noChangeArrowheads="1" noChangeShapeType="1"/>
          </p:cNvSpPr>
          <p:nvPr userDrawn="1"/>
        </p:nvSpPr>
        <p:spPr>
          <a:xfrm>
            <a:off x="11010900" y="6426279"/>
            <a:ext cx="711200" cy="261610"/>
          </a:xfrm>
          <a:prstGeom prst="rect">
            <a:avLst/>
          </a:prstGeom>
          <a:noFill/>
        </p:spPr>
        <p:txBody>
          <a:bodyPr wrap="square" rtlCol="0">
            <a:spAutoFit/>
          </a:bodyPr>
          <a:lstStyle/>
          <a:p>
            <a:pPr algn="r"/>
            <a:fld id="{A44CF46E-C689-44F1-B86A-2F369AF73809}" type="slidenum">
              <a:rPr lang="en-US" sz="1100" b="1" smtClean="0">
                <a:solidFill>
                  <a:schemeClr val="bg1"/>
                </a:solidFill>
                <a:latin typeface="Calibri" panose="020F0502020204030204" pitchFamily="34" charset="0"/>
                <a:ea typeface="Roboto Slab" pitchFamily="2" charset="0"/>
                <a:cs typeface="Calibri" panose="020F0502020204030204" pitchFamily="34" charset="0"/>
              </a:rPr>
              <a:t>‹#›</a:t>
            </a:fld>
            <a:endParaRPr lang="en-US" sz="1100" b="1" dirty="0">
              <a:solidFill>
                <a:schemeClr val="bg1"/>
              </a:solidFill>
              <a:latin typeface="Calibri" panose="020F0502020204030204" pitchFamily="34" charset="0"/>
              <a:ea typeface="Roboto Slab" pitchFamily="2" charset="0"/>
              <a:cs typeface="Calibri" panose="020F0502020204030204" pitchFamily="34" charset="0"/>
            </a:endParaRPr>
          </a:p>
        </p:txBody>
      </p:sp>
      <p:pic>
        <p:nvPicPr>
          <p:cNvPr id="12" name="Graphic 11">
            <a:extLst>
              <a:ext uri="{FF2B5EF4-FFF2-40B4-BE49-F238E27FC236}">
                <a16:creationId xmlns:a16="http://schemas.microsoft.com/office/drawing/2014/main" id="{5A03E084-6B9C-B381-C0BB-915F6FCE88F0}"/>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93212" y="6317722"/>
            <a:ext cx="1616588" cy="478724"/>
          </a:xfrm>
          <a:prstGeom prst="rect">
            <a:avLst/>
          </a:prstGeom>
        </p:spPr>
      </p:pic>
    </p:spTree>
    <p:extLst>
      <p:ext uri="{BB962C8B-B14F-4D97-AF65-F5344CB8AC3E}">
        <p14:creationId xmlns:p14="http://schemas.microsoft.com/office/powerpoint/2010/main" val="30017195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 with Three Images or Figures">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48536B0-08A2-DB4F-63ED-D36260041485}"/>
              </a:ext>
            </a:extLst>
          </p:cNvPr>
          <p:cNvSpPr>
            <a:spLocks noGrp="1"/>
          </p:cNvSpPr>
          <p:nvPr>
            <p:ph type="title" hasCustomPrompt="1"/>
          </p:nvPr>
        </p:nvSpPr>
        <p:spPr>
          <a:xfrm>
            <a:off x="593213" y="274638"/>
            <a:ext cx="10989187" cy="868362"/>
          </a:xfrm>
        </p:spPr>
        <p:txBody>
          <a:bodyPr/>
          <a:lstStyle>
            <a:lvl1pPr algn="l">
              <a:defRPr>
                <a:solidFill>
                  <a:srgbClr val="007B55"/>
                </a:solidFill>
                <a:latin typeface="Segoe UI" panose="020B0502040204020203" pitchFamily="34" charset="0"/>
                <a:ea typeface="Roboto Slab" pitchFamily="2" charset="0"/>
                <a:cs typeface="Segoe UI" panose="020B0502040204020203" pitchFamily="34" charset="0"/>
              </a:defRPr>
            </a:lvl1pPr>
          </a:lstStyle>
          <a:p>
            <a:r>
              <a:rPr lang="en-US" dirty="0"/>
              <a:t>Master title style</a:t>
            </a:r>
          </a:p>
        </p:txBody>
      </p:sp>
      <p:sp>
        <p:nvSpPr>
          <p:cNvPr id="3" name="Content Placeholder 2">
            <a:extLst>
              <a:ext uri="{FF2B5EF4-FFF2-40B4-BE49-F238E27FC236}">
                <a16:creationId xmlns:a16="http://schemas.microsoft.com/office/drawing/2014/main" id="{696F640D-08FB-1ABB-A45A-322CD0EEA06B}"/>
              </a:ext>
            </a:extLst>
          </p:cNvPr>
          <p:cNvSpPr>
            <a:spLocks noGrp="1"/>
          </p:cNvSpPr>
          <p:nvPr>
            <p:ph idx="1" hasCustomPrompt="1"/>
          </p:nvPr>
        </p:nvSpPr>
        <p:spPr>
          <a:xfrm>
            <a:off x="594094" y="1154103"/>
            <a:ext cx="10988305" cy="1213084"/>
          </a:xfrm>
        </p:spPr>
        <p:txBody>
          <a:bodyPr/>
          <a:lstStyle>
            <a:lvl1pPr>
              <a:defRPr sz="3200"/>
            </a:lvl1pPr>
            <a:lvl2pPr marL="457200" indent="0">
              <a:buNone/>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Master text styles</a:t>
            </a:r>
          </a:p>
        </p:txBody>
      </p:sp>
      <p:sp>
        <p:nvSpPr>
          <p:cNvPr id="16" name="Picture Placeholder 2">
            <a:extLst>
              <a:ext uri="{FF2B5EF4-FFF2-40B4-BE49-F238E27FC236}">
                <a16:creationId xmlns:a16="http://schemas.microsoft.com/office/drawing/2014/main" id="{4F45E2E3-2911-AE05-4C8E-7C84A13D79AA}"/>
              </a:ext>
            </a:extLst>
          </p:cNvPr>
          <p:cNvSpPr>
            <a:spLocks noGrp="1"/>
          </p:cNvSpPr>
          <p:nvPr>
            <p:ph type="pic" idx="11" hasCustomPrompt="1"/>
          </p:nvPr>
        </p:nvSpPr>
        <p:spPr>
          <a:xfrm>
            <a:off x="593212" y="2537298"/>
            <a:ext cx="3458197" cy="3119422"/>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5" name="Content Placeholder 2">
            <a:extLst>
              <a:ext uri="{FF2B5EF4-FFF2-40B4-BE49-F238E27FC236}">
                <a16:creationId xmlns:a16="http://schemas.microsoft.com/office/drawing/2014/main" id="{BCDC8034-E799-9636-AF90-FB2577D8242E}"/>
              </a:ext>
            </a:extLst>
          </p:cNvPr>
          <p:cNvSpPr>
            <a:spLocks noGrp="1"/>
          </p:cNvSpPr>
          <p:nvPr>
            <p:ph sz="half" idx="14" hasCustomPrompt="1"/>
          </p:nvPr>
        </p:nvSpPr>
        <p:spPr>
          <a:xfrm>
            <a:off x="609601" y="5787595"/>
            <a:ext cx="3441808"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sp>
        <p:nvSpPr>
          <p:cNvPr id="14" name="Picture Placeholder 2">
            <a:extLst>
              <a:ext uri="{FF2B5EF4-FFF2-40B4-BE49-F238E27FC236}">
                <a16:creationId xmlns:a16="http://schemas.microsoft.com/office/drawing/2014/main" id="{227D89F9-E5E8-1D23-B541-9AC0A1B3D3DA}"/>
              </a:ext>
            </a:extLst>
          </p:cNvPr>
          <p:cNvSpPr>
            <a:spLocks noGrp="1"/>
          </p:cNvSpPr>
          <p:nvPr>
            <p:ph type="pic" idx="10" hasCustomPrompt="1"/>
          </p:nvPr>
        </p:nvSpPr>
        <p:spPr>
          <a:xfrm>
            <a:off x="4358707" y="2537298"/>
            <a:ext cx="3474586" cy="3119422"/>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6" name="Content Placeholder 2">
            <a:extLst>
              <a:ext uri="{FF2B5EF4-FFF2-40B4-BE49-F238E27FC236}">
                <a16:creationId xmlns:a16="http://schemas.microsoft.com/office/drawing/2014/main" id="{F0FC55FA-2313-B583-EC02-5AACB520C42E}"/>
              </a:ext>
            </a:extLst>
          </p:cNvPr>
          <p:cNvSpPr>
            <a:spLocks noGrp="1"/>
          </p:cNvSpPr>
          <p:nvPr>
            <p:ph sz="half" idx="15" hasCustomPrompt="1"/>
          </p:nvPr>
        </p:nvSpPr>
        <p:spPr>
          <a:xfrm>
            <a:off x="4358707" y="5787595"/>
            <a:ext cx="3441808"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sp>
        <p:nvSpPr>
          <p:cNvPr id="2" name="Picture Placeholder 2">
            <a:extLst>
              <a:ext uri="{FF2B5EF4-FFF2-40B4-BE49-F238E27FC236}">
                <a16:creationId xmlns:a16="http://schemas.microsoft.com/office/drawing/2014/main" id="{D63BE60B-796F-B33A-F43D-A7F588ACBD93}"/>
              </a:ext>
            </a:extLst>
          </p:cNvPr>
          <p:cNvSpPr>
            <a:spLocks noGrp="1"/>
          </p:cNvSpPr>
          <p:nvPr>
            <p:ph type="pic" idx="12" hasCustomPrompt="1"/>
          </p:nvPr>
        </p:nvSpPr>
        <p:spPr>
          <a:xfrm>
            <a:off x="8107813" y="2537298"/>
            <a:ext cx="3474586" cy="3119422"/>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7" name="Content Placeholder 2">
            <a:extLst>
              <a:ext uri="{FF2B5EF4-FFF2-40B4-BE49-F238E27FC236}">
                <a16:creationId xmlns:a16="http://schemas.microsoft.com/office/drawing/2014/main" id="{85CF2935-7B5A-3650-C578-EBD3489C1894}"/>
              </a:ext>
            </a:extLst>
          </p:cNvPr>
          <p:cNvSpPr>
            <a:spLocks noGrp="1"/>
          </p:cNvSpPr>
          <p:nvPr>
            <p:ph sz="half" idx="16" hasCustomPrompt="1"/>
          </p:nvPr>
        </p:nvSpPr>
        <p:spPr>
          <a:xfrm>
            <a:off x="8107813" y="5789638"/>
            <a:ext cx="3441808"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grpSp>
        <p:nvGrpSpPr>
          <p:cNvPr id="8" name="Group 7">
            <a:extLst>
              <a:ext uri="{FF2B5EF4-FFF2-40B4-BE49-F238E27FC236}">
                <a16:creationId xmlns:a16="http://schemas.microsoft.com/office/drawing/2014/main" id="{D46344D7-743F-0440-C39E-F79E0B97C560}"/>
              </a:ext>
              <a:ext uri="{C183D7F6-B498-43B3-948B-1728B52AA6E4}">
                <adec:decorative xmlns:adec="http://schemas.microsoft.com/office/drawing/2017/decorative" val="1"/>
              </a:ext>
            </a:extLst>
          </p:cNvPr>
          <p:cNvGrpSpPr>
            <a:grpSpLocks noGrp="1" noUngrp="1" noRot="1" noMove="1" noResize="1"/>
          </p:cNvGrpSpPr>
          <p:nvPr userDrawn="1"/>
        </p:nvGrpSpPr>
        <p:grpSpPr>
          <a:xfrm>
            <a:off x="0" y="6172200"/>
            <a:ext cx="12192000" cy="685801"/>
            <a:chOff x="0" y="6423843"/>
            <a:chExt cx="9144000" cy="434157"/>
          </a:xfrm>
        </p:grpSpPr>
        <p:sp>
          <p:nvSpPr>
            <p:cNvPr id="9" name="Rectangle 8">
              <a:extLst>
                <a:ext uri="{FF2B5EF4-FFF2-40B4-BE49-F238E27FC236}">
                  <a16:creationId xmlns:a16="http://schemas.microsoft.com/office/drawing/2014/main" id="{A0E5AFAE-B165-EE68-BBEB-21DAEFE633F2}"/>
                </a:ext>
              </a:extLst>
            </p:cNvPr>
            <p:cNvSpPr>
              <a:spLocks noGrp="1" noRot="1" noMove="1" noResize="1" noEditPoints="1" noAdjustHandles="1" noChangeArrowheads="1" noChangeShapeType="1"/>
            </p:cNvSpPr>
            <p:nvPr userDrawn="1"/>
          </p:nvSpPr>
          <p:spPr>
            <a:xfrm>
              <a:off x="0" y="6477000"/>
              <a:ext cx="9144000" cy="381000"/>
            </a:xfrm>
            <a:prstGeom prst="rect">
              <a:avLst/>
            </a:prstGeom>
            <a:solidFill>
              <a:srgbClr val="0F426B"/>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solidFill>
                  <a:prstClr val="white"/>
                </a:solidFill>
              </a:endParaRPr>
            </a:p>
          </p:txBody>
        </p:sp>
        <p:sp>
          <p:nvSpPr>
            <p:cNvPr id="10" name="Rectangle 9">
              <a:extLst>
                <a:ext uri="{FF2B5EF4-FFF2-40B4-BE49-F238E27FC236}">
                  <a16:creationId xmlns:a16="http://schemas.microsoft.com/office/drawing/2014/main" id="{357C6B7E-619E-D462-3F1A-83F2A95D8802}"/>
                </a:ext>
              </a:extLst>
            </p:cNvPr>
            <p:cNvSpPr>
              <a:spLocks noGrp="1" noRot="1" noMove="1" noResize="1" noEditPoints="1" noAdjustHandles="1" noChangeArrowheads="1" noChangeShapeType="1"/>
            </p:cNvSpPr>
            <p:nvPr userDrawn="1"/>
          </p:nvSpPr>
          <p:spPr>
            <a:xfrm>
              <a:off x="0" y="6423843"/>
              <a:ext cx="9144000" cy="53157"/>
            </a:xfrm>
            <a:prstGeom prst="rect">
              <a:avLst/>
            </a:prstGeom>
            <a:solidFill>
              <a:srgbClr val="92D2D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grpSp>
      <p:sp>
        <p:nvSpPr>
          <p:cNvPr id="11" name="TextBox 10">
            <a:extLst>
              <a:ext uri="{FF2B5EF4-FFF2-40B4-BE49-F238E27FC236}">
                <a16:creationId xmlns:a16="http://schemas.microsoft.com/office/drawing/2014/main" id="{1ADDF728-D389-41F4-E9C5-2A99E3584FD6}"/>
              </a:ext>
            </a:extLst>
          </p:cNvPr>
          <p:cNvSpPr txBox="1">
            <a:spLocks noGrp="1" noRot="1" noMove="1" noResize="1" noEditPoints="1" noAdjustHandles="1" noChangeArrowheads="1" noChangeShapeType="1"/>
          </p:cNvSpPr>
          <p:nvPr userDrawn="1"/>
        </p:nvSpPr>
        <p:spPr>
          <a:xfrm>
            <a:off x="11010900" y="6426279"/>
            <a:ext cx="711200" cy="261610"/>
          </a:xfrm>
          <a:prstGeom prst="rect">
            <a:avLst/>
          </a:prstGeom>
          <a:noFill/>
        </p:spPr>
        <p:txBody>
          <a:bodyPr wrap="square" rtlCol="0">
            <a:spAutoFit/>
          </a:bodyPr>
          <a:lstStyle/>
          <a:p>
            <a:pPr algn="r"/>
            <a:fld id="{A44CF46E-C689-44F1-B86A-2F369AF73809}" type="slidenum">
              <a:rPr lang="en-US" sz="1100" b="1" smtClean="0">
                <a:solidFill>
                  <a:schemeClr val="bg1"/>
                </a:solidFill>
                <a:latin typeface="Calibri" panose="020F0502020204030204" pitchFamily="34" charset="0"/>
                <a:ea typeface="Roboto Slab" pitchFamily="2" charset="0"/>
                <a:cs typeface="Calibri" panose="020F0502020204030204" pitchFamily="34" charset="0"/>
              </a:rPr>
              <a:t>‹#›</a:t>
            </a:fld>
            <a:endParaRPr lang="en-US" sz="1100" b="1" dirty="0">
              <a:solidFill>
                <a:schemeClr val="bg1"/>
              </a:solidFill>
              <a:latin typeface="Calibri" panose="020F0502020204030204" pitchFamily="34" charset="0"/>
              <a:ea typeface="Roboto Slab" pitchFamily="2" charset="0"/>
              <a:cs typeface="Calibri" panose="020F0502020204030204" pitchFamily="34" charset="0"/>
            </a:endParaRPr>
          </a:p>
        </p:txBody>
      </p:sp>
      <p:pic>
        <p:nvPicPr>
          <p:cNvPr id="12" name="Graphic 11">
            <a:extLst>
              <a:ext uri="{FF2B5EF4-FFF2-40B4-BE49-F238E27FC236}">
                <a16:creationId xmlns:a16="http://schemas.microsoft.com/office/drawing/2014/main" id="{5A03E084-6B9C-B381-C0BB-915F6FCE88F0}"/>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93212" y="6317722"/>
            <a:ext cx="1616588" cy="478724"/>
          </a:xfrm>
          <a:prstGeom prst="rect">
            <a:avLst/>
          </a:prstGeom>
        </p:spPr>
      </p:pic>
    </p:spTree>
    <p:extLst>
      <p:ext uri="{BB962C8B-B14F-4D97-AF65-F5344CB8AC3E}">
        <p14:creationId xmlns:p14="http://schemas.microsoft.com/office/powerpoint/2010/main" val="18904397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with Four Images or Figures">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7AF720FB-C949-3605-A8FD-1E087BC21FC5}"/>
              </a:ext>
            </a:extLst>
          </p:cNvPr>
          <p:cNvSpPr>
            <a:spLocks noGrp="1"/>
          </p:cNvSpPr>
          <p:nvPr>
            <p:ph type="title" hasCustomPrompt="1"/>
          </p:nvPr>
        </p:nvSpPr>
        <p:spPr>
          <a:xfrm>
            <a:off x="593213" y="274638"/>
            <a:ext cx="10989187" cy="868362"/>
          </a:xfrm>
        </p:spPr>
        <p:txBody>
          <a:bodyPr/>
          <a:lstStyle>
            <a:lvl1pPr algn="l">
              <a:defRPr>
                <a:solidFill>
                  <a:srgbClr val="007B55"/>
                </a:solidFill>
                <a:latin typeface="Segoe UI" panose="020B0502040204020203" pitchFamily="34" charset="0"/>
                <a:ea typeface="Roboto Slab" pitchFamily="2" charset="0"/>
                <a:cs typeface="Segoe UI" panose="020B0502040204020203" pitchFamily="34" charset="0"/>
              </a:defRPr>
            </a:lvl1pPr>
          </a:lstStyle>
          <a:p>
            <a:r>
              <a:rPr lang="en-US" dirty="0"/>
              <a:t>Master title style</a:t>
            </a:r>
          </a:p>
        </p:txBody>
      </p:sp>
      <p:sp>
        <p:nvSpPr>
          <p:cNvPr id="3" name="Content Placeholder 2">
            <a:extLst>
              <a:ext uri="{FF2B5EF4-FFF2-40B4-BE49-F238E27FC236}">
                <a16:creationId xmlns:a16="http://schemas.microsoft.com/office/drawing/2014/main" id="{696F640D-08FB-1ABB-A45A-322CD0EEA06B}"/>
              </a:ext>
            </a:extLst>
          </p:cNvPr>
          <p:cNvSpPr>
            <a:spLocks noGrp="1"/>
          </p:cNvSpPr>
          <p:nvPr>
            <p:ph idx="1" hasCustomPrompt="1"/>
          </p:nvPr>
        </p:nvSpPr>
        <p:spPr>
          <a:xfrm>
            <a:off x="594094" y="1154103"/>
            <a:ext cx="10988305" cy="1213084"/>
          </a:xfrm>
        </p:spPr>
        <p:txBody>
          <a:bodyPr/>
          <a:lstStyle>
            <a:lvl1pPr>
              <a:defRPr sz="3200"/>
            </a:lvl1pPr>
            <a:lvl2pPr marL="457200" indent="0">
              <a:buNone/>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Master text styles</a:t>
            </a:r>
          </a:p>
        </p:txBody>
      </p:sp>
      <p:sp>
        <p:nvSpPr>
          <p:cNvPr id="16" name="Picture Placeholder 2">
            <a:extLst>
              <a:ext uri="{FF2B5EF4-FFF2-40B4-BE49-F238E27FC236}">
                <a16:creationId xmlns:a16="http://schemas.microsoft.com/office/drawing/2014/main" id="{4F45E2E3-2911-AE05-4C8E-7C84A13D79AA}"/>
              </a:ext>
            </a:extLst>
          </p:cNvPr>
          <p:cNvSpPr>
            <a:spLocks noGrp="1"/>
          </p:cNvSpPr>
          <p:nvPr>
            <p:ph type="pic" idx="11" hasCustomPrompt="1"/>
          </p:nvPr>
        </p:nvSpPr>
        <p:spPr>
          <a:xfrm>
            <a:off x="593212" y="2575636"/>
            <a:ext cx="2458850" cy="309689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6" name="Content Placeholder 2">
            <a:extLst>
              <a:ext uri="{FF2B5EF4-FFF2-40B4-BE49-F238E27FC236}">
                <a16:creationId xmlns:a16="http://schemas.microsoft.com/office/drawing/2014/main" id="{C5A1FA4D-8E9A-32ED-BB2B-2458E8522947}"/>
              </a:ext>
            </a:extLst>
          </p:cNvPr>
          <p:cNvSpPr>
            <a:spLocks noGrp="1"/>
          </p:cNvSpPr>
          <p:nvPr>
            <p:ph sz="half" idx="14" hasCustomPrompt="1"/>
          </p:nvPr>
        </p:nvSpPr>
        <p:spPr>
          <a:xfrm>
            <a:off x="609601" y="5787595"/>
            <a:ext cx="2442461"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sp>
        <p:nvSpPr>
          <p:cNvPr id="14" name="Picture Placeholder 2">
            <a:extLst>
              <a:ext uri="{FF2B5EF4-FFF2-40B4-BE49-F238E27FC236}">
                <a16:creationId xmlns:a16="http://schemas.microsoft.com/office/drawing/2014/main" id="{227D89F9-E5E8-1D23-B541-9AC0A1B3D3DA}"/>
              </a:ext>
            </a:extLst>
          </p:cNvPr>
          <p:cNvSpPr>
            <a:spLocks noGrp="1"/>
          </p:cNvSpPr>
          <p:nvPr>
            <p:ph type="pic" idx="10" hasCustomPrompt="1"/>
          </p:nvPr>
        </p:nvSpPr>
        <p:spPr>
          <a:xfrm>
            <a:off x="3454417" y="2559821"/>
            <a:ext cx="2470503" cy="309689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7" name="Content Placeholder 2">
            <a:extLst>
              <a:ext uri="{FF2B5EF4-FFF2-40B4-BE49-F238E27FC236}">
                <a16:creationId xmlns:a16="http://schemas.microsoft.com/office/drawing/2014/main" id="{7FF1242B-AA97-4D77-BDE3-9A0D99673126}"/>
              </a:ext>
            </a:extLst>
          </p:cNvPr>
          <p:cNvSpPr>
            <a:spLocks noGrp="1"/>
          </p:cNvSpPr>
          <p:nvPr>
            <p:ph sz="half" idx="15" hasCustomPrompt="1"/>
          </p:nvPr>
        </p:nvSpPr>
        <p:spPr>
          <a:xfrm>
            <a:off x="3454417" y="5787595"/>
            <a:ext cx="2442461"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sp>
        <p:nvSpPr>
          <p:cNvPr id="4" name="Picture Placeholder 2">
            <a:extLst>
              <a:ext uri="{FF2B5EF4-FFF2-40B4-BE49-F238E27FC236}">
                <a16:creationId xmlns:a16="http://schemas.microsoft.com/office/drawing/2014/main" id="{163B4FD5-AD0F-C1F4-9EEE-88FF9FA34B3A}"/>
              </a:ext>
            </a:extLst>
          </p:cNvPr>
          <p:cNvSpPr>
            <a:spLocks noGrp="1"/>
          </p:cNvSpPr>
          <p:nvPr>
            <p:ph type="pic" idx="13" hasCustomPrompt="1"/>
          </p:nvPr>
        </p:nvSpPr>
        <p:spPr>
          <a:xfrm>
            <a:off x="6327274" y="2563173"/>
            <a:ext cx="2470503" cy="309689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13" name="Content Placeholder 2">
            <a:extLst>
              <a:ext uri="{FF2B5EF4-FFF2-40B4-BE49-F238E27FC236}">
                <a16:creationId xmlns:a16="http://schemas.microsoft.com/office/drawing/2014/main" id="{841CD70C-55F1-A628-07B0-34F93B7BD047}"/>
              </a:ext>
            </a:extLst>
          </p:cNvPr>
          <p:cNvSpPr>
            <a:spLocks noGrp="1"/>
          </p:cNvSpPr>
          <p:nvPr>
            <p:ph sz="half" idx="16" hasCustomPrompt="1"/>
          </p:nvPr>
        </p:nvSpPr>
        <p:spPr>
          <a:xfrm>
            <a:off x="6327274" y="5785975"/>
            <a:ext cx="2442461"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sp>
        <p:nvSpPr>
          <p:cNvPr id="2" name="Picture Placeholder 2">
            <a:extLst>
              <a:ext uri="{FF2B5EF4-FFF2-40B4-BE49-F238E27FC236}">
                <a16:creationId xmlns:a16="http://schemas.microsoft.com/office/drawing/2014/main" id="{D63BE60B-796F-B33A-F43D-A7F588ACBD93}"/>
              </a:ext>
            </a:extLst>
          </p:cNvPr>
          <p:cNvSpPr>
            <a:spLocks noGrp="1"/>
          </p:cNvSpPr>
          <p:nvPr>
            <p:ph type="pic" idx="12" hasCustomPrompt="1"/>
          </p:nvPr>
        </p:nvSpPr>
        <p:spPr>
          <a:xfrm>
            <a:off x="9111896" y="2559821"/>
            <a:ext cx="2470503" cy="309689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15" name="Content Placeholder 2">
            <a:extLst>
              <a:ext uri="{FF2B5EF4-FFF2-40B4-BE49-F238E27FC236}">
                <a16:creationId xmlns:a16="http://schemas.microsoft.com/office/drawing/2014/main" id="{43CF104B-64F4-96D7-0889-9B1A1B6B5F4A}"/>
              </a:ext>
            </a:extLst>
          </p:cNvPr>
          <p:cNvSpPr>
            <a:spLocks noGrp="1"/>
          </p:cNvSpPr>
          <p:nvPr>
            <p:ph sz="half" idx="17" hasCustomPrompt="1"/>
          </p:nvPr>
        </p:nvSpPr>
        <p:spPr>
          <a:xfrm>
            <a:off x="9111896" y="5785975"/>
            <a:ext cx="2442461"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grpSp>
        <p:nvGrpSpPr>
          <p:cNvPr id="8" name="Group 7">
            <a:extLst>
              <a:ext uri="{FF2B5EF4-FFF2-40B4-BE49-F238E27FC236}">
                <a16:creationId xmlns:a16="http://schemas.microsoft.com/office/drawing/2014/main" id="{D46344D7-743F-0440-C39E-F79E0B97C560}"/>
              </a:ext>
              <a:ext uri="{C183D7F6-B498-43B3-948B-1728B52AA6E4}">
                <adec:decorative xmlns:adec="http://schemas.microsoft.com/office/drawing/2017/decorative" val="1"/>
              </a:ext>
            </a:extLst>
          </p:cNvPr>
          <p:cNvGrpSpPr>
            <a:grpSpLocks noGrp="1" noUngrp="1" noRot="1" noMove="1" noResize="1"/>
          </p:cNvGrpSpPr>
          <p:nvPr userDrawn="1"/>
        </p:nvGrpSpPr>
        <p:grpSpPr>
          <a:xfrm>
            <a:off x="0" y="6172200"/>
            <a:ext cx="12192000" cy="685801"/>
            <a:chOff x="0" y="6423843"/>
            <a:chExt cx="9144000" cy="434157"/>
          </a:xfrm>
        </p:grpSpPr>
        <p:sp>
          <p:nvSpPr>
            <p:cNvPr id="9" name="Rectangle 8">
              <a:extLst>
                <a:ext uri="{FF2B5EF4-FFF2-40B4-BE49-F238E27FC236}">
                  <a16:creationId xmlns:a16="http://schemas.microsoft.com/office/drawing/2014/main" id="{A0E5AFAE-B165-EE68-BBEB-21DAEFE633F2}"/>
                </a:ext>
              </a:extLst>
            </p:cNvPr>
            <p:cNvSpPr>
              <a:spLocks noGrp="1" noRot="1" noMove="1" noResize="1" noEditPoints="1" noAdjustHandles="1" noChangeArrowheads="1" noChangeShapeType="1"/>
            </p:cNvSpPr>
            <p:nvPr userDrawn="1"/>
          </p:nvSpPr>
          <p:spPr>
            <a:xfrm>
              <a:off x="0" y="6477000"/>
              <a:ext cx="9144000" cy="381000"/>
            </a:xfrm>
            <a:prstGeom prst="rect">
              <a:avLst/>
            </a:prstGeom>
            <a:solidFill>
              <a:srgbClr val="0F426B"/>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solidFill>
                  <a:prstClr val="white"/>
                </a:solidFill>
              </a:endParaRPr>
            </a:p>
          </p:txBody>
        </p:sp>
        <p:sp>
          <p:nvSpPr>
            <p:cNvPr id="10" name="Rectangle 9">
              <a:extLst>
                <a:ext uri="{FF2B5EF4-FFF2-40B4-BE49-F238E27FC236}">
                  <a16:creationId xmlns:a16="http://schemas.microsoft.com/office/drawing/2014/main" id="{357C6B7E-619E-D462-3F1A-83F2A95D8802}"/>
                </a:ext>
              </a:extLst>
            </p:cNvPr>
            <p:cNvSpPr>
              <a:spLocks noGrp="1" noRot="1" noMove="1" noResize="1" noEditPoints="1" noAdjustHandles="1" noChangeArrowheads="1" noChangeShapeType="1"/>
            </p:cNvSpPr>
            <p:nvPr userDrawn="1"/>
          </p:nvSpPr>
          <p:spPr>
            <a:xfrm>
              <a:off x="0" y="6423843"/>
              <a:ext cx="9144000" cy="53157"/>
            </a:xfrm>
            <a:prstGeom prst="rect">
              <a:avLst/>
            </a:prstGeom>
            <a:solidFill>
              <a:srgbClr val="92D2D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grpSp>
      <p:sp>
        <p:nvSpPr>
          <p:cNvPr id="11" name="TextBox 10">
            <a:extLst>
              <a:ext uri="{FF2B5EF4-FFF2-40B4-BE49-F238E27FC236}">
                <a16:creationId xmlns:a16="http://schemas.microsoft.com/office/drawing/2014/main" id="{1ADDF728-D389-41F4-E9C5-2A99E3584FD6}"/>
              </a:ext>
            </a:extLst>
          </p:cNvPr>
          <p:cNvSpPr txBox="1">
            <a:spLocks noGrp="1" noRot="1" noMove="1" noResize="1" noEditPoints="1" noAdjustHandles="1" noChangeArrowheads="1" noChangeShapeType="1"/>
          </p:cNvSpPr>
          <p:nvPr userDrawn="1"/>
        </p:nvSpPr>
        <p:spPr>
          <a:xfrm>
            <a:off x="11010900" y="6426279"/>
            <a:ext cx="711200" cy="261610"/>
          </a:xfrm>
          <a:prstGeom prst="rect">
            <a:avLst/>
          </a:prstGeom>
          <a:noFill/>
        </p:spPr>
        <p:txBody>
          <a:bodyPr wrap="square" rtlCol="0">
            <a:spAutoFit/>
          </a:bodyPr>
          <a:lstStyle/>
          <a:p>
            <a:pPr algn="r"/>
            <a:fld id="{A44CF46E-C689-44F1-B86A-2F369AF73809}" type="slidenum">
              <a:rPr lang="en-US" sz="1100" b="1" smtClean="0">
                <a:solidFill>
                  <a:schemeClr val="bg1"/>
                </a:solidFill>
                <a:latin typeface="Calibri" panose="020F0502020204030204" pitchFamily="34" charset="0"/>
                <a:ea typeface="Roboto Slab" pitchFamily="2" charset="0"/>
                <a:cs typeface="Calibri" panose="020F0502020204030204" pitchFamily="34" charset="0"/>
              </a:rPr>
              <a:t>‹#›</a:t>
            </a:fld>
            <a:endParaRPr lang="en-US" sz="1100" b="1" dirty="0">
              <a:solidFill>
                <a:schemeClr val="bg1"/>
              </a:solidFill>
              <a:latin typeface="Calibri" panose="020F0502020204030204" pitchFamily="34" charset="0"/>
              <a:ea typeface="Roboto Slab" pitchFamily="2" charset="0"/>
              <a:cs typeface="Calibri" panose="020F0502020204030204" pitchFamily="34" charset="0"/>
            </a:endParaRPr>
          </a:p>
        </p:txBody>
      </p:sp>
      <p:pic>
        <p:nvPicPr>
          <p:cNvPr id="12" name="Graphic 11">
            <a:extLst>
              <a:ext uri="{FF2B5EF4-FFF2-40B4-BE49-F238E27FC236}">
                <a16:creationId xmlns:a16="http://schemas.microsoft.com/office/drawing/2014/main" id="{5A03E084-6B9C-B381-C0BB-915F6FCE88F0}"/>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93212" y="6317722"/>
            <a:ext cx="1616588" cy="478724"/>
          </a:xfrm>
          <a:prstGeom prst="rect">
            <a:avLst/>
          </a:prstGeom>
        </p:spPr>
      </p:pic>
    </p:spTree>
    <p:extLst>
      <p:ext uri="{BB962C8B-B14F-4D97-AF65-F5344CB8AC3E}">
        <p14:creationId xmlns:p14="http://schemas.microsoft.com/office/powerpoint/2010/main" val="3602001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Image or Figure Only">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2A60C347-0F02-8ABE-9C0A-2414CF30D31D}"/>
              </a:ext>
            </a:extLst>
          </p:cNvPr>
          <p:cNvSpPr>
            <a:spLocks noGrp="1"/>
          </p:cNvSpPr>
          <p:nvPr>
            <p:ph type="title" hasCustomPrompt="1"/>
          </p:nvPr>
        </p:nvSpPr>
        <p:spPr>
          <a:xfrm>
            <a:off x="593213" y="274638"/>
            <a:ext cx="10989187" cy="868362"/>
          </a:xfrm>
        </p:spPr>
        <p:txBody>
          <a:bodyPr/>
          <a:lstStyle>
            <a:lvl1pPr algn="l">
              <a:defRPr>
                <a:solidFill>
                  <a:srgbClr val="007B55"/>
                </a:solidFill>
                <a:latin typeface="Segoe UI" panose="020B0502040204020203" pitchFamily="34" charset="0"/>
                <a:ea typeface="Roboto Slab" pitchFamily="2" charset="0"/>
                <a:cs typeface="Segoe UI" panose="020B0502040204020203" pitchFamily="34" charset="0"/>
              </a:defRPr>
            </a:lvl1pPr>
          </a:lstStyle>
          <a:p>
            <a:r>
              <a:rPr lang="en-US" dirty="0"/>
              <a:t>Master title style</a:t>
            </a:r>
          </a:p>
        </p:txBody>
      </p:sp>
      <p:sp>
        <p:nvSpPr>
          <p:cNvPr id="2" name="Picture Placeholder 2">
            <a:extLst>
              <a:ext uri="{FF2B5EF4-FFF2-40B4-BE49-F238E27FC236}">
                <a16:creationId xmlns:a16="http://schemas.microsoft.com/office/drawing/2014/main" id="{CB263469-5CF0-30FF-09BE-DBD3C2AEB576}"/>
              </a:ext>
            </a:extLst>
          </p:cNvPr>
          <p:cNvSpPr>
            <a:spLocks noGrp="1"/>
          </p:cNvSpPr>
          <p:nvPr>
            <p:ph type="pic" idx="10" hasCustomPrompt="1"/>
          </p:nvPr>
        </p:nvSpPr>
        <p:spPr>
          <a:xfrm>
            <a:off x="593213" y="1160092"/>
            <a:ext cx="10989187" cy="4496628"/>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Image or figure</a:t>
            </a:r>
          </a:p>
        </p:txBody>
      </p:sp>
      <p:sp>
        <p:nvSpPr>
          <p:cNvPr id="7" name="Content Placeholder 2">
            <a:extLst>
              <a:ext uri="{FF2B5EF4-FFF2-40B4-BE49-F238E27FC236}">
                <a16:creationId xmlns:a16="http://schemas.microsoft.com/office/drawing/2014/main" id="{03C919D3-A039-50AE-CBD9-89F458D53EDD}"/>
              </a:ext>
            </a:extLst>
          </p:cNvPr>
          <p:cNvSpPr>
            <a:spLocks noGrp="1"/>
          </p:cNvSpPr>
          <p:nvPr>
            <p:ph sz="half" idx="14" hasCustomPrompt="1"/>
          </p:nvPr>
        </p:nvSpPr>
        <p:spPr>
          <a:xfrm>
            <a:off x="609601" y="5787595"/>
            <a:ext cx="10972799" cy="253730"/>
          </a:xfrm>
        </p:spPr>
        <p:txBody>
          <a:bodyPr>
            <a:normAutofit/>
          </a:bodyPr>
          <a:lstStyle>
            <a:lvl1pPr>
              <a:defRPr sz="1200"/>
            </a:lvl1pPr>
            <a:lvl2pPr>
              <a:defRPr sz="2800"/>
            </a:lvl2pPr>
            <a:lvl3pPr>
              <a:defRPr sz="2400"/>
            </a:lvl3pPr>
            <a:lvl4pPr>
              <a:defRPr sz="2000"/>
            </a:lvl4pPr>
            <a:lvl5pPr>
              <a:defRPr sz="2000"/>
            </a:lvl5pPr>
          </a:lstStyle>
          <a:p>
            <a:pPr lvl="0"/>
            <a:r>
              <a:rPr lang="en-US" dirty="0"/>
              <a:t>Photo credit or figure caption.</a:t>
            </a:r>
          </a:p>
        </p:txBody>
      </p:sp>
      <p:grpSp>
        <p:nvGrpSpPr>
          <p:cNvPr id="4" name="Group 3">
            <a:extLst>
              <a:ext uri="{FF2B5EF4-FFF2-40B4-BE49-F238E27FC236}">
                <a16:creationId xmlns:a16="http://schemas.microsoft.com/office/drawing/2014/main" id="{C1D5208B-6EC7-23B8-8646-0B92A3FA3BEA}"/>
              </a:ext>
              <a:ext uri="{C183D7F6-B498-43B3-948B-1728B52AA6E4}">
                <adec:decorative xmlns:adec="http://schemas.microsoft.com/office/drawing/2017/decorative" val="1"/>
              </a:ext>
            </a:extLst>
          </p:cNvPr>
          <p:cNvGrpSpPr/>
          <p:nvPr userDrawn="1"/>
        </p:nvGrpSpPr>
        <p:grpSpPr>
          <a:xfrm>
            <a:off x="0" y="6172200"/>
            <a:ext cx="12192000" cy="685801"/>
            <a:chOff x="0" y="6423843"/>
            <a:chExt cx="9144000" cy="434157"/>
          </a:xfrm>
        </p:grpSpPr>
        <p:sp>
          <p:nvSpPr>
            <p:cNvPr id="5" name="Rectangle 4">
              <a:extLst>
                <a:ext uri="{FF2B5EF4-FFF2-40B4-BE49-F238E27FC236}">
                  <a16:creationId xmlns:a16="http://schemas.microsoft.com/office/drawing/2014/main" id="{BDC46A72-B502-6814-2E8D-A1A9EFAFCD24}"/>
                </a:ext>
              </a:extLst>
            </p:cNvPr>
            <p:cNvSpPr/>
            <p:nvPr userDrawn="1"/>
          </p:nvSpPr>
          <p:spPr>
            <a:xfrm>
              <a:off x="0" y="6477000"/>
              <a:ext cx="9144000" cy="381000"/>
            </a:xfrm>
            <a:prstGeom prst="rect">
              <a:avLst/>
            </a:prstGeom>
            <a:solidFill>
              <a:srgbClr val="0F426B"/>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solidFill>
                  <a:prstClr val="white"/>
                </a:solidFill>
              </a:endParaRPr>
            </a:p>
          </p:txBody>
        </p:sp>
        <p:sp>
          <p:nvSpPr>
            <p:cNvPr id="9" name="Rectangle 8">
              <a:extLst>
                <a:ext uri="{FF2B5EF4-FFF2-40B4-BE49-F238E27FC236}">
                  <a16:creationId xmlns:a16="http://schemas.microsoft.com/office/drawing/2014/main" id="{3E5DCEC6-0F8C-5541-7442-C093800C3015}"/>
                </a:ext>
              </a:extLst>
            </p:cNvPr>
            <p:cNvSpPr/>
            <p:nvPr userDrawn="1"/>
          </p:nvSpPr>
          <p:spPr>
            <a:xfrm>
              <a:off x="0" y="6423843"/>
              <a:ext cx="9144000" cy="53157"/>
            </a:xfrm>
            <a:prstGeom prst="rect">
              <a:avLst/>
            </a:prstGeom>
            <a:solidFill>
              <a:srgbClr val="92D2D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grpSp>
      <p:sp>
        <p:nvSpPr>
          <p:cNvPr id="10" name="TextBox 9">
            <a:extLst>
              <a:ext uri="{FF2B5EF4-FFF2-40B4-BE49-F238E27FC236}">
                <a16:creationId xmlns:a16="http://schemas.microsoft.com/office/drawing/2014/main" id="{2E4910A2-E75A-A0F3-12FA-C7B33827BFF5}"/>
              </a:ext>
            </a:extLst>
          </p:cNvPr>
          <p:cNvSpPr txBox="1"/>
          <p:nvPr userDrawn="1"/>
        </p:nvSpPr>
        <p:spPr>
          <a:xfrm>
            <a:off x="11010900" y="6426279"/>
            <a:ext cx="711200" cy="261610"/>
          </a:xfrm>
          <a:prstGeom prst="rect">
            <a:avLst/>
          </a:prstGeom>
          <a:noFill/>
        </p:spPr>
        <p:txBody>
          <a:bodyPr wrap="square" rtlCol="0">
            <a:spAutoFit/>
          </a:bodyPr>
          <a:lstStyle/>
          <a:p>
            <a:pPr algn="r"/>
            <a:fld id="{A44CF46E-C689-44F1-B86A-2F369AF73809}" type="slidenum">
              <a:rPr lang="en-US" sz="1100" b="1" smtClean="0">
                <a:solidFill>
                  <a:schemeClr val="bg1"/>
                </a:solidFill>
                <a:latin typeface="Calibri" panose="020F0502020204030204" pitchFamily="34" charset="0"/>
                <a:ea typeface="Roboto Slab" pitchFamily="2" charset="0"/>
                <a:cs typeface="Calibri" panose="020F0502020204030204" pitchFamily="34" charset="0"/>
              </a:rPr>
              <a:t>‹#›</a:t>
            </a:fld>
            <a:endParaRPr lang="en-US" sz="1100" b="1" dirty="0">
              <a:solidFill>
                <a:schemeClr val="bg1"/>
              </a:solidFill>
              <a:latin typeface="Calibri" panose="020F0502020204030204" pitchFamily="34" charset="0"/>
              <a:ea typeface="Roboto Slab" pitchFamily="2" charset="0"/>
              <a:cs typeface="Calibri" panose="020F0502020204030204" pitchFamily="34" charset="0"/>
            </a:endParaRPr>
          </a:p>
        </p:txBody>
      </p:sp>
      <p:pic>
        <p:nvPicPr>
          <p:cNvPr id="11" name="Graphic 10">
            <a:extLst>
              <a:ext uri="{FF2B5EF4-FFF2-40B4-BE49-F238E27FC236}">
                <a16:creationId xmlns:a16="http://schemas.microsoft.com/office/drawing/2014/main" id="{CC0C22ED-5F80-CEFE-BB25-C337EB274037}"/>
              </a:ext>
              <a:ext uri="{C183D7F6-B498-43B3-948B-1728B52AA6E4}">
                <adec:decorative xmlns:adec="http://schemas.microsoft.com/office/drawing/2017/decorative" val="1"/>
              </a:ext>
            </a:extLst>
          </p:cNvPr>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93212" y="6317722"/>
            <a:ext cx="1616588" cy="478724"/>
          </a:xfrm>
          <a:prstGeom prst="rect">
            <a:avLst/>
          </a:prstGeom>
        </p:spPr>
      </p:pic>
    </p:spTree>
    <p:extLst>
      <p:ext uri="{BB962C8B-B14F-4D97-AF65-F5344CB8AC3E}">
        <p14:creationId xmlns:p14="http://schemas.microsoft.com/office/powerpoint/2010/main" val="40102820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F66BB33-DB2B-91D3-D089-F85266D2146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Master title style</a:t>
            </a:r>
          </a:p>
        </p:txBody>
      </p:sp>
      <p:sp>
        <p:nvSpPr>
          <p:cNvPr id="3" name="Text Placeholder 2">
            <a:extLst>
              <a:ext uri="{FF2B5EF4-FFF2-40B4-BE49-F238E27FC236}">
                <a16:creationId xmlns:a16="http://schemas.microsoft.com/office/drawing/2014/main" id="{5F01A2DB-9F95-64AA-F96F-279EB0EF761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030280026"/>
      </p:ext>
    </p:extLst>
  </p:cSld>
  <p:clrMap bg1="lt1" tx1="dk1" bg2="lt2" tx2="dk2" accent1="accent1" accent2="accent2" accent3="accent3" accent4="accent4" accent5="accent5" accent6="accent6" hlink="hlink" folHlink="folHlink"/>
  <p:sldLayoutIdLst>
    <p:sldLayoutId id="2147483649" r:id="rId1"/>
    <p:sldLayoutId id="2147483651" r:id="rId2"/>
    <p:sldLayoutId id="2147483650" r:id="rId3"/>
    <p:sldLayoutId id="2147483652" r:id="rId4"/>
    <p:sldLayoutId id="2147483658" r:id="rId5"/>
    <p:sldLayoutId id="2147483656" r:id="rId6"/>
    <p:sldLayoutId id="2147483659" r:id="rId7"/>
    <p:sldLayoutId id="2147483660" r:id="rId8"/>
    <p:sldLayoutId id="2147483654" r:id="rId9"/>
  </p:sldLayoutIdLst>
  <p:txStyles>
    <p:titleStyle>
      <a:lvl1pPr algn="l" defTabSz="914400" rtl="0" eaLnBrk="1" latinLnBrk="0" hangingPunct="1">
        <a:lnSpc>
          <a:spcPct val="90000"/>
        </a:lnSpc>
        <a:spcBef>
          <a:spcPct val="0"/>
        </a:spcBef>
        <a:buNone/>
        <a:defRPr sz="3600" b="1" kern="1200">
          <a:solidFill>
            <a:srgbClr val="007B55"/>
          </a:solidFill>
          <a:latin typeface="Segoe UI" panose="020B0502040204020203" pitchFamily="34" charset="0"/>
          <a:ea typeface="+mj-ea"/>
          <a:cs typeface="Segoe UI" panose="020B0502040204020203" pitchFamily="34" charset="0"/>
        </a:defRPr>
      </a:lvl1pPr>
    </p:titleStyle>
    <p:bodyStyle>
      <a:lvl1pPr marL="0" indent="0" algn="l" defTabSz="914400" rtl="0" eaLnBrk="1" latinLnBrk="0" hangingPunct="1">
        <a:lnSpc>
          <a:spcPct val="90000"/>
        </a:lnSpc>
        <a:spcBef>
          <a:spcPts val="1000"/>
        </a:spcBef>
        <a:buFont typeface="Arial" panose="020B0604020202020204" pitchFamily="34" charset="0"/>
        <a:buNone/>
        <a:defRPr sz="2800" kern="1200">
          <a:solidFill>
            <a:srgbClr val="0F426B"/>
          </a:solidFill>
          <a:latin typeface="Calibri" panose="020F0502020204030204" pitchFamily="34" charset="0"/>
          <a:ea typeface="+mn-ea"/>
          <a:cs typeface="Calibri" panose="020F050202020403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0F426B"/>
          </a:solidFill>
          <a:latin typeface="Calibri" panose="020F0502020204030204" pitchFamily="34" charset="0"/>
          <a:ea typeface="+mn-ea"/>
          <a:cs typeface="Calibri" panose="020F050202020403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0F426B"/>
          </a:solidFill>
          <a:latin typeface="Calibri" panose="020F0502020204030204" pitchFamily="34" charset="0"/>
          <a:ea typeface="+mn-ea"/>
          <a:cs typeface="Calibri" panose="020F050202020403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0F426B"/>
          </a:solidFill>
          <a:latin typeface="Calibri" panose="020F0502020204030204" pitchFamily="34" charset="0"/>
          <a:ea typeface="+mn-ea"/>
          <a:cs typeface="Calibri" panose="020F050202020403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0F426B"/>
          </a:solidFill>
          <a:latin typeface="Calibri" panose="020F0502020204030204" pitchFamily="34" charset="0"/>
          <a:ea typeface="+mn-ea"/>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In-Season Sampling Design for the Coastal Razor Clam Fishery</a:t>
            </a:r>
          </a:p>
        </p:txBody>
      </p:sp>
      <p:sp>
        <p:nvSpPr>
          <p:cNvPr id="3" name="Content Placeholder 2"/>
          <p:cNvSpPr>
            <a:spLocks noGrp="1"/>
          </p:cNvSpPr>
          <p:nvPr>
            <p:ph sz="half" idx="1"/>
          </p:nvPr>
        </p:nvSpPr>
        <p:spPr/>
        <p:txBody>
          <a:bodyPr wrap="square"/>
          <a:lstStyle/>
          <a:p>
            <a:r>
              <a:t>Findings from the 2026 harvest-estimate methodology review (v10)</a:t>
            </a:r>
          </a:p>
          <a:p>
            <a:r>
              <a:t>Matthew George  ·  Coastal Shellfish Unit, WDFW</a:t>
            </a:r>
          </a:p>
          <a:p>
            <a:r>
              <a:t>2026-27 season planning</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question this answers</a:t>
            </a:r>
          </a:p>
        </p:txBody>
      </p:sp>
      <p:sp>
        <p:nvSpPr>
          <p:cNvPr id="3" name="Content Placeholder 2"/>
          <p:cNvSpPr>
            <a:spLocks noGrp="1"/>
          </p:cNvSpPr>
          <p:nvPr>
            <p:ph idx="1"/>
          </p:nvPr>
        </p:nvSpPr>
        <p:spPr/>
        <p:txBody>
          <a:bodyPr wrap="square"/>
          <a:lstStyle/>
          <a:p>
            <a:r>
              <a:rPr b="1"/>
              <a:t>Given a crew of finite size: </a:t>
            </a:r>
            <a:r>
              <a:t>how many beach-days per tide series must be counted, and which ones?</a:t>
            </a:r>
          </a:p>
          <a:p>
            <a:r>
              <a:t>This is new work, the program has never had a quantitative answer.</a:t>
            </a:r>
          </a:p>
          <a:p>
            <a:r>
              <a:rPr b="1"/>
              <a:t>Judged against a published standard: </a:t>
            </a:r>
            <a:r>
              <a:t>CV ≤ 0.20 (creel-survey design target) and NOAA MRIP's ≤ 0.30 publication threshold.</a:t>
            </a:r>
          </a:p>
          <a:p>
            <a:r>
              <a:t>Every figure here is a lower bound: it excludes beach-count observer error, which has never been measured.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Priors: what the estimate rests 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expansion table is the instrument, and it has moved</a:t>
            </a:r>
          </a:p>
        </p:txBody>
      </p:sp>
      <p:sp>
        <p:nvSpPr>
          <p:cNvPr id="3" name="Content Placeholder 2"/>
          <p:cNvSpPr>
            <a:spLocks noGrp="1"/>
          </p:cNvSpPr>
          <p:nvPr>
            <p:ph sz="half" idx="1"/>
          </p:nvPr>
        </p:nvSpPr>
        <p:spPr/>
        <p:txBody>
          <a:bodyPr wrap="square"/>
          <a:lstStyle/>
          <a:p>
            <a:r>
              <a:rPr sz="1500" b="1"/>
              <a:t>May 2013 correction: </a:t>
            </a:r>
            <a:r>
              <a:rPr sz="1500"/>
              <a:t>the old arithmetic underestimated harvest by ~16%; re-estimated day-by-day back to 1997-98.</a:t>
            </a:r>
          </a:p>
          <a:p>
            <a:r>
              <a:rPr sz="1500"/>
              <a:t>The correction factor, the share of a day's effort present at the count, is the load-bearing number.</a:t>
            </a:r>
          </a:p>
          <a:p>
            <a:r>
              <a:rPr sz="1500" b="1"/>
              <a:t>Long Beach's table was reshaped after 2013: </a:t>
            </a:r>
            <a:r>
              <a:rPr sz="1500"/>
              <a:t>+33% expanded effort for the same count.</a:t>
            </a:r>
          </a:p>
          <a:p>
            <a:r>
              <a:rPr sz="1500"/>
              <a:t>Comparing Long Beach effort across that change compares two different instruments.</a:t>
            </a:r>
          </a:p>
        </p:txBody>
      </p:sp>
      <p:sp>
        <p:nvSpPr>
          <p:cNvPr id="5" name="Content Placeholder 4"/>
          <p:cNvSpPr>
            <a:spLocks noGrp="1"/>
          </p:cNvSpPr>
          <p:nvPr>
            <p:ph sz="half" idx="11"/>
          </p:nvPr>
        </p:nvSpPr>
        <p:spPr/>
        <p:txBody>
          <a:bodyPr/>
          <a:lstStyle/>
          <a:p>
            <a:endParaRPr/>
          </a:p>
        </p:txBody>
      </p:sp>
      <p:pic>
        <p:nvPicPr>
          <p:cNvPr id="6" name="Picture 5" descr="fig09_operational_vs_vintage.png"/>
          <p:cNvPicPr>
            <a:picLocks noChangeAspect="1"/>
          </p:cNvPicPr>
          <p:nvPr/>
        </p:nvPicPr>
        <p:blipFill>
          <a:blip r:embed="rId3"/>
          <a:stretch>
            <a:fillRect/>
          </a:stretch>
        </p:blipFill>
        <p:spPr>
          <a:xfrm>
            <a:off x="6178610" y="1422412"/>
            <a:ext cx="5403790" cy="378265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correction factor dominates, and it does not average down</a:t>
            </a:r>
          </a:p>
        </p:txBody>
      </p:sp>
      <p:sp>
        <p:nvSpPr>
          <p:cNvPr id="3" name="Content Placeholder 2"/>
          <p:cNvSpPr>
            <a:spLocks noGrp="1"/>
          </p:cNvSpPr>
          <p:nvPr>
            <p:ph sz="half" idx="1"/>
          </p:nvPr>
        </p:nvSpPr>
        <p:spPr/>
        <p:txBody>
          <a:bodyPr wrap="square"/>
          <a:lstStyle/>
          <a:p>
            <a:r>
              <a:rPr sz="1500" b="1"/>
              <a:t>71-96% of season effort variance </a:t>
            </a:r>
            <a:r>
              <a:rPr sz="1500"/>
              <a:t>at every beach is the correction factor.</a:t>
            </a:r>
          </a:p>
          <a:p>
            <a:r>
              <a:rPr sz="1500"/>
              <a:t>It is systematic: one table scales every beach-day, so counting more days cannot shrink it.</a:t>
            </a:r>
          </a:p>
          <a:p>
            <a:r>
              <a:rPr sz="1500"/>
              <a:t>Imputation is large on a single day but cancels within a tide series (lag-1 autocorrelation −0.68).</a:t>
            </a:r>
          </a:p>
          <a:p>
            <a:r>
              <a:rPr sz="1500" b="1"/>
              <a:t>The lever is surveys, not crew days </a:t>
            </a:r>
            <a:r>
              <a:rPr sz="1500"/>
              <a:t>for the term that dominates effort.</a:t>
            </a:r>
          </a:p>
        </p:txBody>
      </p:sp>
      <p:sp>
        <p:nvSpPr>
          <p:cNvPr id="5" name="Content Placeholder 4"/>
          <p:cNvSpPr>
            <a:spLocks noGrp="1"/>
          </p:cNvSpPr>
          <p:nvPr>
            <p:ph sz="half" idx="11"/>
          </p:nvPr>
        </p:nvSpPr>
        <p:spPr/>
        <p:txBody>
          <a:bodyPr/>
          <a:lstStyle/>
          <a:p>
            <a:endParaRPr/>
          </a:p>
        </p:txBody>
      </p:sp>
      <p:pic>
        <p:nvPicPr>
          <p:cNvPr id="6" name="Picture 5" descr="fig10_variance_shares.png"/>
          <p:cNvPicPr>
            <a:picLocks noChangeAspect="1"/>
          </p:cNvPicPr>
          <p:nvPr/>
        </p:nvPicPr>
        <p:blipFill>
          <a:blip r:embed="rId3"/>
          <a:stretch>
            <a:fillRect/>
          </a:stretch>
        </p:blipFill>
        <p:spPr>
          <a:xfrm>
            <a:off x="6178610" y="1839978"/>
            <a:ext cx="5403790" cy="2947521"/>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For harvest, borrowed catch rate is the largest term up north</a:t>
            </a:r>
          </a:p>
        </p:txBody>
      </p:sp>
      <p:sp>
        <p:nvSpPr>
          <p:cNvPr id="3" name="Content Placeholder 2"/>
          <p:cNvSpPr>
            <a:spLocks noGrp="1"/>
          </p:cNvSpPr>
          <p:nvPr>
            <p:ph sz="half" idx="1"/>
          </p:nvPr>
        </p:nvSpPr>
        <p:spPr/>
        <p:txBody>
          <a:bodyPr wrap="square"/>
          <a:lstStyle/>
          <a:p>
            <a:r>
              <a:rPr sz="1500" b="1"/>
              <a:t>CPUE transfer (borrowed catch rate on uncounted days): </a:t>
            </a:r>
            <a:r>
              <a:rPr sz="1500"/>
              <a:t>39% of harvest variance at Long Beach, 56% at Twin Harbors.</a:t>
            </a:r>
          </a:p>
          <a:p>
            <a:r>
              <a:rPr sz="1500"/>
              <a:t>Single-day imputation error is large (sd 0.54 in log) but roughly unbiased and cancels when summed.</a:t>
            </a:r>
          </a:p>
          <a:p>
            <a:r>
              <a:rPr sz="1500" b="1"/>
              <a:t>Best donor for the two northern beaches: </a:t>
            </a:r>
            <a:r>
              <a:rPr sz="1500"/>
              <a:t>Copalis and Mocrocks jointly (sd 0.43 / 0.37).</a:t>
            </a:r>
          </a:p>
        </p:txBody>
      </p:sp>
      <p:sp>
        <p:nvSpPr>
          <p:cNvPr id="5" name="Content Placeholder 4"/>
          <p:cNvSpPr>
            <a:spLocks noGrp="1"/>
          </p:cNvSpPr>
          <p:nvPr>
            <p:ph sz="half" idx="11"/>
          </p:nvPr>
        </p:nvSpPr>
        <p:spPr/>
        <p:txBody>
          <a:bodyPr/>
          <a:lstStyle/>
          <a:p>
            <a:endParaRPr/>
          </a:p>
        </p:txBody>
      </p:sp>
      <p:pic>
        <p:nvPicPr>
          <p:cNvPr id="6" name="Picture 5" descr="fig11_imputation_error.png"/>
          <p:cNvPicPr>
            <a:picLocks noChangeAspect="1"/>
          </p:cNvPicPr>
          <p:nvPr/>
        </p:nvPicPr>
        <p:blipFill>
          <a:blip r:embed="rId3"/>
          <a:stretch>
            <a:fillRect/>
          </a:stretch>
        </p:blipFill>
        <p:spPr>
          <a:xfrm>
            <a:off x="6178610" y="2085605"/>
            <a:ext cx="5403790" cy="245626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How many days, and which ones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Count about 45% of a beach's open days, with a floor of two</a:t>
            </a:r>
          </a:p>
        </p:txBody>
      </p:sp>
      <p:sp>
        <p:nvSpPr>
          <p:cNvPr id="3" name="Content Placeholder 2"/>
          <p:cNvSpPr>
            <a:spLocks noGrp="1"/>
          </p:cNvSpPr>
          <p:nvPr>
            <p:ph sz="half" idx="1"/>
          </p:nvPr>
        </p:nvSpPr>
        <p:spPr/>
        <p:txBody>
          <a:bodyPr wrap="square"/>
          <a:lstStyle/>
          <a:p>
            <a:r>
              <a:rPr sz="1500" b="1"/>
              <a:t>Count 2 of a 4- or 5-day series; </a:t>
            </a:r>
            <a:r>
              <a:rPr sz="1500"/>
              <a:t>3 of a 6- or 7-day series.</a:t>
            </a:r>
          </a:p>
          <a:p>
            <a:r>
              <a:rPr sz="1500"/>
              <a:t>Counting one day per series never meets CV 0.20 (0.21-0.31 at m = 1).</a:t>
            </a:r>
          </a:p>
          <a:p>
            <a:r>
              <a:rPr sz="1500" b="1"/>
              <a:t>Read it as 45% of open days, floor of two.</a:t>
            </a:r>
          </a:p>
          <a:p>
            <a:r>
              <a:rPr sz="1500"/>
              <a:t>Exception: Copalis needs all three of a three-day series, its floor, not sampling, binds.</a:t>
            </a:r>
          </a:p>
        </p:txBody>
      </p:sp>
      <p:sp>
        <p:nvSpPr>
          <p:cNvPr id="5" name="Content Placeholder 4"/>
          <p:cNvSpPr>
            <a:spLocks noGrp="1"/>
          </p:cNvSpPr>
          <p:nvPr>
            <p:ph sz="half" idx="11"/>
          </p:nvPr>
        </p:nvSpPr>
        <p:spPr/>
        <p:txBody>
          <a:bodyPr/>
          <a:lstStyle/>
          <a:p>
            <a:endParaRPr/>
          </a:p>
        </p:txBody>
      </p:sp>
      <p:pic>
        <p:nvPicPr>
          <p:cNvPr id="6" name="Picture 5" descr="fig13_tide_series_cv.png"/>
          <p:cNvPicPr>
            <a:picLocks noChangeAspect="1"/>
          </p:cNvPicPr>
          <p:nvPr/>
        </p:nvPicPr>
        <p:blipFill>
          <a:blip r:embed="rId3"/>
          <a:stretch>
            <a:fillRect/>
          </a:stretch>
        </p:blipFill>
        <p:spPr>
          <a:xfrm>
            <a:off x="6178610" y="1692602"/>
            <a:ext cx="5403790" cy="324227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Which days to count: the largest-effort days</a:t>
            </a:r>
          </a:p>
        </p:txBody>
      </p:sp>
      <p:sp>
        <p:nvSpPr>
          <p:cNvPr id="3" name="Content Placeholder 2"/>
          <p:cNvSpPr>
            <a:spLocks noGrp="1"/>
          </p:cNvSpPr>
          <p:nvPr>
            <p:ph idx="1"/>
          </p:nvPr>
        </p:nvSpPr>
        <p:spPr/>
        <p:txBody>
          <a:bodyPr wrap="square">
            <a:normAutofit/>
          </a:bodyPr>
          <a:lstStyle/>
          <a:p>
            <a:r>
              <a:rPr sz="2800" b="1" dirty="0"/>
              <a:t>Selecting the largest-effort days beats an even spread by 4-11 CV points </a:t>
            </a:r>
            <a:r>
              <a:rPr sz="2800" dirty="0"/>
              <a:t>at every series length tested.</a:t>
            </a:r>
          </a:p>
          <a:p>
            <a:r>
              <a:rPr sz="2800" b="1" dirty="0"/>
              <a:t>Small bias penalty (1-6%), </a:t>
            </a:r>
            <a:r>
              <a:rPr sz="2800" dirty="0"/>
              <a:t>no worse than the alternatives.</a:t>
            </a:r>
          </a:p>
          <a:p>
            <a:r>
              <a:rPr sz="2800" dirty="0"/>
              <a:t>The program already does this implicitly, staffing the opening weekend and the biggest tides.</a:t>
            </a:r>
          </a:p>
          <a:p>
            <a:r>
              <a:rPr sz="2800" b="1" dirty="0"/>
              <a:t>It is correct. </a:t>
            </a:r>
            <a:r>
              <a:rPr sz="2800" dirty="0"/>
              <a:t>Which days will be largest is well predicted by the schedule, tide height, and day of week.</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Some precision cannot be bought with crew days</a:t>
            </a:r>
          </a:p>
        </p:txBody>
      </p:sp>
      <p:sp>
        <p:nvSpPr>
          <p:cNvPr id="3" name="Content Placeholder 2"/>
          <p:cNvSpPr>
            <a:spLocks noGrp="1"/>
          </p:cNvSpPr>
          <p:nvPr>
            <p:ph sz="half" idx="1"/>
          </p:nvPr>
        </p:nvSpPr>
        <p:spPr/>
        <p:txBody>
          <a:bodyPr wrap="square"/>
          <a:lstStyle/>
          <a:p>
            <a:r>
              <a:rPr sz="1500" b="1"/>
              <a:t>Copalis cannot go below a series CV of 0.126; Mocrocks below 0.095 </a:t>
            </a:r>
            <a:r>
              <a:rPr sz="1500"/>
              <a:t>, the between-survey error of their tables.</a:t>
            </a:r>
          </a:p>
          <a:p>
            <a:r>
              <a:rPr sz="1500"/>
              <a:t>Copalis is already counted 100% and sits at 0.129; a 10% target is infeasible there at any rate.</a:t>
            </a:r>
          </a:p>
          <a:p>
            <a:r>
              <a:rPr sz="1500" b="1"/>
              <a:t>The question inverts: </a:t>
            </a:r>
            <a:r>
              <a:rPr sz="1500"/>
              <a:t>how much of a season each beach's table can afford to impute (Table 21).</a:t>
            </a:r>
          </a:p>
        </p:txBody>
      </p:sp>
      <p:sp>
        <p:nvSpPr>
          <p:cNvPr id="5" name="Content Placeholder 4"/>
          <p:cNvSpPr>
            <a:spLocks noGrp="1"/>
          </p:cNvSpPr>
          <p:nvPr>
            <p:ph sz="half" idx="11"/>
          </p:nvPr>
        </p:nvSpPr>
        <p:spPr/>
        <p:txBody>
          <a:bodyPr/>
          <a:lstStyle/>
          <a:p>
            <a:endParaRPr/>
          </a:p>
        </p:txBody>
      </p:sp>
      <p:pic>
        <p:nvPicPr>
          <p:cNvPr id="6" name="Picture 5" descr="fig14_season_cv_vs_imputed.png"/>
          <p:cNvPicPr>
            <a:picLocks noChangeAspect="1"/>
          </p:cNvPicPr>
          <p:nvPr/>
        </p:nvPicPr>
        <p:blipFill>
          <a:blip r:embed="rId3"/>
          <a:stretch>
            <a:fillRect/>
          </a:stretch>
        </p:blipFill>
        <p:spPr>
          <a:xfrm>
            <a:off x="6178610" y="1692602"/>
            <a:ext cx="5403790" cy="324227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reallocation pays for itself: minus 19 crew-day units</a:t>
            </a:r>
          </a:p>
        </p:txBody>
      </p:sp>
      <p:sp>
        <p:nvSpPr>
          <p:cNvPr id="3" name="Content Placeholder 2"/>
          <p:cNvSpPr>
            <a:spLocks noGrp="1"/>
          </p:cNvSpPr>
          <p:nvPr>
            <p:ph idx="1"/>
          </p:nvPr>
        </p:nvSpPr>
        <p:spPr/>
        <p:txBody>
          <a:bodyPr/>
          <a:lstStyle/>
          <a:p>
            <a:endParaRPr/>
          </a:p>
        </p:txBody>
      </p:sp>
      <p:graphicFrame>
        <p:nvGraphicFramePr>
          <p:cNvPr id="4" name="Table 3"/>
          <p:cNvGraphicFramePr>
            <a:graphicFrameLocks noGrp="1"/>
          </p:cNvGraphicFramePr>
          <p:nvPr/>
        </p:nvGraphicFramePr>
        <p:xfrm>
          <a:off x="594360" y="1463040"/>
          <a:ext cx="10972798" cy="2926080"/>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gridCol w="1874519">
                  <a:extLst>
                    <a:ext uri="{9D8B030D-6E8A-4147-A177-3AD203B41FA5}">
                      <a16:colId xmlns:a16="http://schemas.microsoft.com/office/drawing/2014/main" val="20004"/>
                    </a:ext>
                  </a:extLst>
                </a:gridCol>
                <a:gridCol w="1874519">
                  <a:extLst>
                    <a:ext uri="{9D8B030D-6E8A-4147-A177-3AD203B41FA5}">
                      <a16:colId xmlns:a16="http://schemas.microsoft.com/office/drawing/2014/main" val="20005"/>
                    </a:ext>
                  </a:extLst>
                </a:gridCol>
              </a:tblGrid>
              <a:tr h="487680">
                <a:tc>
                  <a:txBody>
                    <a:bodyPr/>
                    <a:lstStyle/>
                    <a:p>
                      <a:r>
                        <a:rPr sz="1300" b="1">
                          <a:solidFill>
                            <a:srgbClr val="FFFFFF"/>
                          </a:solidFill>
                        </a:rPr>
                        <a:t>Beach</a:t>
                      </a:r>
                    </a:p>
                  </a:txBody>
                  <a:tcPr>
                    <a:solidFill>
                      <a:srgbClr val="1B3A5C"/>
                    </a:solidFill>
                  </a:tcPr>
                </a:tc>
                <a:tc>
                  <a:txBody>
                    <a:bodyPr/>
                    <a:lstStyle/>
                    <a:p>
                      <a:r>
                        <a:rPr sz="1300" b="1">
                          <a:solidFill>
                            <a:srgbClr val="FFFFFF"/>
                          </a:solidFill>
                        </a:rPr>
                        <a:t>Open days</a:t>
                      </a:r>
                    </a:p>
                  </a:txBody>
                  <a:tcPr>
                    <a:solidFill>
                      <a:srgbClr val="1B3A5C"/>
                    </a:solidFill>
                  </a:tcPr>
                </a:tc>
                <a:tc>
                  <a:txBody>
                    <a:bodyPr/>
                    <a:lstStyle/>
                    <a:p>
                      <a:r>
                        <a:rPr sz="1300" b="1">
                          <a:solidFill>
                            <a:srgbClr val="FFFFFF"/>
                          </a:solidFill>
                        </a:rPr>
                        <a:t>Counted now</a:t>
                      </a:r>
                    </a:p>
                  </a:txBody>
                  <a:tcPr>
                    <a:solidFill>
                      <a:srgbClr val="1B3A5C"/>
                    </a:solidFill>
                  </a:tcPr>
                </a:tc>
                <a:tc>
                  <a:txBody>
                    <a:bodyPr/>
                    <a:lstStyle/>
                    <a:p>
                      <a:r>
                        <a:rPr sz="1300" b="1">
                          <a:solidFill>
                            <a:srgbClr val="FFFFFF"/>
                          </a:solidFill>
                        </a:rPr>
                        <a:t>At 45%</a:t>
                      </a:r>
                    </a:p>
                  </a:txBody>
                  <a:tcPr>
                    <a:solidFill>
                      <a:srgbClr val="1B3A5C"/>
                    </a:solidFill>
                  </a:tcPr>
                </a:tc>
                <a:tc>
                  <a:txBody>
                    <a:bodyPr/>
                    <a:lstStyle/>
                    <a:p>
                      <a:r>
                        <a:rPr sz="1300" b="1">
                          <a:solidFill>
                            <a:srgbClr val="FFFFFF"/>
                          </a:solidFill>
                        </a:rPr>
                        <a:t>Series CV now</a:t>
                      </a:r>
                    </a:p>
                  </a:txBody>
                  <a:tcPr>
                    <a:solidFill>
                      <a:srgbClr val="1B3A5C"/>
                    </a:solidFill>
                  </a:tcPr>
                </a:tc>
                <a:tc>
                  <a:txBody>
                    <a:bodyPr/>
                    <a:lstStyle/>
                    <a:p>
                      <a:r>
                        <a:rPr sz="1300" b="1">
                          <a:solidFill>
                            <a:srgbClr val="FFFFFF"/>
                          </a:solidFill>
                        </a:rPr>
                        <a:t>CV at 45%</a:t>
                      </a:r>
                    </a:p>
                  </a:txBody>
                  <a:tcPr>
                    <a:solidFill>
                      <a:srgbClr val="1B3A5C"/>
                    </a:solidFill>
                  </a:tcPr>
                </a:tc>
                <a:extLst>
                  <a:ext uri="{0D108BD9-81ED-4DB2-BD59-A6C34878D82A}">
                    <a16:rowId xmlns:a16="http://schemas.microsoft.com/office/drawing/2014/main" val="10000"/>
                  </a:ext>
                </a:extLst>
              </a:tr>
              <a:tr h="487680">
                <a:tc>
                  <a:txBody>
                    <a:bodyPr/>
                    <a:lstStyle/>
                    <a:p>
                      <a:r>
                        <a:rPr sz="1200"/>
                        <a:t>Copalis</a:t>
                      </a:r>
                    </a:p>
                  </a:txBody>
                  <a:tcPr/>
                </a:tc>
                <a:tc>
                  <a:txBody>
                    <a:bodyPr/>
                    <a:lstStyle/>
                    <a:p>
                      <a:r>
                        <a:rPr sz="1200"/>
                        <a:t>51</a:t>
                      </a:r>
                    </a:p>
                  </a:txBody>
                  <a:tcPr/>
                </a:tc>
                <a:tc>
                  <a:txBody>
                    <a:bodyPr/>
                    <a:lstStyle/>
                    <a:p>
                      <a:r>
                        <a:rPr sz="1200"/>
                        <a:t>51  (100%)</a:t>
                      </a:r>
                    </a:p>
                  </a:txBody>
                  <a:tcPr/>
                </a:tc>
                <a:tc>
                  <a:txBody>
                    <a:bodyPr/>
                    <a:lstStyle/>
                    <a:p>
                      <a:r>
                        <a:rPr sz="1200"/>
                        <a:t>23</a:t>
                      </a:r>
                    </a:p>
                  </a:txBody>
                  <a:tcPr/>
                </a:tc>
                <a:tc>
                  <a:txBody>
                    <a:bodyPr/>
                    <a:lstStyle/>
                    <a:p>
                      <a:r>
                        <a:rPr sz="1200"/>
                        <a:t>0.129</a:t>
                      </a:r>
                    </a:p>
                  </a:txBody>
                  <a:tcPr/>
                </a:tc>
                <a:tc>
                  <a:txBody>
                    <a:bodyPr/>
                    <a:lstStyle/>
                    <a:p>
                      <a:r>
                        <a:rPr sz="1200"/>
                        <a:t>0.192</a:t>
                      </a:r>
                    </a:p>
                  </a:txBody>
                  <a:tcPr/>
                </a:tc>
                <a:extLst>
                  <a:ext uri="{0D108BD9-81ED-4DB2-BD59-A6C34878D82A}">
                    <a16:rowId xmlns:a16="http://schemas.microsoft.com/office/drawing/2014/main" val="10001"/>
                  </a:ext>
                </a:extLst>
              </a:tr>
              <a:tr h="487680">
                <a:tc>
                  <a:txBody>
                    <a:bodyPr/>
                    <a:lstStyle/>
                    <a:p>
                      <a:r>
                        <a:rPr sz="1200"/>
                        <a:t>Mocrocks</a:t>
                      </a:r>
                    </a:p>
                  </a:txBody>
                  <a:tcPr/>
                </a:tc>
                <a:tc>
                  <a:txBody>
                    <a:bodyPr/>
                    <a:lstStyle/>
                    <a:p>
                      <a:r>
                        <a:rPr sz="1200"/>
                        <a:t>52</a:t>
                      </a:r>
                    </a:p>
                  </a:txBody>
                  <a:tcPr/>
                </a:tc>
                <a:tc>
                  <a:txBody>
                    <a:bodyPr/>
                    <a:lstStyle/>
                    <a:p>
                      <a:r>
                        <a:rPr sz="1200"/>
                        <a:t>52  (100%)</a:t>
                      </a:r>
                    </a:p>
                  </a:txBody>
                  <a:tcPr/>
                </a:tc>
                <a:tc>
                  <a:txBody>
                    <a:bodyPr/>
                    <a:lstStyle/>
                    <a:p>
                      <a:r>
                        <a:rPr sz="1200"/>
                        <a:t>23</a:t>
                      </a:r>
                    </a:p>
                  </a:txBody>
                  <a:tcPr/>
                </a:tc>
                <a:tc>
                  <a:txBody>
                    <a:bodyPr/>
                    <a:lstStyle/>
                    <a:p>
                      <a:r>
                        <a:rPr sz="1200"/>
                        <a:t>0.099</a:t>
                      </a:r>
                    </a:p>
                  </a:txBody>
                  <a:tcPr/>
                </a:tc>
                <a:tc>
                  <a:txBody>
                    <a:bodyPr/>
                    <a:lstStyle/>
                    <a:p>
                      <a:r>
                        <a:rPr sz="1200"/>
                        <a:t>0.171</a:t>
                      </a:r>
                    </a:p>
                  </a:txBody>
                  <a:tcPr/>
                </a:tc>
                <a:extLst>
                  <a:ext uri="{0D108BD9-81ED-4DB2-BD59-A6C34878D82A}">
                    <a16:rowId xmlns:a16="http://schemas.microsoft.com/office/drawing/2014/main" val="10002"/>
                  </a:ext>
                </a:extLst>
              </a:tr>
              <a:tr h="487680">
                <a:tc>
                  <a:txBody>
                    <a:bodyPr/>
                    <a:lstStyle/>
                    <a:p>
                      <a:r>
                        <a:rPr sz="1200"/>
                        <a:t>Twin Harbors</a:t>
                      </a:r>
                    </a:p>
                  </a:txBody>
                  <a:tcPr/>
                </a:tc>
                <a:tc>
                  <a:txBody>
                    <a:bodyPr/>
                    <a:lstStyle/>
                    <a:p>
                      <a:r>
                        <a:rPr sz="1200"/>
                        <a:t>103</a:t>
                      </a:r>
                    </a:p>
                  </a:txBody>
                  <a:tcPr/>
                </a:tc>
                <a:tc>
                  <a:txBody>
                    <a:bodyPr/>
                    <a:lstStyle/>
                    <a:p>
                      <a:r>
                        <a:rPr sz="1200"/>
                        <a:t>52  (50%)</a:t>
                      </a:r>
                    </a:p>
                  </a:txBody>
                  <a:tcPr/>
                </a:tc>
                <a:tc>
                  <a:txBody>
                    <a:bodyPr/>
                    <a:lstStyle/>
                    <a:p>
                      <a:r>
                        <a:rPr sz="1200"/>
                        <a:t>46</a:t>
                      </a:r>
                    </a:p>
                  </a:txBody>
                  <a:tcPr/>
                </a:tc>
                <a:tc>
                  <a:txBody>
                    <a:bodyPr/>
                    <a:lstStyle/>
                    <a:p>
                      <a:r>
                        <a:rPr sz="1200"/>
                        <a:t>0.164</a:t>
                      </a:r>
                    </a:p>
                  </a:txBody>
                  <a:tcPr/>
                </a:tc>
                <a:tc>
                  <a:txBody>
                    <a:bodyPr/>
                    <a:lstStyle/>
                    <a:p>
                      <a:r>
                        <a:rPr sz="1200"/>
                        <a:t>0.164</a:t>
                      </a:r>
                    </a:p>
                  </a:txBody>
                  <a:tcPr/>
                </a:tc>
                <a:extLst>
                  <a:ext uri="{0D108BD9-81ED-4DB2-BD59-A6C34878D82A}">
                    <a16:rowId xmlns:a16="http://schemas.microsoft.com/office/drawing/2014/main" val="10003"/>
                  </a:ext>
                </a:extLst>
              </a:tr>
              <a:tr h="487680">
                <a:tc>
                  <a:txBody>
                    <a:bodyPr/>
                    <a:lstStyle/>
                    <a:p>
                      <a:r>
                        <a:rPr sz="1200"/>
                        <a:t>Long Beach</a:t>
                      </a:r>
                    </a:p>
                  </a:txBody>
                  <a:tcPr/>
                </a:tc>
                <a:tc>
                  <a:txBody>
                    <a:bodyPr/>
                    <a:lstStyle/>
                    <a:p>
                      <a:r>
                        <a:rPr sz="1200"/>
                        <a:t>103</a:t>
                      </a:r>
                    </a:p>
                  </a:txBody>
                  <a:tcPr/>
                </a:tc>
                <a:tc>
                  <a:txBody>
                    <a:bodyPr/>
                    <a:lstStyle/>
                    <a:p>
                      <a:r>
                        <a:rPr sz="1200"/>
                        <a:t>9  (9%)</a:t>
                      </a:r>
                    </a:p>
                  </a:txBody>
                  <a:tcPr/>
                </a:tc>
                <a:tc>
                  <a:txBody>
                    <a:bodyPr/>
                    <a:lstStyle/>
                    <a:p>
                      <a:r>
                        <a:rPr sz="1200"/>
                        <a:t>46</a:t>
                      </a:r>
                    </a:p>
                  </a:txBody>
                  <a:tcPr/>
                </a:tc>
                <a:tc>
                  <a:txBody>
                    <a:bodyPr/>
                    <a:lstStyle/>
                    <a:p>
                      <a:r>
                        <a:rPr sz="1200"/>
                        <a:t>0.294</a:t>
                      </a:r>
                    </a:p>
                  </a:txBody>
                  <a:tcPr/>
                </a:tc>
                <a:tc>
                  <a:txBody>
                    <a:bodyPr/>
                    <a:lstStyle/>
                    <a:p>
                      <a:r>
                        <a:rPr sz="1200"/>
                        <a:t>0.175</a:t>
                      </a:r>
                    </a:p>
                  </a:txBody>
                  <a:tcPr/>
                </a:tc>
                <a:extLst>
                  <a:ext uri="{0D108BD9-81ED-4DB2-BD59-A6C34878D82A}">
                    <a16:rowId xmlns:a16="http://schemas.microsoft.com/office/drawing/2014/main" val="10004"/>
                  </a:ext>
                </a:extLst>
              </a:tr>
              <a:tr h="487680">
                <a:tc>
                  <a:txBody>
                    <a:bodyPr/>
                    <a:lstStyle/>
                    <a:p>
                      <a:r>
                        <a:rPr sz="1200" b="1"/>
                        <a:t>Total crew-day units</a:t>
                      </a:r>
                    </a:p>
                  </a:txBody>
                  <a:tcPr/>
                </a:tc>
                <a:tc>
                  <a:txBody>
                    <a:bodyPr/>
                    <a:lstStyle/>
                    <a:p>
                      <a:endParaRPr/>
                    </a:p>
                  </a:txBody>
                  <a:tcPr/>
                </a:tc>
                <a:tc>
                  <a:txBody>
                    <a:bodyPr/>
                    <a:lstStyle/>
                    <a:p>
                      <a:r>
                        <a:rPr sz="1200" b="1"/>
                        <a:t>203</a:t>
                      </a:r>
                    </a:p>
                  </a:txBody>
                  <a:tcPr/>
                </a:tc>
                <a:tc>
                  <a:txBody>
                    <a:bodyPr/>
                    <a:lstStyle/>
                    <a:p>
                      <a:r>
                        <a:rPr sz="1200" b="1"/>
                        <a:t>184</a:t>
                      </a:r>
                    </a:p>
                  </a:txBody>
                  <a:tcPr/>
                </a:tc>
                <a:tc>
                  <a:txBody>
                    <a:bodyPr/>
                    <a:lstStyle/>
                    <a:p>
                      <a:endParaRPr/>
                    </a:p>
                  </a:txBody>
                  <a:tcPr/>
                </a:tc>
                <a:tc>
                  <a:txBody>
                    <a:bodyPr/>
                    <a:lstStyle/>
                    <a:p>
                      <a:r>
                        <a:rPr sz="1200" b="1"/>
                        <a:t>−19</a:t>
                      </a:r>
                    </a:p>
                  </a:txBody>
                  <a:tcPr/>
                </a:tc>
                <a:extLst>
                  <a:ext uri="{0D108BD9-81ED-4DB2-BD59-A6C34878D82A}">
                    <a16:rowId xmlns:a16="http://schemas.microsoft.com/office/drawing/2014/main" val="10005"/>
                  </a:ext>
                </a:extLst>
              </a:tr>
            </a:tbl>
          </a:graphicData>
        </a:graphic>
      </p:graphicFrame>
      <p:sp>
        <p:nvSpPr>
          <p:cNvPr id="5" name="TextBox 4"/>
          <p:cNvSpPr txBox="1"/>
          <p:nvPr/>
        </p:nvSpPr>
        <p:spPr>
          <a:xfrm>
            <a:off x="594360" y="4572000"/>
            <a:ext cx="10972800" cy="1463040"/>
          </a:xfrm>
          <a:prstGeom prst="rect">
            <a:avLst/>
          </a:prstGeom>
          <a:noFill/>
        </p:spPr>
        <p:txBody>
          <a:bodyPr wrap="square">
            <a:spAutoFit/>
          </a:bodyPr>
          <a:lstStyle/>
          <a:p>
            <a:r>
              <a:rPr sz="1400"/>
              <a:t>Long Beach's series CV falls from 0.294 to 0.175, crossing the design target for the first time. Copalis and Mocrocks rise to 0.192 and 0.171 and stay inside it. No new staff, nineteen crew-day units move to Long Beach; but those units are not truly free once the two beaches' donor role is counted, which the co-management slide takes up.</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Recommendations for the 2026-27 season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Run egress surveys at Long Beach and Twin Harbors, both conditions</a:t>
            </a:r>
          </a:p>
        </p:txBody>
      </p:sp>
      <p:sp>
        <p:nvSpPr>
          <p:cNvPr id="3" name="Content Placeholder 2"/>
          <p:cNvSpPr>
            <a:spLocks noGrp="1"/>
          </p:cNvSpPr>
          <p:nvPr>
            <p:ph sz="half" idx="1"/>
          </p:nvPr>
        </p:nvSpPr>
        <p:spPr/>
        <p:txBody>
          <a:bodyPr wrap="square"/>
          <a:lstStyle/>
          <a:p>
            <a:r>
              <a:rPr sz="1500"/>
              <a:t>The correction factor is the largest term, and these two beaches now carry the worst of it.</a:t>
            </a:r>
          </a:p>
          <a:p>
            <a:r>
              <a:rPr sz="1500" b="1"/>
              <a:t>Newest survey: 2011. </a:t>
            </a:r>
            <a:r>
              <a:rPr sz="1500"/>
              <a:t>Twin Harbors evening rests on just two surveys.</a:t>
            </a:r>
          </a:p>
          <a:p>
            <a:r>
              <a:rPr sz="1500"/>
              <a:t>Copalis and Mocrocks were resurveyed 2022-2026 and no longer need egress effort.</a:t>
            </a:r>
          </a:p>
          <a:p>
            <a:r>
              <a:rPr sz="1500" b="1"/>
              <a:t>The single most valuable unpurchased input </a:t>
            </a:r>
            <a:r>
              <a:rPr sz="1500"/>
              <a:t>in the program.</a:t>
            </a:r>
          </a:p>
        </p:txBody>
      </p:sp>
      <p:sp>
        <p:nvSpPr>
          <p:cNvPr id="5" name="Content Placeholder 4"/>
          <p:cNvSpPr>
            <a:spLocks noGrp="1"/>
          </p:cNvSpPr>
          <p:nvPr>
            <p:ph sz="half" idx="11"/>
          </p:nvPr>
        </p:nvSpPr>
        <p:spPr/>
        <p:txBody>
          <a:bodyPr/>
          <a:lstStyle/>
          <a:p>
            <a:endParaRPr/>
          </a:p>
        </p:txBody>
      </p:sp>
      <p:pic>
        <p:nvPicPr>
          <p:cNvPr id="6" name="Picture 5" descr="fig08_located_egress_surveys.png"/>
          <p:cNvPicPr>
            <a:picLocks noChangeAspect="1"/>
          </p:cNvPicPr>
          <p:nvPr/>
        </p:nvPicPr>
        <p:blipFill>
          <a:blip r:embed="rId3"/>
          <a:stretch>
            <a:fillRect/>
          </a:stretch>
        </p:blipFill>
        <p:spPr>
          <a:xfrm>
            <a:off x="6178610" y="2085605"/>
            <a:ext cx="5403790" cy="2456268"/>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Pulling the southern beaches back is not free, and no tribal count offsets it</a:t>
            </a:r>
          </a:p>
        </p:txBody>
      </p:sp>
      <p:sp>
        <p:nvSpPr>
          <p:cNvPr id="3" name="Content Placeholder 2"/>
          <p:cNvSpPr>
            <a:spLocks noGrp="1"/>
          </p:cNvSpPr>
          <p:nvPr>
            <p:ph sz="half" idx="1"/>
          </p:nvPr>
        </p:nvSpPr>
        <p:spPr/>
        <p:txBody>
          <a:bodyPr wrap="square"/>
          <a:lstStyle/>
          <a:p>
            <a:r>
              <a:rPr sz="1400" b="1"/>
              <a:t>Copalis and Mocrocks are the donor for ~63% </a:t>
            </a:r>
            <a:r>
              <a:rPr sz="1400"/>
              <a:t>of Long Beach / Twin Harbors imputed days; jointly they are the best donor (sd 0.43 in log, against 0.62 and 0.64 for either alone).</a:t>
            </a:r>
          </a:p>
          <a:p>
            <a:r>
              <a:rPr sz="1400" b="1"/>
              <a:t>Under state-Quinault day-trading (2 on, 2 off) </a:t>
            </a:r>
            <a:r>
              <a:rPr sz="1400"/>
              <a:t>exactly one of the two is state-counted each dig day, so the state seldom holds that best joint donor.</a:t>
            </a:r>
          </a:p>
          <a:p>
            <a:r>
              <a:rPr sz="1400" b="1"/>
              <a:t>The Quinault dig the alternate days, </a:t>
            </a:r>
            <a:r>
              <a:rPr sz="1400"/>
              <a:t>but theirs is a smaller, lower-participation fishery: its effort and catch rate do not proxy the state, so those counts cannot fill the state donor series.</a:t>
            </a:r>
          </a:p>
          <a:p>
            <a:r>
              <a:rPr sz="1400" b="1"/>
              <a:t>Pulling state sampling to 45% </a:t>
            </a:r>
            <a:r>
              <a:rPr sz="1400"/>
              <a:t>raises single-day imputation error from 0.45 to 0.50 in the log, with no data-share available to offset it.</a:t>
            </a:r>
          </a:p>
        </p:txBody>
      </p:sp>
      <p:sp>
        <p:nvSpPr>
          <p:cNvPr id="5" name="Content Placeholder 4"/>
          <p:cNvSpPr>
            <a:spLocks noGrp="1"/>
          </p:cNvSpPr>
          <p:nvPr>
            <p:ph sz="half" idx="11"/>
          </p:nvPr>
        </p:nvSpPr>
        <p:spPr/>
        <p:txBody>
          <a:bodyPr/>
          <a:lstStyle/>
          <a:p>
            <a:endParaRPr/>
          </a:p>
        </p:txBody>
      </p:sp>
      <p:pic>
        <p:nvPicPr>
          <p:cNvPr id="6" name="Picture 5" descr="fig15_donor_comanagement.png"/>
          <p:cNvPicPr>
            <a:picLocks noChangeAspect="1"/>
          </p:cNvPicPr>
          <p:nvPr/>
        </p:nvPicPr>
        <p:blipFill>
          <a:blip r:embed="rId3"/>
          <a:stretch>
            <a:fillRect/>
          </a:stretch>
        </p:blipFill>
        <p:spPr>
          <a:xfrm>
            <a:off x="6178610" y="1692602"/>
            <a:ext cx="5403790" cy="324227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A Long Beach ingress / egress pilot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design: a whole-beach egress survey across six approaches</a:t>
            </a:r>
          </a:p>
        </p:txBody>
      </p:sp>
      <p:graphicFrame>
        <p:nvGraphicFramePr>
          <p:cNvPr id="3" name="Table 2"/>
          <p:cNvGraphicFramePr>
            <a:graphicFrameLocks noGrp="1"/>
          </p:cNvGraphicFramePr>
          <p:nvPr/>
        </p:nvGraphicFramePr>
        <p:xfrm>
          <a:off x="594360" y="1325880"/>
          <a:ext cx="10607040" cy="2560320"/>
        </p:xfrm>
        <a:graphic>
          <a:graphicData uri="http://schemas.openxmlformats.org/drawingml/2006/table">
            <a:tbl>
              <a:tblPr firstRow="1" bandRow="1">
                <a:tableStyleId>{5C22544A-7EE6-4342-B048-85BDC9FD1C3A}</a:tableStyleId>
              </a:tblPr>
              <a:tblGrid>
                <a:gridCol w="3657600">
                  <a:extLst>
                    <a:ext uri="{9D8B030D-6E8A-4147-A177-3AD203B41FA5}">
                      <a16:colId xmlns:a16="http://schemas.microsoft.com/office/drawing/2014/main" val="20000"/>
                    </a:ext>
                  </a:extLst>
                </a:gridCol>
                <a:gridCol w="493776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365760">
                <a:tc>
                  <a:txBody>
                    <a:bodyPr/>
                    <a:lstStyle/>
                    <a:p>
                      <a:r>
                        <a:rPr sz="1300" b="1">
                          <a:solidFill>
                            <a:srgbClr val="FFFFFF"/>
                          </a:solidFill>
                        </a:rPr>
                        <a:t>Vehicle approach  (south to north)</a:t>
                      </a:r>
                    </a:p>
                  </a:txBody>
                  <a:tcPr>
                    <a:solidFill>
                      <a:srgbClr val="1B3A5C"/>
                    </a:solidFill>
                  </a:tcPr>
                </a:tc>
                <a:tc>
                  <a:txBody>
                    <a:bodyPr/>
                    <a:lstStyle/>
                    <a:p>
                      <a:r>
                        <a:rPr sz="1300" b="1">
                          <a:solidFill>
                            <a:srgbClr val="FFFFFF"/>
                          </a:solidFill>
                        </a:rPr>
                        <a:t>Historical egress coverage</a:t>
                      </a:r>
                    </a:p>
                  </a:txBody>
                  <a:tcPr>
                    <a:solidFill>
                      <a:srgbClr val="1B3A5C"/>
                    </a:solidFill>
                  </a:tcPr>
                </a:tc>
                <a:tc>
                  <a:txBody>
                    <a:bodyPr/>
                    <a:lstStyle/>
                    <a:p>
                      <a:r>
                        <a:rPr sz="1300" b="1">
                          <a:solidFill>
                            <a:srgbClr val="FFFFFF"/>
                          </a:solidFill>
                        </a:rPr>
                        <a:t>Pilot role</a:t>
                      </a:r>
                    </a:p>
                  </a:txBody>
                  <a:tcPr>
                    <a:solidFill>
                      <a:srgbClr val="1B3A5C"/>
                    </a:solidFill>
                  </a:tcPr>
                </a:tc>
                <a:extLst>
                  <a:ext uri="{0D108BD9-81ED-4DB2-BD59-A6C34878D82A}">
                    <a16:rowId xmlns:a16="http://schemas.microsoft.com/office/drawing/2014/main" val="10000"/>
                  </a:ext>
                </a:extLst>
              </a:tr>
              <a:tr h="365760">
                <a:tc>
                  <a:txBody>
                    <a:bodyPr/>
                    <a:lstStyle/>
                    <a:p>
                      <a:r>
                        <a:rPr sz="1200"/>
                        <a:t>Seaview</a:t>
                      </a:r>
                    </a:p>
                  </a:txBody>
                  <a:tcPr/>
                </a:tc>
                <a:tc>
                  <a:txBody>
                    <a:bodyPr/>
                    <a:lstStyle/>
                    <a:p>
                      <a:r>
                        <a:rPr sz="1200"/>
                        <a:t>2004 only (south to Beards Hollow)</a:t>
                      </a:r>
                    </a:p>
                  </a:txBody>
                  <a:tcPr/>
                </a:tc>
                <a:tc>
                  <a:txBody>
                    <a:bodyPr/>
                    <a:lstStyle/>
                    <a:p>
                      <a:r>
                        <a:rPr sz="1200"/>
                        <a:t>Counter</a:t>
                      </a:r>
                    </a:p>
                  </a:txBody>
                  <a:tcPr/>
                </a:tc>
                <a:extLst>
                  <a:ext uri="{0D108BD9-81ED-4DB2-BD59-A6C34878D82A}">
                    <a16:rowId xmlns:a16="http://schemas.microsoft.com/office/drawing/2014/main" val="10001"/>
                  </a:ext>
                </a:extLst>
              </a:tr>
              <a:tr h="365760">
                <a:tc>
                  <a:txBody>
                    <a:bodyPr/>
                    <a:lstStyle/>
                    <a:p>
                      <a:r>
                        <a:rPr sz="1200"/>
                        <a:t>Long Beach (Bolstad)</a:t>
                      </a:r>
                    </a:p>
                  </a:txBody>
                  <a:tcPr/>
                </a:tc>
                <a:tc>
                  <a:txBody>
                    <a:bodyPr/>
                    <a:lstStyle/>
                    <a:p>
                      <a:r>
                        <a:rPr sz="1200"/>
                        <a:t>never counted</a:t>
                      </a:r>
                    </a:p>
                  </a:txBody>
                  <a:tcPr/>
                </a:tc>
                <a:tc>
                  <a:txBody>
                    <a:bodyPr/>
                    <a:lstStyle/>
                    <a:p>
                      <a:r>
                        <a:rPr sz="1200"/>
                        <a:t>Counter</a:t>
                      </a:r>
                    </a:p>
                  </a:txBody>
                  <a:tcPr/>
                </a:tc>
                <a:extLst>
                  <a:ext uri="{0D108BD9-81ED-4DB2-BD59-A6C34878D82A}">
                    <a16:rowId xmlns:a16="http://schemas.microsoft.com/office/drawing/2014/main" val="10002"/>
                  </a:ext>
                </a:extLst>
              </a:tr>
              <a:tr h="365760">
                <a:tc>
                  <a:txBody>
                    <a:bodyPr/>
                    <a:lstStyle/>
                    <a:p>
                      <a:r>
                        <a:rPr sz="1200"/>
                        <a:t>Cranberry</a:t>
                      </a:r>
                    </a:p>
                  </a:txBody>
                  <a:tcPr/>
                </a:tc>
                <a:tc>
                  <a:txBody>
                    <a:bodyPr/>
                    <a:lstStyle/>
                    <a:p>
                      <a:r>
                        <a:rPr sz="1200"/>
                        <a:t>never counted</a:t>
                      </a:r>
                    </a:p>
                  </a:txBody>
                  <a:tcPr/>
                </a:tc>
                <a:tc>
                  <a:txBody>
                    <a:bodyPr/>
                    <a:lstStyle/>
                    <a:p>
                      <a:r>
                        <a:rPr sz="1200"/>
                        <a:t>Counter</a:t>
                      </a:r>
                    </a:p>
                  </a:txBody>
                  <a:tcPr/>
                </a:tc>
                <a:extLst>
                  <a:ext uri="{0D108BD9-81ED-4DB2-BD59-A6C34878D82A}">
                    <a16:rowId xmlns:a16="http://schemas.microsoft.com/office/drawing/2014/main" val="10003"/>
                  </a:ext>
                </a:extLst>
              </a:tr>
              <a:tr h="365760">
                <a:tc>
                  <a:txBody>
                    <a:bodyPr/>
                    <a:lstStyle/>
                    <a:p>
                      <a:r>
                        <a:rPr sz="1200"/>
                        <a:t>Klipsan</a:t>
                      </a:r>
                    </a:p>
                  </a:txBody>
                  <a:tcPr/>
                </a:tc>
                <a:tc>
                  <a:txBody>
                    <a:bodyPr/>
                    <a:lstStyle/>
                    <a:p>
                      <a:r>
                        <a:rPr sz="1200"/>
                        <a:t>never counted</a:t>
                      </a:r>
                    </a:p>
                  </a:txBody>
                  <a:tcPr/>
                </a:tc>
                <a:tc>
                  <a:txBody>
                    <a:bodyPr/>
                    <a:lstStyle/>
                    <a:p>
                      <a:r>
                        <a:rPr sz="1200"/>
                        <a:t>Counter</a:t>
                      </a:r>
                    </a:p>
                  </a:txBody>
                  <a:tcPr/>
                </a:tc>
                <a:extLst>
                  <a:ext uri="{0D108BD9-81ED-4DB2-BD59-A6C34878D82A}">
                    <a16:rowId xmlns:a16="http://schemas.microsoft.com/office/drawing/2014/main" val="10004"/>
                  </a:ext>
                </a:extLst>
              </a:tr>
              <a:tr h="365760">
                <a:tc>
                  <a:txBody>
                    <a:bodyPr/>
                    <a:lstStyle/>
                    <a:p>
                      <a:r>
                        <a:rPr sz="1200"/>
                        <a:t>Ocean Park</a:t>
                      </a:r>
                    </a:p>
                  </a:txBody>
                  <a:tcPr/>
                </a:tc>
                <a:tc>
                  <a:txBody>
                    <a:bodyPr/>
                    <a:lstStyle/>
                    <a:p>
                      <a:r>
                        <a:rPr sz="1200"/>
                        <a:t>never counted</a:t>
                      </a:r>
                    </a:p>
                  </a:txBody>
                  <a:tcPr/>
                </a:tc>
                <a:tc>
                  <a:txBody>
                    <a:bodyPr/>
                    <a:lstStyle/>
                    <a:p>
                      <a:r>
                        <a:rPr sz="1200"/>
                        <a:t>Counter</a:t>
                      </a:r>
                    </a:p>
                  </a:txBody>
                  <a:tcPr/>
                </a:tc>
                <a:extLst>
                  <a:ext uri="{0D108BD9-81ED-4DB2-BD59-A6C34878D82A}">
                    <a16:rowId xmlns:a16="http://schemas.microsoft.com/office/drawing/2014/main" val="10005"/>
                  </a:ext>
                </a:extLst>
              </a:tr>
              <a:tr h="365760">
                <a:tc>
                  <a:txBody>
                    <a:bodyPr/>
                    <a:lstStyle/>
                    <a:p>
                      <a:r>
                        <a:rPr sz="1200"/>
                        <a:t>Oysterville</a:t>
                      </a:r>
                    </a:p>
                  </a:txBody>
                  <a:tcPr/>
                </a:tc>
                <a:tc>
                  <a:txBody>
                    <a:bodyPr/>
                    <a:lstStyle/>
                    <a:p>
                      <a:r>
                        <a:rPr sz="1200"/>
                        <a:t>1990, 1998, 2004, 2011 (north to Leadbetter)</a:t>
                      </a:r>
                    </a:p>
                  </a:txBody>
                  <a:tcPr/>
                </a:tc>
                <a:tc>
                  <a:txBody>
                    <a:bodyPr/>
                    <a:lstStyle/>
                    <a:p>
                      <a:r>
                        <a:rPr sz="1200"/>
                        <a:t>Counter</a:t>
                      </a:r>
                    </a:p>
                  </a:txBody>
                  <a:tcPr/>
                </a:tc>
                <a:extLst>
                  <a:ext uri="{0D108BD9-81ED-4DB2-BD59-A6C34878D82A}">
                    <a16:rowId xmlns:a16="http://schemas.microsoft.com/office/drawing/2014/main" val="10006"/>
                  </a:ext>
                </a:extLst>
              </a:tr>
            </a:tbl>
          </a:graphicData>
        </a:graphic>
      </p:graphicFrame>
      <p:sp>
        <p:nvSpPr>
          <p:cNvPr id="4" name="TextBox 3"/>
          <p:cNvSpPr txBox="1"/>
          <p:nvPr/>
        </p:nvSpPr>
        <p:spPr>
          <a:xfrm>
            <a:off x="594360" y="4297680"/>
            <a:ext cx="10972800" cy="1554480"/>
          </a:xfrm>
          <a:prstGeom prst="rect">
            <a:avLst/>
          </a:prstGeom>
          <a:noFill/>
        </p:spPr>
        <p:txBody>
          <a:bodyPr wrap="square">
            <a:spAutoFit/>
          </a:bodyPr>
          <a:lstStyle/>
          <a:p>
            <a:r>
              <a:rPr sz="1300"/>
              <a:t>One counter per approach records cars on and off in 15-minute bins across the tidal window (about three hours before to ninety minutes after low water); a roving crew runs the instantaneous beach count near the peak and works the full length for catch and effort. Long Beach splits into seven census sections between Beards Hollow and Leadbetter Point. Four of its six approaches have never been counted, and no survey has ever counted all six on the same day: coverage was one end or the other, on separate days. This is the first whole-beach measurement.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Staffing: eight for Long Beach, thirteen with a paired northern beach</a:t>
            </a:r>
          </a:p>
        </p:txBody>
      </p:sp>
      <p:graphicFrame>
        <p:nvGraphicFramePr>
          <p:cNvPr id="3" name="Table 2"/>
          <p:cNvGraphicFramePr>
            <a:graphicFrameLocks noGrp="1"/>
          </p:cNvGraphicFramePr>
          <p:nvPr/>
        </p:nvGraphicFramePr>
        <p:xfrm>
          <a:off x="594360" y="1325880"/>
          <a:ext cx="10972800" cy="2194560"/>
        </p:xfrm>
        <a:graphic>
          <a:graphicData uri="http://schemas.openxmlformats.org/drawingml/2006/table">
            <a:tbl>
              <a:tblPr firstRow="1" bandRow="1">
                <a:tableStyleId>{5C22544A-7EE6-4342-B048-85BDC9FD1C3A}</a:tableStyleId>
              </a:tblPr>
              <a:tblGrid>
                <a:gridCol w="512064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4663440">
                  <a:extLst>
                    <a:ext uri="{9D8B030D-6E8A-4147-A177-3AD203B41FA5}">
                      <a16:colId xmlns:a16="http://schemas.microsoft.com/office/drawing/2014/main" val="20002"/>
                    </a:ext>
                  </a:extLst>
                </a:gridCol>
              </a:tblGrid>
              <a:tr h="365760">
                <a:tc>
                  <a:txBody>
                    <a:bodyPr/>
                    <a:lstStyle/>
                    <a:p>
                      <a:r>
                        <a:rPr sz="1300" b="1">
                          <a:solidFill>
                            <a:srgbClr val="FFFFFF"/>
                          </a:solidFill>
                        </a:rPr>
                        <a:t>Role</a:t>
                      </a:r>
                    </a:p>
                  </a:txBody>
                  <a:tcPr>
                    <a:solidFill>
                      <a:srgbClr val="1B3A5C"/>
                    </a:solidFill>
                  </a:tcPr>
                </a:tc>
                <a:tc>
                  <a:txBody>
                    <a:bodyPr/>
                    <a:lstStyle/>
                    <a:p>
                      <a:r>
                        <a:rPr sz="1300" b="1">
                          <a:solidFill>
                            <a:srgbClr val="FFFFFF"/>
                          </a:solidFill>
                        </a:rPr>
                        <a:t>Staff</a:t>
                      </a:r>
                    </a:p>
                  </a:txBody>
                  <a:tcPr>
                    <a:solidFill>
                      <a:srgbClr val="1B3A5C"/>
                    </a:solidFill>
                  </a:tcPr>
                </a:tc>
                <a:tc>
                  <a:txBody>
                    <a:bodyPr/>
                    <a:lstStyle/>
                    <a:p>
                      <a:r>
                        <a:rPr sz="1300" b="1">
                          <a:solidFill>
                            <a:srgbClr val="FFFFFF"/>
                          </a:solidFill>
                        </a:rPr>
                        <a:t>Basis</a:t>
                      </a:r>
                    </a:p>
                  </a:txBody>
                  <a:tcPr>
                    <a:solidFill>
                      <a:srgbClr val="1B3A5C"/>
                    </a:solidFill>
                  </a:tcPr>
                </a:tc>
                <a:extLst>
                  <a:ext uri="{0D108BD9-81ED-4DB2-BD59-A6C34878D82A}">
                    <a16:rowId xmlns:a16="http://schemas.microsoft.com/office/drawing/2014/main" val="10000"/>
                  </a:ext>
                </a:extLst>
              </a:tr>
              <a:tr h="365760">
                <a:tc>
                  <a:txBody>
                    <a:bodyPr/>
                    <a:lstStyle/>
                    <a:p>
                      <a:r>
                        <a:rPr sz="1200"/>
                        <a:t>Approach counters</a:t>
                      </a:r>
                    </a:p>
                  </a:txBody>
                  <a:tcPr/>
                </a:tc>
                <a:tc>
                  <a:txBody>
                    <a:bodyPr/>
                    <a:lstStyle/>
                    <a:p>
                      <a:r>
                        <a:rPr sz="1200"/>
                        <a:t>6</a:t>
                      </a:r>
                    </a:p>
                  </a:txBody>
                  <a:tcPr/>
                </a:tc>
                <a:tc>
                  <a:txBody>
                    <a:bodyPr/>
                    <a:lstStyle/>
                    <a:p>
                      <a:r>
                        <a:rPr sz="1200"/>
                        <a:t>one per drivable approach (1998 field model)</a:t>
                      </a:r>
                    </a:p>
                  </a:txBody>
                  <a:tcPr/>
                </a:tc>
                <a:extLst>
                  <a:ext uri="{0D108BD9-81ED-4DB2-BD59-A6C34878D82A}">
                    <a16:rowId xmlns:a16="http://schemas.microsoft.com/office/drawing/2014/main" val="10001"/>
                  </a:ext>
                </a:extLst>
              </a:tr>
              <a:tr h="365760">
                <a:tc>
                  <a:txBody>
                    <a:bodyPr/>
                    <a:lstStyle/>
                    <a:p>
                      <a:r>
                        <a:rPr sz="1200"/>
                        <a:t>Roving beach-count / interview crews</a:t>
                      </a:r>
                    </a:p>
                  </a:txBody>
                  <a:tcPr/>
                </a:tc>
                <a:tc>
                  <a:txBody>
                    <a:bodyPr/>
                    <a:lstStyle/>
                    <a:p>
                      <a:r>
                        <a:rPr sz="1200"/>
                        <a:t>2</a:t>
                      </a:r>
                    </a:p>
                  </a:txBody>
                  <a:tcPr/>
                </a:tc>
                <a:tc>
                  <a:txBody>
                    <a:bodyPr/>
                    <a:lstStyle/>
                    <a:p>
                      <a:r>
                        <a:rPr sz="1200"/>
                        <a:t>28-mile beach, up to ~5,200 trips on a 90th-percentile day</a:t>
                      </a:r>
                    </a:p>
                  </a:txBody>
                  <a:tcPr/>
                </a:tc>
                <a:extLst>
                  <a:ext uri="{0D108BD9-81ED-4DB2-BD59-A6C34878D82A}">
                    <a16:rowId xmlns:a16="http://schemas.microsoft.com/office/drawing/2014/main" val="10002"/>
                  </a:ext>
                </a:extLst>
              </a:tr>
              <a:tr h="365760">
                <a:tc>
                  <a:txBody>
                    <a:bodyPr/>
                    <a:lstStyle/>
                    <a:p>
                      <a:r>
                        <a:rPr sz="1200" b="1"/>
                        <a:t>Long Beach core, per survey day</a:t>
                      </a:r>
                    </a:p>
                  </a:txBody>
                  <a:tcPr/>
                </a:tc>
                <a:tc>
                  <a:txBody>
                    <a:bodyPr/>
                    <a:lstStyle/>
                    <a:p>
                      <a:r>
                        <a:rPr sz="1200" b="1"/>
                        <a:t>8</a:t>
                      </a:r>
                    </a:p>
                  </a:txBody>
                  <a:tcPr/>
                </a:tc>
                <a:tc>
                  <a:txBody>
                    <a:bodyPr/>
                    <a:lstStyle/>
                    <a:p>
                      <a:endParaRPr/>
                    </a:p>
                  </a:txBody>
                  <a:tcPr/>
                </a:tc>
                <a:extLst>
                  <a:ext uri="{0D108BD9-81ED-4DB2-BD59-A6C34878D82A}">
                    <a16:rowId xmlns:a16="http://schemas.microsoft.com/office/drawing/2014/main" val="10003"/>
                  </a:ext>
                </a:extLst>
              </a:tr>
              <a:tr h="365760">
                <a:tc>
                  <a:txBody>
                    <a:bodyPr/>
                    <a:lstStyle/>
                    <a:p>
                      <a:r>
                        <a:rPr sz="1200"/>
                        <a:t>Paired northern egress (Copalis or Mocrocks)</a:t>
                      </a:r>
                    </a:p>
                  </a:txBody>
                  <a:tcPr/>
                </a:tc>
                <a:tc>
                  <a:txBody>
                    <a:bodyPr/>
                    <a:lstStyle/>
                    <a:p>
                      <a:r>
                        <a:rPr sz="1200"/>
                        <a:t>+5</a:t>
                      </a:r>
                    </a:p>
                  </a:txBody>
                  <a:tcPr/>
                </a:tc>
                <a:tc>
                  <a:txBody>
                    <a:bodyPr/>
                    <a:lstStyle/>
                    <a:p>
                      <a:r>
                        <a:rPr sz="1200"/>
                        <a:t>same-day donor truth on a subset of days</a:t>
                      </a:r>
                    </a:p>
                  </a:txBody>
                  <a:tcPr/>
                </a:tc>
                <a:extLst>
                  <a:ext uri="{0D108BD9-81ED-4DB2-BD59-A6C34878D82A}">
                    <a16:rowId xmlns:a16="http://schemas.microsoft.com/office/drawing/2014/main" val="10004"/>
                  </a:ext>
                </a:extLst>
              </a:tr>
              <a:tr h="365760">
                <a:tc>
                  <a:txBody>
                    <a:bodyPr/>
                    <a:lstStyle/>
                    <a:p>
                      <a:r>
                        <a:rPr sz="1200" b="1"/>
                        <a:t>Peak, on a paired day</a:t>
                      </a:r>
                    </a:p>
                  </a:txBody>
                  <a:tcPr/>
                </a:tc>
                <a:tc>
                  <a:txBody>
                    <a:bodyPr/>
                    <a:lstStyle/>
                    <a:p>
                      <a:r>
                        <a:rPr sz="1200" b="1"/>
                        <a:t>13</a:t>
                      </a:r>
                    </a:p>
                  </a:txBody>
                  <a:tcPr/>
                </a:tc>
                <a:tc>
                  <a:txBody>
                    <a:bodyPr/>
                    <a:lstStyle/>
                    <a:p>
                      <a:endParaRPr/>
                    </a:p>
                  </a:txBody>
                  <a:tcPr/>
                </a:tc>
                <a:extLst>
                  <a:ext uri="{0D108BD9-81ED-4DB2-BD59-A6C34878D82A}">
                    <a16:rowId xmlns:a16="http://schemas.microsoft.com/office/drawing/2014/main" val="10005"/>
                  </a:ext>
                </a:extLst>
              </a:tr>
            </a:tbl>
          </a:graphicData>
        </a:graphic>
      </p:graphicFrame>
      <p:sp>
        <p:nvSpPr>
          <p:cNvPr id="4" name="TextBox 3"/>
          <p:cNvSpPr txBox="1"/>
          <p:nvPr/>
        </p:nvSpPr>
        <p:spPr>
          <a:xfrm>
            <a:off x="594360" y="4160520"/>
            <a:ext cx="10972800" cy="1554480"/>
          </a:xfrm>
          <a:prstGeom prst="rect">
            <a:avLst/>
          </a:prstGeom>
          <a:noFill/>
        </p:spPr>
        <p:txBody>
          <a:bodyPr wrap="square">
            <a:spAutoFit/>
          </a:bodyPr>
          <a:lstStyle/>
          <a:p>
            <a:r>
              <a:rPr sz="1300"/>
              <a:t>Counters are stationary and low-skill (enforcement, seasonals, trained volunteers); the roving crews are the program's regular samplers, who are on the beach that day regardless, so the marginal cost is mainly the six counters. On a subset of days, add a whole-beach egress at whichever northern donor the state is digging that day. That yields paired same-day truth at donor and target, measuring the imputation transfer directly and adding to the 97 same-day pairs that anchor the joint-donor error (sd 0.43).</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it buys: from 18% toward 6%, and a template for partial surveys</a:t>
            </a:r>
          </a:p>
        </p:txBody>
      </p:sp>
      <p:sp>
        <p:nvSpPr>
          <p:cNvPr id="3" name="Content Placeholder 2"/>
          <p:cNvSpPr>
            <a:spLocks noGrp="1"/>
          </p:cNvSpPr>
          <p:nvPr>
            <p:ph sz="half" idx="1"/>
          </p:nvPr>
        </p:nvSpPr>
        <p:spPr>
          <a:xfrm>
            <a:off x="593212" y="1837765"/>
            <a:ext cx="5420180" cy="4053463"/>
          </a:xfrm>
        </p:spPr>
        <p:txBody>
          <a:bodyPr wrap="square"/>
          <a:lstStyle/>
          <a:p>
            <a:r>
              <a:rPr sz="1400" b="1" dirty="0"/>
              <a:t>Today: 18.4% relative </a:t>
            </a:r>
            <a:r>
              <a:rPr sz="1400" b="1" dirty="0" err="1"/>
              <a:t>sd</a:t>
            </a:r>
            <a:r>
              <a:rPr sz="1400" b="1" dirty="0"/>
              <a:t> on three daylight surveys, newest 2011. </a:t>
            </a:r>
            <a:r>
              <a:rPr sz="1400" dirty="0"/>
              <a:t>Between-survey error falls as one over the root of the survey count.</a:t>
            </a:r>
          </a:p>
          <a:p>
            <a:r>
              <a:rPr sz="1400" b="1" dirty="0"/>
              <a:t>A pilot season (~8 whole-beach surveys) </a:t>
            </a:r>
            <a:r>
              <a:rPr sz="1400" dirty="0"/>
              <a:t>roughly halves it to ~11%; a ~16-survey rebuild reaches ~8%, approaching the ~6% of the refreshed northern beaches.</a:t>
            </a:r>
          </a:p>
          <a:p>
            <a:r>
              <a:rPr sz="1400" b="1" dirty="0"/>
              <a:t>Whole-beach coverage also retires the section-ratio error (</a:t>
            </a:r>
            <a:r>
              <a:rPr sz="1400" b="1" dirty="0" err="1"/>
              <a:t>sd</a:t>
            </a:r>
            <a:r>
              <a:rPr sz="1400" b="1" dirty="0"/>
              <a:t> 0.281) </a:t>
            </a:r>
            <a:r>
              <a:rPr sz="1400" dirty="0"/>
              <a:t>that the historical single-approach partials cannot.</a:t>
            </a:r>
          </a:p>
          <a:p>
            <a:r>
              <a:rPr sz="1400" b="1" dirty="0"/>
              <a:t>It calibrates the section shares, </a:t>
            </a:r>
            <a:r>
              <a:rPr sz="1400" dirty="0"/>
              <a:t>so future cheap partial surveys (one approach) can be expanded reliably instead of imputed.</a:t>
            </a:r>
          </a:p>
        </p:txBody>
      </p:sp>
      <p:sp>
        <p:nvSpPr>
          <p:cNvPr id="5" name="Content Placeholder 4"/>
          <p:cNvSpPr>
            <a:spLocks noGrp="1"/>
          </p:cNvSpPr>
          <p:nvPr>
            <p:ph sz="half" idx="11"/>
          </p:nvPr>
        </p:nvSpPr>
        <p:spPr/>
        <p:txBody>
          <a:bodyPr/>
          <a:lstStyle/>
          <a:p>
            <a:endParaRPr/>
          </a:p>
        </p:txBody>
      </p:sp>
      <p:pic>
        <p:nvPicPr>
          <p:cNvPr id="6" name="Picture 5" descr="fig16_lb_survey_target.png"/>
          <p:cNvPicPr>
            <a:picLocks noChangeAspect="1"/>
          </p:cNvPicPr>
          <p:nvPr/>
        </p:nvPicPr>
        <p:blipFill>
          <a:blip r:embed="rId3"/>
          <a:stretch>
            <a:fillRect/>
          </a:stretch>
        </p:blipFill>
        <p:spPr>
          <a:xfrm>
            <a:off x="6178610" y="1692602"/>
            <a:ext cx="5403790" cy="3242274"/>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Recommendations, in priority order</a:t>
            </a:r>
          </a:p>
        </p:txBody>
      </p:sp>
      <p:sp>
        <p:nvSpPr>
          <p:cNvPr id="3" name="Content Placeholder 2"/>
          <p:cNvSpPr>
            <a:spLocks noGrp="1"/>
          </p:cNvSpPr>
          <p:nvPr>
            <p:ph idx="1"/>
          </p:nvPr>
        </p:nvSpPr>
        <p:spPr/>
        <p:txBody>
          <a:bodyPr wrap="square"/>
          <a:lstStyle/>
          <a:p>
            <a:r>
              <a:rPr sz="1400" b="1"/>
              <a:t>1.  Survey Long Beach first. </a:t>
            </a:r>
            <a:r>
              <a:rPr sz="1400"/>
              <a:t>Run the whole-beach egress pilot, six approaches and about eight staff, both tide conditions. The correction factor is the largest term and Long Beach's table is the thinnest and oldest.</a:t>
            </a:r>
          </a:p>
          <a:p>
            <a:r>
              <a:rPr sz="1400" b="1"/>
              <a:t>2.  Hold the southern donor at its co-management floor. </a:t>
            </a:r>
            <a:r>
              <a:rPr sz="1400"/>
              <a:t>Keep one of Copalis or Mocrocks state-counted every dig day, which the 2-on / 2-off calendar already delivers. The Quinault's alternate-day counts cannot substitute for the state.</a:t>
            </a:r>
          </a:p>
          <a:p>
            <a:r>
              <a:rPr sz="1400" b="1"/>
              <a:t>3.  Pair the pilot with the northern donor on a subset of days </a:t>
            </a:r>
            <a:r>
              <a:rPr sz="1400"/>
              <a:t>to measure the imputation transfer directly and tighten the joint-donor error, rather than leaning on the modeled lag curve.</a:t>
            </a:r>
          </a:p>
          <a:p>
            <a:r>
              <a:rPr sz="1400" b="1"/>
              <a:t>4.  Treat the 45% reallocation as optional, not free. </a:t>
            </a:r>
            <a:r>
              <a:rPr sz="1400"/>
              <a:t>It buys direct Long Beach precision but degrades the donor with no offset; fund Long Beach from dedicated effort where possible.</a:t>
            </a:r>
          </a:p>
          <a:p>
            <a:r>
              <a:rPr sz="1400" b="1"/>
              <a:t>5.  Accept the Copalis floor: </a:t>
            </a:r>
            <a:r>
              <a:rPr sz="1400"/>
              <a:t>a harvest CV of 0.10 is infeasible there at any sampling rate, only more surveys would move it.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Discussion</a:t>
            </a:r>
          </a:p>
        </p:txBody>
      </p:sp>
    </p:spTree>
  </p:cSld>
  <p:clrMapOvr>
    <a:masterClrMapping/>
  </p:clrMapOvr>
</p:sld>
</file>

<file path=ppt/theme/theme1.xml><?xml version="1.0" encoding="utf-8"?>
<a:theme xmlns:a="http://schemas.openxmlformats.org/drawingml/2006/main" name="Office Theme">
  <a:themeElements>
    <a:clrScheme name="Custom 1">
      <a:dk1>
        <a:sysClr val="windowText" lastClr="000000"/>
      </a:dk1>
      <a:lt1>
        <a:sysClr val="window" lastClr="FFFFFF"/>
      </a:lt1>
      <a:dk2>
        <a:srgbClr val="0E2841"/>
      </a:dk2>
      <a:lt2>
        <a:srgbClr val="E8E8E8"/>
      </a:lt2>
      <a:accent1>
        <a:srgbClr val="007B55"/>
      </a:accent1>
      <a:accent2>
        <a:srgbClr val="0F426B"/>
      </a:accent2>
      <a:accent3>
        <a:srgbClr val="92D2D8"/>
      </a:accent3>
      <a:accent4>
        <a:srgbClr val="FFD12E"/>
      </a:accent4>
      <a:accent5>
        <a:srgbClr val="D1D3D4"/>
      </a:accent5>
      <a:accent6>
        <a:srgbClr val="4EA72E"/>
      </a:accent6>
      <a:hlink>
        <a:srgbClr val="009D7D"/>
      </a:hlink>
      <a:folHlink>
        <a:srgbClr val="7286A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c55fcec3-bb2d-4ee6-a56c-bdfd532525fc">
      <Terms xmlns="http://schemas.microsoft.com/office/infopath/2007/PartnerControls"/>
    </lcf76f155ced4ddcb4097134ff3c332f>
    <TaxCatchAll xmlns="73c3c465-f3d4-4d37-9c58-e2ee535ad8e0" xsi:nil="true"/>
    <NameinDAM xmlns="c55fcec3-bb2d-4ee6-a56c-bdfd532525fc"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53DF6C379CEE474091FA722A741F562C" ma:contentTypeVersion="18" ma:contentTypeDescription="Create a new document." ma:contentTypeScope="" ma:versionID="6d943700fdf77bec9a4960ab6af060cd">
  <xsd:schema xmlns:xsd="http://www.w3.org/2001/XMLSchema" xmlns:xs="http://www.w3.org/2001/XMLSchema" xmlns:p="http://schemas.microsoft.com/office/2006/metadata/properties" xmlns:ns1="http://schemas.microsoft.com/sharepoint/v3" xmlns:ns2="c55fcec3-bb2d-4ee6-a56c-bdfd532525fc" xmlns:ns3="73c3c465-f3d4-4d37-9c58-e2ee535ad8e0" targetNamespace="http://schemas.microsoft.com/office/2006/metadata/properties" ma:root="true" ma:fieldsID="f5f2cddc585f7bcfd68998bfccb1991a" ns1:_="" ns2:_="" ns3:_="">
    <xsd:import namespace="http://schemas.microsoft.com/sharepoint/v3"/>
    <xsd:import namespace="c55fcec3-bb2d-4ee6-a56c-bdfd532525fc"/>
    <xsd:import namespace="73c3c465-f3d4-4d37-9c58-e2ee535ad8e0"/>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1:_ip_UnifiedCompliancePolicyProperties" minOccurs="0"/>
                <xsd:element ref="ns1:_ip_UnifiedCompliancePolicyUIAction" minOccurs="0"/>
                <xsd:element ref="ns2:lcf76f155ced4ddcb4097134ff3c332f" minOccurs="0"/>
                <xsd:element ref="ns3:TaxCatchAll" minOccurs="0"/>
                <xsd:element ref="ns2:MediaServiceGenerationTime" minOccurs="0"/>
                <xsd:element ref="ns2:MediaServiceEventHashCode" minOccurs="0"/>
                <xsd:element ref="ns2:MediaServiceOCR" minOccurs="0"/>
                <xsd:element ref="ns2:MediaServiceLocation" minOccurs="0"/>
                <xsd:element ref="ns3:SharedWithUsers" minOccurs="0"/>
                <xsd:element ref="ns3:SharedWithDetails" minOccurs="0"/>
                <xsd:element ref="ns2:MediaServiceObjectDetectorVersions" minOccurs="0"/>
                <xsd:element ref="ns2:MediaServiceSearchProperties" minOccurs="0"/>
                <xsd:element ref="ns2:NameinDAM"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c55fcec3-bb2d-4ee6-a56c-bdfd532525f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dexed="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360a6a1c-50a4-4ec0-87e3-f00760ffe76b" ma:termSetId="09814cd3-568e-fe90-9814-8d621ff8fb84" ma:anchorId="fba54fb3-c3e1-fe81-a776-ca4b69148c4d" ma:open="true" ma:isKeyword="false">
      <xsd:complexType>
        <xsd:sequence>
          <xsd:element ref="pc:Terms" minOccurs="0" maxOccurs="1"/>
        </xsd:sequence>
      </xsd:complex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indexed="true" ma:internalName="MediaServiceLocation" ma:readOnly="true">
      <xsd:simpleType>
        <xsd:restriction base="dms:Text"/>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NameinDAM" ma:index="25" nillable="true" ma:displayName="Name in DAM" ma:format="Dropdown" ma:internalName="NameinDAM">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73c3c465-f3d4-4d37-9c58-e2ee535ad8e0" elementFormDefault="qualified">
    <xsd:import namespace="http://schemas.microsoft.com/office/2006/documentManagement/types"/>
    <xsd:import namespace="http://schemas.microsoft.com/office/infopath/2007/PartnerControls"/>
    <xsd:element name="TaxCatchAll" ma:index="16" nillable="true" ma:displayName="Taxonomy Catch All Column" ma:hidden="true" ma:list="{1c90470e-89a5-48c8-b2d6-7cca2721473a}" ma:internalName="TaxCatchAll" ma:showField="CatchAllData" ma:web="73c3c465-f3d4-4d37-9c58-e2ee535ad8e0">
      <xsd:complexType>
        <xsd:complexContent>
          <xsd:extension base="dms:MultiChoiceLookup">
            <xsd:sequence>
              <xsd:element name="Value" type="dms:Lookup" maxOccurs="unbounded" minOccurs="0" nillable="true"/>
            </xsd:sequence>
          </xsd:extension>
        </xsd:complexContent>
      </xsd:complexType>
    </xsd:element>
    <xsd:element name="SharedWithUsers" ma:index="2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2"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1EA9719-73E1-4AAC-90C2-9E9ED399E0F4}">
  <ds:schemaRefs>
    <ds:schemaRef ds:uri="http://schemas.microsoft.com/sharepoint/v3/contenttype/forms"/>
  </ds:schemaRefs>
</ds:datastoreItem>
</file>

<file path=customXml/itemProps2.xml><?xml version="1.0" encoding="utf-8"?>
<ds:datastoreItem xmlns:ds="http://schemas.openxmlformats.org/officeDocument/2006/customXml" ds:itemID="{B432BB05-EAC0-435E-80C7-C3FC0DCFDF5B}">
  <ds:schemaRefs>
    <ds:schemaRef ds:uri="http://www.w3.org/XML/1998/namespace"/>
    <ds:schemaRef ds:uri="73c3c465-f3d4-4d37-9c58-e2ee535ad8e0"/>
    <ds:schemaRef ds:uri="http://schemas.microsoft.com/sharepoint/v3"/>
    <ds:schemaRef ds:uri="http://schemas.microsoft.com/office/2006/documentManagement/types"/>
    <ds:schemaRef ds:uri="http://purl.org/dc/elements/1.1/"/>
    <ds:schemaRef ds:uri="http://schemas.microsoft.com/office/infopath/2007/PartnerControls"/>
    <ds:schemaRef ds:uri="c55fcec3-bb2d-4ee6-a56c-bdfd532525fc"/>
    <ds:schemaRef ds:uri="http://schemas.openxmlformats.org/package/2006/metadata/core-properties"/>
    <ds:schemaRef ds:uri="http://schemas.microsoft.com/office/2006/metadata/properties"/>
    <ds:schemaRef ds:uri="http://purl.org/dc/dcmitype/"/>
    <ds:schemaRef ds:uri="http://purl.org/dc/terms/"/>
  </ds:schemaRefs>
</ds:datastoreItem>
</file>

<file path=customXml/itemProps3.xml><?xml version="1.0" encoding="utf-8"?>
<ds:datastoreItem xmlns:ds="http://schemas.openxmlformats.org/officeDocument/2006/customXml" ds:itemID="{236337B2-684D-4381-98D1-02BFB399796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c55fcec3-bb2d-4ee6-a56c-bdfd532525fc"/>
    <ds:schemaRef ds:uri="73c3c465-f3d4-4d37-9c58-e2ee535ad8e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45011977-b912-4387-97a4-f4c94a801377}" enabled="1" method="Standard" siteId="{11d0e217-264e-400a-8ba0-57dcc127d72d}" removed="0"/>
</clbl:labelList>
</file>

<file path=docProps/app.xml><?xml version="1.0" encoding="utf-8"?>
<Properties xmlns="http://schemas.openxmlformats.org/officeDocument/2006/extended-properties" xmlns:vt="http://schemas.openxmlformats.org/officeDocument/2006/docPropsVTypes">
  <TotalTime>1747</TotalTime>
  <Words>2017</Words>
  <Application>Microsoft Office PowerPoint</Application>
  <PresentationFormat>Widescreen</PresentationFormat>
  <Paragraphs>155</Paragraphs>
  <Slides>20</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Aptos</vt:lpstr>
      <vt:lpstr>Arial</vt:lpstr>
      <vt:lpstr>Calibri</vt:lpstr>
      <vt:lpstr>Segoe UI</vt:lpstr>
      <vt:lpstr>Office Theme</vt:lpstr>
      <vt:lpstr>In-Season Sampling Design for the Coastal Razor Clam Fishery</vt:lpstr>
      <vt:lpstr>The question this answers</vt:lpstr>
      <vt:lpstr>Priors: what the estimate rests on</vt:lpstr>
      <vt:lpstr>The expansion table is the instrument, and it has moved</vt:lpstr>
      <vt:lpstr>The correction factor dominates, and it does not average down</vt:lpstr>
      <vt:lpstr>For harvest, borrowed catch rate is the largest term up north</vt:lpstr>
      <vt:lpstr>How many days, and which ones</vt:lpstr>
      <vt:lpstr>Count about 45% of a beach's open days, with a floor of two</vt:lpstr>
      <vt:lpstr>Which days to count: the largest-effort days</vt:lpstr>
      <vt:lpstr>Some precision cannot be bought with crew days</vt:lpstr>
      <vt:lpstr>The reallocation pays for itself: minus 19 crew-day units</vt:lpstr>
      <vt:lpstr>Recommendations for the 2026-27 season</vt:lpstr>
      <vt:lpstr>Run egress surveys at Long Beach and Twin Harbors, both conditions</vt:lpstr>
      <vt:lpstr>Pulling the southern beaches back is not free, and no tribal count offsets it</vt:lpstr>
      <vt:lpstr>A Long Beach ingress / egress pilot</vt:lpstr>
      <vt:lpstr>The design: a whole-beach egress survey across six approaches</vt:lpstr>
      <vt:lpstr>Staffing: eight for Long Beach, thirteen with a paired northern beach</vt:lpstr>
      <vt:lpstr>What it buys: from 18% toward 6%, and a template for partial surveys</vt:lpstr>
      <vt:lpstr>Recommendations, in priority order</vt:lpstr>
      <vt:lpstr>Discussion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dc:title>
  <dc:creator>Washington Department of Fish and Wildlife</dc:creator>
  <cp:lastModifiedBy>George, Matthew (DFW)</cp:lastModifiedBy>
  <cp:revision>14</cp:revision>
  <dcterms:created xsi:type="dcterms:W3CDTF">2024-02-02T23:28:24Z</dcterms:created>
  <dcterms:modified xsi:type="dcterms:W3CDTF">2026-07-13T19:26:11Z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5011977-b912-4387-97a4-f4c94a801377_Enabled">
    <vt:lpwstr>true</vt:lpwstr>
  </property>
  <property fmtid="{D5CDD505-2E9C-101B-9397-08002B2CF9AE}" pid="3" name="MSIP_Label_45011977-b912-4387-97a4-f4c94a801377_SetDate">
    <vt:lpwstr>2024-02-03T00:07:05Z</vt:lpwstr>
  </property>
  <property fmtid="{D5CDD505-2E9C-101B-9397-08002B2CF9AE}" pid="4" name="MSIP_Label_45011977-b912-4387-97a4-f4c94a801377_Method">
    <vt:lpwstr>Standard</vt:lpwstr>
  </property>
  <property fmtid="{D5CDD505-2E9C-101B-9397-08002B2CF9AE}" pid="5" name="MSIP_Label_45011977-b912-4387-97a4-f4c94a801377_Name">
    <vt:lpwstr>Uncategorized Data</vt:lpwstr>
  </property>
  <property fmtid="{D5CDD505-2E9C-101B-9397-08002B2CF9AE}" pid="6" name="MSIP_Label_45011977-b912-4387-97a4-f4c94a801377_SiteId">
    <vt:lpwstr>11d0e217-264e-400a-8ba0-57dcc127d72d</vt:lpwstr>
  </property>
  <property fmtid="{D5CDD505-2E9C-101B-9397-08002B2CF9AE}" pid="7" name="MSIP_Label_45011977-b912-4387-97a4-f4c94a801377_ActionId">
    <vt:lpwstr>2dc8ed1d-0dbc-44fc-8405-9fa39dbf00ba</vt:lpwstr>
  </property>
  <property fmtid="{D5CDD505-2E9C-101B-9397-08002B2CF9AE}" pid="8" name="MSIP_Label_45011977-b912-4387-97a4-f4c94a801377_ContentBits">
    <vt:lpwstr>0</vt:lpwstr>
  </property>
  <property fmtid="{D5CDD505-2E9C-101B-9397-08002B2CF9AE}" pid="9" name="ContentTypeId">
    <vt:lpwstr>0x01010053DF6C379CEE474091FA722A741F562C</vt:lpwstr>
  </property>
  <property fmtid="{D5CDD505-2E9C-101B-9397-08002B2CF9AE}" pid="10" name="MediaServiceImageTags">
    <vt:lpwstr/>
  </property>
</Properties>
</file>