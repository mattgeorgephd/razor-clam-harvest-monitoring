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handoutMasterIdLst>
    <p:handoutMasterId r:id="rId22"/>
  </p:handout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7EB4D7-25B6-6B85-9290-F95130246F2E}" name="Couch, Eryn (DFW)" initials="C(" userId="S::eryn.couch@dfw.wa.gov::6628dc54-d9a5-4187-8a46-71485c065632" providerId="AD"/>
  <p188:author id="{DCBB07DC-9E44-AA92-C39B-18FE8A26D185}" name="Hart, Alison L (DFW)" initials="AH" userId="Hart, Alison L (DFW)"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426B"/>
    <a:srgbClr val="92D2D8"/>
    <a:srgbClr val="007B55"/>
    <a:srgbClr val="F15D44"/>
    <a:srgbClr val="5A59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0" d="100"/>
          <a:sy n="110" d="100"/>
        </p:scale>
        <p:origin x="552" y="96"/>
      </p:cViewPr>
      <p:guideLst/>
    </p:cSldViewPr>
  </p:slideViewPr>
  <p:notesTextViewPr>
    <p:cViewPr>
      <p:scale>
        <a:sx n="1" d="1"/>
        <a:sy n="1" d="1"/>
      </p:scale>
      <p:origin x="0" y="0"/>
    </p:cViewPr>
  </p:notesTextViewPr>
  <p:notesViewPr>
    <p:cSldViewPr snapToGrid="0">
      <p:cViewPr varScale="1">
        <p:scale>
          <a:sx n="85" d="100"/>
          <a:sy n="85" d="100"/>
        </p:scale>
        <p:origin x="388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709FEE8-815C-9F09-84E1-59C2DBCAC0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3208CE1-7C1C-D566-D628-3E61F2FFFEA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A1D058-9860-4C37-9D21-AC6EFE975A47}" type="datetimeFigureOut">
              <a:rPr lang="en-US" smtClean="0"/>
              <a:t>7/13/2026</a:t>
            </a:fld>
            <a:endParaRPr lang="en-US"/>
          </a:p>
        </p:txBody>
      </p:sp>
      <p:sp>
        <p:nvSpPr>
          <p:cNvPr id="4" name="Footer Placeholder 3">
            <a:extLst>
              <a:ext uri="{FF2B5EF4-FFF2-40B4-BE49-F238E27FC236}">
                <a16:creationId xmlns:a16="http://schemas.microsoft.com/office/drawing/2014/main" id="{6A63D8D6-66E1-4233-947C-6DCAC93824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1F51885-49A3-9397-8220-7D6CCC81D7B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BAD10-440F-40BF-A94A-4B961E111E2E}" type="slidenum">
              <a:rPr lang="en-US" smtClean="0"/>
              <a:t>‹#›</a:t>
            </a:fld>
            <a:endParaRPr lang="en-US"/>
          </a:p>
        </p:txBody>
      </p:sp>
    </p:spTree>
    <p:extLst>
      <p:ext uri="{BB962C8B-B14F-4D97-AF65-F5344CB8AC3E}">
        <p14:creationId xmlns:p14="http://schemas.microsoft.com/office/powerpoint/2010/main" val="2013050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71631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Goal: present the Section 11 sampling-design result, framed by the error budget (Sec 10) and the history (Sec 6), plus survey recommendations and the Copalis/Mocrocks donor question under co-management.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decision. The standard is external because WDFW has none for this fishery.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6.2-6.3. The instrument itself changed, which propagates into the imputation ratios.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10.1 / Table 14. Key reframing: magnitude is not what matters, correlation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10.2 / Tables 15-16. Foreshadows the donor question: the southern beaches are the donors.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11.2 / Table 19. The headline answer.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11.3 / Table 20.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11.4 / Table 21. Only surveys move the floor.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11.5 / Table 22. Cost-neutral. But see the donor caveat next.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10.3 / Table 4. Priority: TH evening (2 surveys), LB evening &amp; daylight, TH daylight.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11.6 + new analysis (Fig 15). The tribal data-share turns the caveat into an upgrade.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recommendations. #1 and #3 are the ones with the highest leverage.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29B20E8-EE02-1820-5544-18085A336327}"/>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0"/>
            <a:ext cx="12192000" cy="3429000"/>
          </a:xfrm>
          <a:prstGeom prst="rect">
            <a:avLst/>
          </a:prstGeom>
          <a:solidFill>
            <a:srgbClr val="0F42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rgbClr val="007A53"/>
              </a:solidFill>
            </a:endParaRPr>
          </a:p>
        </p:txBody>
      </p:sp>
      <p:sp>
        <p:nvSpPr>
          <p:cNvPr id="8" name="Title 1">
            <a:extLst>
              <a:ext uri="{FF2B5EF4-FFF2-40B4-BE49-F238E27FC236}">
                <a16:creationId xmlns:a16="http://schemas.microsoft.com/office/drawing/2014/main" id="{6BC7EB52-0C9C-F1C6-B091-BF55222372B7}"/>
              </a:ext>
            </a:extLst>
          </p:cNvPr>
          <p:cNvSpPr>
            <a:spLocks noGrp="1"/>
          </p:cNvSpPr>
          <p:nvPr>
            <p:ph type="title" hasCustomPrompt="1"/>
          </p:nvPr>
        </p:nvSpPr>
        <p:spPr>
          <a:xfrm>
            <a:off x="508000" y="1143000"/>
            <a:ext cx="11176000" cy="1143000"/>
          </a:xfrm>
        </p:spPr>
        <p:txBody>
          <a:bodyPr>
            <a:normAutofit/>
          </a:bodyPr>
          <a:lstStyle>
            <a:lvl1pPr>
              <a:defRPr sz="4200" b="1" baseline="0">
                <a:solidFill>
                  <a:schemeClr val="bg1"/>
                </a:solidFill>
                <a:latin typeface="Segoe UI" panose="020B0502040204020203" pitchFamily="34" charset="0"/>
                <a:cs typeface="Segoe UI" panose="020B0502040204020203" pitchFamily="34" charset="0"/>
              </a:defRPr>
            </a:lvl1pPr>
          </a:lstStyle>
          <a:p>
            <a:r>
              <a:rPr lang="en-US" dirty="0"/>
              <a:t>Master title style</a:t>
            </a:r>
          </a:p>
        </p:txBody>
      </p:sp>
      <p:sp>
        <p:nvSpPr>
          <p:cNvPr id="2" name="Content Placeholder 2">
            <a:extLst>
              <a:ext uri="{FF2B5EF4-FFF2-40B4-BE49-F238E27FC236}">
                <a16:creationId xmlns:a16="http://schemas.microsoft.com/office/drawing/2014/main" id="{5A35CD5F-D907-C543-D46B-BA1D02F01831}"/>
              </a:ext>
            </a:extLst>
          </p:cNvPr>
          <p:cNvSpPr>
            <a:spLocks noGrp="1"/>
          </p:cNvSpPr>
          <p:nvPr>
            <p:ph sz="half" idx="1" hasCustomPrompt="1"/>
          </p:nvPr>
        </p:nvSpPr>
        <p:spPr>
          <a:xfrm>
            <a:off x="2180065" y="3645260"/>
            <a:ext cx="7831869" cy="1551490"/>
          </a:xfrm>
        </p:spPr>
        <p:txBody>
          <a:bodyPr>
            <a:normAutofit/>
          </a:bodyPr>
          <a:lstStyle>
            <a:lvl1pPr algn="ctr">
              <a:defRPr sz="2800">
                <a:solidFill>
                  <a:srgbClr val="5A594D"/>
                </a:solidFill>
              </a:defRPr>
            </a:lvl1pPr>
            <a:lvl2pPr>
              <a:defRPr sz="2800"/>
            </a:lvl2pPr>
            <a:lvl3pPr>
              <a:defRPr sz="2400"/>
            </a:lvl3pPr>
            <a:lvl4pPr>
              <a:defRPr sz="2000"/>
            </a:lvl4pPr>
            <a:lvl5pPr>
              <a:defRPr sz="2000"/>
            </a:lvl5pPr>
          </a:lstStyle>
          <a:p>
            <a:pPr lvl="0"/>
            <a:r>
              <a:rPr lang="en-US" dirty="0"/>
              <a:t>Speaker Name</a:t>
            </a:r>
          </a:p>
          <a:p>
            <a:pPr lvl="0"/>
            <a:r>
              <a:rPr lang="en-US" dirty="0"/>
              <a:t>Title, Program Name</a:t>
            </a:r>
          </a:p>
          <a:p>
            <a:pPr lvl="0"/>
            <a:r>
              <a:rPr lang="en-US" dirty="0"/>
              <a:t>Date</a:t>
            </a:r>
          </a:p>
        </p:txBody>
      </p:sp>
      <p:pic>
        <p:nvPicPr>
          <p:cNvPr id="10" name="Picture 8">
            <a:extLst>
              <a:ext uri="{FF2B5EF4-FFF2-40B4-BE49-F238E27FC236}">
                <a16:creationId xmlns:a16="http://schemas.microsoft.com/office/drawing/2014/main" id="{0DCAE3D6-58BB-7007-2D20-F621752710BE}"/>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5023353" y="5314966"/>
            <a:ext cx="2145293" cy="1199670"/>
          </a:xfrm>
          <a:prstGeom prst="rect">
            <a:avLst/>
          </a:prstGeom>
        </p:spPr>
      </p:pic>
      <p:sp>
        <p:nvSpPr>
          <p:cNvPr id="9" name="Rectangle 8">
            <a:extLst>
              <a:ext uri="{FF2B5EF4-FFF2-40B4-BE49-F238E27FC236}">
                <a16:creationId xmlns:a16="http://schemas.microsoft.com/office/drawing/2014/main" id="{D2BDC616-847B-BDDA-D087-1397910DA64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3429000"/>
            <a:ext cx="12192000" cy="76200"/>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3365028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31443-4BAF-A624-C348-6ABCE5F5E791}"/>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2057400"/>
            <a:ext cx="12192000" cy="2743200"/>
          </a:xfrm>
          <a:prstGeom prst="rect">
            <a:avLst/>
          </a:prstGeom>
          <a:solidFill>
            <a:srgbClr val="0F426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a:extLst>
              <a:ext uri="{FF2B5EF4-FFF2-40B4-BE49-F238E27FC236}">
                <a16:creationId xmlns:a16="http://schemas.microsoft.com/office/drawing/2014/main" id="{BDAEBB8A-5F07-AAF3-2E74-B640CE9A3DF6}"/>
              </a:ext>
              <a:ext uri="{C183D7F6-B498-43B3-948B-1728B52AA6E4}">
                <adec:decorative xmlns:adec="http://schemas.microsoft.com/office/drawing/2017/decorative" val="0"/>
              </a:ext>
            </a:extLst>
          </p:cNvPr>
          <p:cNvSpPr>
            <a:spLocks noGrp="1"/>
          </p:cNvSpPr>
          <p:nvPr>
            <p:ph type="ctrTitle" hasCustomPrompt="1"/>
          </p:nvPr>
        </p:nvSpPr>
        <p:spPr>
          <a:xfrm>
            <a:off x="2844800" y="2667000"/>
            <a:ext cx="8534400" cy="1371600"/>
          </a:xfrm>
        </p:spPr>
        <p:txBody>
          <a:bodyPr>
            <a:normAutofit/>
          </a:bodyPr>
          <a:lstStyle>
            <a:lvl1pPr algn="l">
              <a:defRPr sz="4000" b="1">
                <a:solidFill>
                  <a:schemeClr val="bg1"/>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pic>
        <p:nvPicPr>
          <p:cNvPr id="9" name="Picture 8">
            <a:extLst>
              <a:ext uri="{FF2B5EF4-FFF2-40B4-BE49-F238E27FC236}">
                <a16:creationId xmlns:a16="http://schemas.microsoft.com/office/drawing/2014/main" id="{915BFBA1-44DB-AF22-0306-2F799446F6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print">
            <a:extLst>
              <a:ext uri="{28A0092B-C50C-407E-A947-70E740481C1C}">
                <a14:useLocalDpi xmlns:a14="http://schemas.microsoft.com/office/drawing/2010/main" val="0"/>
              </a:ext>
            </a:extLst>
          </a:blip>
          <a:srcRect/>
          <a:stretch/>
        </p:blipFill>
        <p:spPr>
          <a:xfrm>
            <a:off x="813594" y="2543175"/>
            <a:ext cx="1281906" cy="1619250"/>
          </a:xfrm>
          <a:prstGeom prst="rect">
            <a:avLst/>
          </a:prstGeom>
        </p:spPr>
      </p:pic>
      <p:sp>
        <p:nvSpPr>
          <p:cNvPr id="10" name="TextBox 9">
            <a:extLst>
              <a:ext uri="{FF2B5EF4-FFF2-40B4-BE49-F238E27FC236}">
                <a16:creationId xmlns:a16="http://schemas.microsoft.com/office/drawing/2014/main" id="{AEBE36C2-37B7-77C8-A2C8-8CEB14566916}"/>
              </a:ext>
              <a:ext uri="{C183D7F6-B498-43B3-948B-1728B52AA6E4}">
                <adec:decorative xmlns:adec="http://schemas.microsoft.com/office/drawing/2017/decorative" val="0"/>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rgbClr val="5A594D"/>
                </a:solidFill>
                <a:latin typeface="Calibri" panose="020F0502020204030204" pitchFamily="34" charset="0"/>
                <a:ea typeface="Roboto Slab" pitchFamily="2" charset="0"/>
                <a:cs typeface="Calibri" panose="020F0502020204030204" pitchFamily="34" charset="0"/>
              </a:rPr>
              <a:t>‹#›</a:t>
            </a:fld>
            <a:endParaRPr lang="en-US" sz="1100" b="1" dirty="0">
              <a:solidFill>
                <a:srgbClr val="5A594D"/>
              </a:solidFill>
              <a:latin typeface="Calibri" panose="020F0502020204030204" pitchFamily="34" charset="0"/>
              <a:ea typeface="Roboto Slab" pitchFamily="2" charset="0"/>
              <a:cs typeface="Calibri" panose="020F0502020204030204" pitchFamily="34" charset="0"/>
            </a:endParaRPr>
          </a:p>
        </p:txBody>
      </p:sp>
    </p:spTree>
    <p:extLst>
      <p:ext uri="{BB962C8B-B14F-4D97-AF65-F5344CB8AC3E}">
        <p14:creationId xmlns:p14="http://schemas.microsoft.com/office/powerpoint/2010/main" val="2061081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D687948-4D2F-57CF-C228-5BD687C99F52}"/>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8" name="Rectangle 7">
              <a:extLst>
                <a:ext uri="{FF2B5EF4-FFF2-40B4-BE49-F238E27FC236}">
                  <a16:creationId xmlns:a16="http://schemas.microsoft.com/office/drawing/2014/main" id="{5E09C125-C78B-1E7C-9B80-02C0025D15EE}"/>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112519E8-CEBF-D73C-75F5-F992DC2B96EE}"/>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itle 1">
            <a:extLst>
              <a:ext uri="{FF2B5EF4-FFF2-40B4-BE49-F238E27FC236}">
                <a16:creationId xmlns:a16="http://schemas.microsoft.com/office/drawing/2014/main" id="{FEE575BB-B8AD-3961-7DC1-7A99C084FD64}"/>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11" name="Content Placeholder 2">
            <a:extLst>
              <a:ext uri="{FF2B5EF4-FFF2-40B4-BE49-F238E27FC236}">
                <a16:creationId xmlns:a16="http://schemas.microsoft.com/office/drawing/2014/main" id="{849C2614-C120-DE70-9364-4FE58CE3B8B7}"/>
              </a:ext>
            </a:extLst>
          </p:cNvPr>
          <p:cNvSpPr>
            <a:spLocks noGrp="1"/>
          </p:cNvSpPr>
          <p:nvPr>
            <p:ph idx="1" hasCustomPrompt="1"/>
          </p:nvPr>
        </p:nvSpPr>
        <p:spPr>
          <a:xfrm>
            <a:off x="593212" y="1143000"/>
            <a:ext cx="10989187" cy="4800600"/>
          </a:xfrm>
        </p:spPr>
        <p:txBody>
          <a:bodyPr>
            <a:normAutofit/>
          </a:bodyPr>
          <a:lstStyle>
            <a:lvl1pPr marL="0" indent="0">
              <a:buNone/>
              <a:defRPr sz="3200">
                <a:solidFill>
                  <a:srgbClr val="0F426B"/>
                </a:solidFill>
                <a:latin typeface="Calibri" panose="020F0502020204030204" pitchFamily="34" charset="0"/>
                <a:ea typeface="Ebrima" panose="02000000000000000000" pitchFamily="2" charset="0"/>
                <a:cs typeface="Calibri" panose="020F0502020204030204" pitchFamily="34" charset="0"/>
              </a:defRPr>
            </a:lvl1pPr>
            <a:lvl2pPr marL="365760" indent="-274320">
              <a:defRPr sz="2800">
                <a:solidFill>
                  <a:srgbClr val="0F426B"/>
                </a:solidFill>
                <a:latin typeface="Calibri" panose="020F0502020204030204" pitchFamily="34" charset="0"/>
                <a:ea typeface="Ebrima" panose="02000000000000000000" pitchFamily="2" charset="0"/>
                <a:cs typeface="Calibri" panose="020F0502020204030204" pitchFamily="34" charset="0"/>
              </a:defRPr>
            </a:lvl2pPr>
            <a:lvl3pPr marL="640080" indent="-182880">
              <a:defRPr sz="2400">
                <a:solidFill>
                  <a:srgbClr val="0F426B"/>
                </a:solidFill>
                <a:latin typeface="Calibri" panose="020F0502020204030204" pitchFamily="34" charset="0"/>
                <a:ea typeface="Ebrima" panose="02000000000000000000" pitchFamily="2" charset="0"/>
                <a:cs typeface="Calibri" panose="020F0502020204030204" pitchFamily="34" charset="0"/>
              </a:defRPr>
            </a:lvl3pPr>
            <a:lvl4pPr marL="100584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4pPr>
            <a:lvl5pPr marL="118872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Box 11">
            <a:extLst>
              <a:ext uri="{FF2B5EF4-FFF2-40B4-BE49-F238E27FC236}">
                <a16:creationId xmlns:a16="http://schemas.microsoft.com/office/drawing/2014/main" id="{E2A7A3E6-A8D9-A61B-AD99-07756017775B}"/>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3" name="Graphic 12">
            <a:extLst>
              <a:ext uri="{FF2B5EF4-FFF2-40B4-BE49-F238E27FC236}">
                <a16:creationId xmlns:a16="http://schemas.microsoft.com/office/drawing/2014/main" id="{E0E51DA3-5135-68FE-C33C-DE98F42D59C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2208500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60C714A-E925-8EA8-C39B-E61BE08F0257}"/>
              </a:ext>
            </a:extLst>
          </p:cNvPr>
          <p:cNvSpPr>
            <a:spLocks noGrp="1"/>
          </p:cNvSpPr>
          <p:nvPr>
            <p:ph sz="half" idx="2" hasCustomPrompt="1"/>
          </p:nvPr>
        </p:nvSpPr>
        <p:spPr>
          <a:xfrm>
            <a:off x="6178609" y="1156914"/>
            <a:ext cx="5403791"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648515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One Image or Figur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 uri="{C183D7F6-B498-43B3-948B-1728B52AA6E4}">
                <adec:decorative xmlns:adec="http://schemas.microsoft.com/office/drawing/2017/decorative" val="0"/>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Picture Placeholder 2">
            <a:extLst>
              <a:ext uri="{FF2B5EF4-FFF2-40B4-BE49-F238E27FC236}">
                <a16:creationId xmlns:a16="http://schemas.microsoft.com/office/drawing/2014/main" id="{B6584567-5C82-5AF2-16CA-CC5F6B47E877}"/>
              </a:ext>
            </a:extLst>
          </p:cNvPr>
          <p:cNvSpPr>
            <a:spLocks noGrp="1"/>
          </p:cNvSpPr>
          <p:nvPr>
            <p:ph type="pic" idx="10" hasCustomPrompt="1"/>
          </p:nvPr>
        </p:nvSpPr>
        <p:spPr>
          <a:xfrm>
            <a:off x="6178610" y="1160092"/>
            <a:ext cx="5403790" cy="430729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21943B9D-1DE3-3E5F-C3F7-356B4EE5C2FA}"/>
              </a:ext>
            </a:extLst>
          </p:cNvPr>
          <p:cNvSpPr>
            <a:spLocks noGrp="1"/>
          </p:cNvSpPr>
          <p:nvPr>
            <p:ph sz="half" idx="11" hasCustomPrompt="1"/>
          </p:nvPr>
        </p:nvSpPr>
        <p:spPr>
          <a:xfrm>
            <a:off x="6178610" y="5637498"/>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989012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with Two Images or Figures">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6A8D98D-32F0-3856-8ECD-C7676C4EDA2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609601"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2" name="Content Placeholder 2">
            <a:extLst>
              <a:ext uri="{FF2B5EF4-FFF2-40B4-BE49-F238E27FC236}">
                <a16:creationId xmlns:a16="http://schemas.microsoft.com/office/drawing/2014/main" id="{15D12262-081C-F343-CB0B-2EF83F9B63CB}"/>
              </a:ext>
            </a:extLst>
          </p:cNvPr>
          <p:cNvSpPr>
            <a:spLocks noGrp="1"/>
          </p:cNvSpPr>
          <p:nvPr>
            <p:ph sz="half" idx="14" hasCustomPrompt="1"/>
          </p:nvPr>
        </p:nvSpPr>
        <p:spPr>
          <a:xfrm>
            <a:off x="609601"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6178610"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E28F8F39-9023-8D9C-C875-114F54DEB10F}"/>
              </a:ext>
            </a:extLst>
          </p:cNvPr>
          <p:cNvSpPr>
            <a:spLocks noGrp="1"/>
          </p:cNvSpPr>
          <p:nvPr>
            <p:ph sz="half" idx="13" hasCustomPrompt="1"/>
          </p:nvPr>
        </p:nvSpPr>
        <p:spPr>
          <a:xfrm>
            <a:off x="6178610"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001719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Three Images or Figures">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48536B0-08A2-DB4F-63ED-D3626004148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37298"/>
            <a:ext cx="3458197"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BCDC8034-E799-9636-AF90-FB2577D8242E}"/>
              </a:ext>
            </a:extLst>
          </p:cNvPr>
          <p:cNvSpPr>
            <a:spLocks noGrp="1"/>
          </p:cNvSpPr>
          <p:nvPr>
            <p:ph sz="half" idx="14" hasCustomPrompt="1"/>
          </p:nvPr>
        </p:nvSpPr>
        <p:spPr>
          <a:xfrm>
            <a:off x="609601"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4358707"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F0FC55FA-2313-B583-EC02-5AACB520C42E}"/>
              </a:ext>
            </a:extLst>
          </p:cNvPr>
          <p:cNvSpPr>
            <a:spLocks noGrp="1"/>
          </p:cNvSpPr>
          <p:nvPr>
            <p:ph sz="half" idx="15" hasCustomPrompt="1"/>
          </p:nvPr>
        </p:nvSpPr>
        <p:spPr>
          <a:xfrm>
            <a:off x="4358707"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8107813"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85CF2935-7B5A-3650-C578-EBD3489C1894}"/>
              </a:ext>
            </a:extLst>
          </p:cNvPr>
          <p:cNvSpPr>
            <a:spLocks noGrp="1"/>
          </p:cNvSpPr>
          <p:nvPr>
            <p:ph sz="half" idx="16" hasCustomPrompt="1"/>
          </p:nvPr>
        </p:nvSpPr>
        <p:spPr>
          <a:xfrm>
            <a:off x="8107813" y="5789638"/>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8904397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Four Images or Figur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F720FB-C949-3605-A8FD-1E087BC21FC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75636"/>
            <a:ext cx="2458850"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C5A1FA4D-8E9A-32ED-BB2B-2458E8522947}"/>
              </a:ext>
            </a:extLst>
          </p:cNvPr>
          <p:cNvSpPr>
            <a:spLocks noGrp="1"/>
          </p:cNvSpPr>
          <p:nvPr>
            <p:ph sz="half" idx="14" hasCustomPrompt="1"/>
          </p:nvPr>
        </p:nvSpPr>
        <p:spPr>
          <a:xfrm>
            <a:off x="609601"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3454417"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7FF1242B-AA97-4D77-BDE3-9A0D99673126}"/>
              </a:ext>
            </a:extLst>
          </p:cNvPr>
          <p:cNvSpPr>
            <a:spLocks noGrp="1"/>
          </p:cNvSpPr>
          <p:nvPr>
            <p:ph sz="half" idx="15" hasCustomPrompt="1"/>
          </p:nvPr>
        </p:nvSpPr>
        <p:spPr>
          <a:xfrm>
            <a:off x="3454417"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4" name="Picture Placeholder 2">
            <a:extLst>
              <a:ext uri="{FF2B5EF4-FFF2-40B4-BE49-F238E27FC236}">
                <a16:creationId xmlns:a16="http://schemas.microsoft.com/office/drawing/2014/main" id="{163B4FD5-AD0F-C1F4-9EEE-88FF9FA34B3A}"/>
              </a:ext>
            </a:extLst>
          </p:cNvPr>
          <p:cNvSpPr>
            <a:spLocks noGrp="1"/>
          </p:cNvSpPr>
          <p:nvPr>
            <p:ph type="pic" idx="13" hasCustomPrompt="1"/>
          </p:nvPr>
        </p:nvSpPr>
        <p:spPr>
          <a:xfrm>
            <a:off x="6327274" y="2563173"/>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3" name="Content Placeholder 2">
            <a:extLst>
              <a:ext uri="{FF2B5EF4-FFF2-40B4-BE49-F238E27FC236}">
                <a16:creationId xmlns:a16="http://schemas.microsoft.com/office/drawing/2014/main" id="{841CD70C-55F1-A628-07B0-34F93B7BD047}"/>
              </a:ext>
            </a:extLst>
          </p:cNvPr>
          <p:cNvSpPr>
            <a:spLocks noGrp="1"/>
          </p:cNvSpPr>
          <p:nvPr>
            <p:ph sz="half" idx="16" hasCustomPrompt="1"/>
          </p:nvPr>
        </p:nvSpPr>
        <p:spPr>
          <a:xfrm>
            <a:off x="6327274"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9111896"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5" name="Content Placeholder 2">
            <a:extLst>
              <a:ext uri="{FF2B5EF4-FFF2-40B4-BE49-F238E27FC236}">
                <a16:creationId xmlns:a16="http://schemas.microsoft.com/office/drawing/2014/main" id="{43CF104B-64F4-96D7-0889-9B1A1B6B5F4A}"/>
              </a:ext>
            </a:extLst>
          </p:cNvPr>
          <p:cNvSpPr>
            <a:spLocks noGrp="1"/>
          </p:cNvSpPr>
          <p:nvPr>
            <p:ph sz="half" idx="17" hasCustomPrompt="1"/>
          </p:nvPr>
        </p:nvSpPr>
        <p:spPr>
          <a:xfrm>
            <a:off x="9111896"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60200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 or Figur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A60C347-0F02-8ABE-9C0A-2414CF30D31D}"/>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2" name="Picture Placeholder 2">
            <a:extLst>
              <a:ext uri="{FF2B5EF4-FFF2-40B4-BE49-F238E27FC236}">
                <a16:creationId xmlns:a16="http://schemas.microsoft.com/office/drawing/2014/main" id="{CB263469-5CF0-30FF-09BE-DBD3C2AEB576}"/>
              </a:ext>
            </a:extLst>
          </p:cNvPr>
          <p:cNvSpPr>
            <a:spLocks noGrp="1"/>
          </p:cNvSpPr>
          <p:nvPr>
            <p:ph type="pic" idx="10" hasCustomPrompt="1"/>
          </p:nvPr>
        </p:nvSpPr>
        <p:spPr>
          <a:xfrm>
            <a:off x="593213" y="1160092"/>
            <a:ext cx="10989187" cy="4496628"/>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03C919D3-A039-50AE-CBD9-89F458D53EDD}"/>
              </a:ext>
            </a:extLst>
          </p:cNvPr>
          <p:cNvSpPr>
            <a:spLocks noGrp="1"/>
          </p:cNvSpPr>
          <p:nvPr>
            <p:ph sz="half" idx="14" hasCustomPrompt="1"/>
          </p:nvPr>
        </p:nvSpPr>
        <p:spPr>
          <a:xfrm>
            <a:off x="609601" y="5787595"/>
            <a:ext cx="10972799"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4" name="Group 3">
            <a:extLst>
              <a:ext uri="{FF2B5EF4-FFF2-40B4-BE49-F238E27FC236}">
                <a16:creationId xmlns:a16="http://schemas.microsoft.com/office/drawing/2014/main" id="{C1D5208B-6EC7-23B8-8646-0B92A3FA3BEA}"/>
              </a:ext>
              <a:ext uri="{C183D7F6-B498-43B3-948B-1728B52AA6E4}">
                <adec:decorative xmlns:adec="http://schemas.microsoft.com/office/drawing/2017/decorative" val="1"/>
              </a:ext>
            </a:extLst>
          </p:cNvPr>
          <p:cNvGrpSpPr/>
          <p:nvPr userDrawn="1"/>
        </p:nvGrpSpPr>
        <p:grpSpPr>
          <a:xfrm>
            <a:off x="0" y="6172200"/>
            <a:ext cx="12192000" cy="685801"/>
            <a:chOff x="0" y="6423843"/>
            <a:chExt cx="9144000" cy="434157"/>
          </a:xfrm>
        </p:grpSpPr>
        <p:sp>
          <p:nvSpPr>
            <p:cNvPr id="5" name="Rectangle 4">
              <a:extLst>
                <a:ext uri="{FF2B5EF4-FFF2-40B4-BE49-F238E27FC236}">
                  <a16:creationId xmlns:a16="http://schemas.microsoft.com/office/drawing/2014/main" id="{BDC46A72-B502-6814-2E8D-A1A9EFAFCD24}"/>
                </a:ext>
              </a:extLst>
            </p:cNvPr>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3E5DCEC6-0F8C-5541-7442-C093800C3015}"/>
                </a:ext>
              </a:extLst>
            </p:cNvPr>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extBox 9">
            <a:extLst>
              <a:ext uri="{FF2B5EF4-FFF2-40B4-BE49-F238E27FC236}">
                <a16:creationId xmlns:a16="http://schemas.microsoft.com/office/drawing/2014/main" id="{2E4910A2-E75A-A0F3-12FA-C7B33827BFF5}"/>
              </a:ext>
            </a:extLst>
          </p:cNvPr>
          <p:cNvSpPr txBox="1"/>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1" name="Graphic 10">
            <a:extLst>
              <a:ext uri="{FF2B5EF4-FFF2-40B4-BE49-F238E27FC236}">
                <a16:creationId xmlns:a16="http://schemas.microsoft.com/office/drawing/2014/main" id="{CC0C22ED-5F80-CEFE-BB25-C337EB274037}"/>
              </a:ext>
              <a:ext uri="{C183D7F6-B498-43B3-948B-1728B52AA6E4}">
                <adec:decorative xmlns:adec="http://schemas.microsoft.com/office/drawing/2017/decorative" val="1"/>
              </a:ext>
            </a:extLst>
          </p:cNvPr>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4010282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66BB33-DB2B-91D3-D089-F85266D214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Master title style</a:t>
            </a:r>
          </a:p>
        </p:txBody>
      </p:sp>
      <p:sp>
        <p:nvSpPr>
          <p:cNvPr id="3" name="Text Placeholder 2">
            <a:extLst>
              <a:ext uri="{FF2B5EF4-FFF2-40B4-BE49-F238E27FC236}">
                <a16:creationId xmlns:a16="http://schemas.microsoft.com/office/drawing/2014/main" id="{5F01A2DB-9F95-64AA-F96F-279EB0EF76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0280026"/>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8" r:id="rId5"/>
    <p:sldLayoutId id="2147483656" r:id="rId6"/>
    <p:sldLayoutId id="2147483659" r:id="rId7"/>
    <p:sldLayoutId id="2147483660" r:id="rId8"/>
    <p:sldLayoutId id="2147483654" r:id="rId9"/>
  </p:sldLayoutIdLst>
  <p:txStyles>
    <p:titleStyle>
      <a:lvl1pPr algn="l" defTabSz="914400" rtl="0" eaLnBrk="1" latinLnBrk="0" hangingPunct="1">
        <a:lnSpc>
          <a:spcPct val="90000"/>
        </a:lnSpc>
        <a:spcBef>
          <a:spcPct val="0"/>
        </a:spcBef>
        <a:buNone/>
        <a:defRPr sz="3600" b="1" kern="1200">
          <a:solidFill>
            <a:srgbClr val="007B55"/>
          </a:solidFill>
          <a:latin typeface="Segoe UI" panose="020B0502040204020203" pitchFamily="34" charset="0"/>
          <a:ea typeface="+mj-ea"/>
          <a:cs typeface="Segoe UI" panose="020B0502040204020203"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rgbClr val="0F426B"/>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F426B"/>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F426B"/>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In-Season Sampling Design for the Coastal Razor Clam Fishery</a:t>
            </a:r>
          </a:p>
        </p:txBody>
      </p:sp>
      <p:sp>
        <p:nvSpPr>
          <p:cNvPr id="3" name="Content Placeholder 2"/>
          <p:cNvSpPr>
            <a:spLocks noGrp="1"/>
          </p:cNvSpPr>
          <p:nvPr>
            <p:ph sz="half" idx="1"/>
          </p:nvPr>
        </p:nvSpPr>
        <p:spPr/>
        <p:txBody>
          <a:bodyPr wrap="square">
            <a:noAutofit/>
          </a:bodyPr>
          <a:lstStyle/>
          <a:p>
            <a:r>
              <a:rPr sz="2000" dirty="0"/>
              <a:t>Findings from the 2026 harvest-estimate methodology review (v10)</a:t>
            </a:r>
          </a:p>
          <a:p>
            <a:r>
              <a:rPr sz="2000" dirty="0"/>
              <a:t>Matthew George  ·  Coastal Shellfish Unit, WDFW</a:t>
            </a:r>
          </a:p>
          <a:p>
            <a:r>
              <a:rPr sz="2000" dirty="0"/>
              <a:t>2026-27 season planning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question this answers</a:t>
            </a:r>
          </a:p>
        </p:txBody>
      </p:sp>
      <p:sp>
        <p:nvSpPr>
          <p:cNvPr id="3" name="Content Placeholder 2"/>
          <p:cNvSpPr>
            <a:spLocks noGrp="1"/>
          </p:cNvSpPr>
          <p:nvPr>
            <p:ph idx="1"/>
          </p:nvPr>
        </p:nvSpPr>
        <p:spPr/>
        <p:txBody>
          <a:bodyPr wrap="square">
            <a:normAutofit/>
          </a:bodyPr>
          <a:lstStyle/>
          <a:p>
            <a:r>
              <a:rPr sz="2800" b="1" dirty="0"/>
              <a:t>Given a crew of finite size: </a:t>
            </a:r>
            <a:r>
              <a:rPr sz="2800" dirty="0"/>
              <a:t>how many beach-days per tide series must be counted, and which ones?</a:t>
            </a:r>
          </a:p>
          <a:p>
            <a:r>
              <a:rPr sz="2800" dirty="0"/>
              <a:t>This is new work, the program has never had a quantitative answer.</a:t>
            </a:r>
          </a:p>
          <a:p>
            <a:r>
              <a:rPr sz="2800" b="1" dirty="0"/>
              <a:t>Judged against a published standard: </a:t>
            </a:r>
            <a:r>
              <a:rPr sz="2800" dirty="0"/>
              <a:t>CV ≤ 0.20 (creel-survey design target) and NOAA MRIP's ≤ 0.30 publication threshold.</a:t>
            </a:r>
          </a:p>
          <a:p>
            <a:r>
              <a:rPr sz="2800" dirty="0"/>
              <a:t>Every figure here is a lower bound: it excludes beach-count observer error, which has never been measured.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Priors: what the estimate rests 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expansion table is the instrument, and it has moved</a:t>
            </a:r>
          </a:p>
        </p:txBody>
      </p:sp>
      <p:sp>
        <p:nvSpPr>
          <p:cNvPr id="3" name="Content Placeholder 2"/>
          <p:cNvSpPr>
            <a:spLocks noGrp="1"/>
          </p:cNvSpPr>
          <p:nvPr>
            <p:ph sz="half" idx="1"/>
          </p:nvPr>
        </p:nvSpPr>
        <p:spPr/>
        <p:txBody>
          <a:bodyPr wrap="square"/>
          <a:lstStyle/>
          <a:p>
            <a:r>
              <a:rPr sz="1500" b="1"/>
              <a:t>May 2013 correction: </a:t>
            </a:r>
            <a:r>
              <a:rPr sz="1500"/>
              <a:t>the old arithmetic underestimated harvest by ~16%; re-estimated day-by-day back to 1997-98.</a:t>
            </a:r>
          </a:p>
          <a:p>
            <a:r>
              <a:rPr sz="1500"/>
              <a:t>The correction factor, the share of a day's effort present at the count, is the load-bearing number.</a:t>
            </a:r>
          </a:p>
          <a:p>
            <a:r>
              <a:rPr sz="1500" b="1"/>
              <a:t>Long Beach's table was reshaped after 2013: </a:t>
            </a:r>
            <a:r>
              <a:rPr sz="1500"/>
              <a:t>+33% expanded effort for the same count.</a:t>
            </a:r>
          </a:p>
          <a:p>
            <a:r>
              <a:rPr sz="1500"/>
              <a:t>Comparing Long Beach effort across that change compares two different instruments.</a:t>
            </a:r>
          </a:p>
        </p:txBody>
      </p:sp>
      <p:sp>
        <p:nvSpPr>
          <p:cNvPr id="5" name="Content Placeholder 4"/>
          <p:cNvSpPr>
            <a:spLocks noGrp="1"/>
          </p:cNvSpPr>
          <p:nvPr>
            <p:ph sz="half" idx="11"/>
          </p:nvPr>
        </p:nvSpPr>
        <p:spPr/>
        <p:txBody>
          <a:bodyPr/>
          <a:lstStyle/>
          <a:p>
            <a:endParaRPr/>
          </a:p>
        </p:txBody>
      </p:sp>
      <p:pic>
        <p:nvPicPr>
          <p:cNvPr id="6" name="Picture 5" descr="fig09_operational_vs_vintage.png"/>
          <p:cNvPicPr>
            <a:picLocks noChangeAspect="1"/>
          </p:cNvPicPr>
          <p:nvPr/>
        </p:nvPicPr>
        <p:blipFill>
          <a:blip r:embed="rId3"/>
          <a:stretch>
            <a:fillRect/>
          </a:stretch>
        </p:blipFill>
        <p:spPr>
          <a:xfrm>
            <a:off x="6178610" y="1422412"/>
            <a:ext cx="5403790" cy="37826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correction factor dominates, and it does not average down</a:t>
            </a:r>
          </a:p>
        </p:txBody>
      </p:sp>
      <p:sp>
        <p:nvSpPr>
          <p:cNvPr id="3" name="Content Placeholder 2"/>
          <p:cNvSpPr>
            <a:spLocks noGrp="1"/>
          </p:cNvSpPr>
          <p:nvPr>
            <p:ph sz="half" idx="1"/>
          </p:nvPr>
        </p:nvSpPr>
        <p:spPr/>
        <p:txBody>
          <a:bodyPr wrap="square"/>
          <a:lstStyle/>
          <a:p>
            <a:r>
              <a:rPr sz="1500" b="1"/>
              <a:t>71-96% of season effort variance </a:t>
            </a:r>
            <a:r>
              <a:rPr sz="1500"/>
              <a:t>at every beach is the correction factor.</a:t>
            </a:r>
          </a:p>
          <a:p>
            <a:r>
              <a:rPr sz="1500"/>
              <a:t>It is systematic: one table scales every beach-day, so counting more days cannot shrink it.</a:t>
            </a:r>
          </a:p>
          <a:p>
            <a:r>
              <a:rPr sz="1500"/>
              <a:t>Imputation is large on a single day but cancels within a tide series (lag-1 autocorrelation −0.68).</a:t>
            </a:r>
          </a:p>
          <a:p>
            <a:r>
              <a:rPr sz="1500" b="1"/>
              <a:t>The lever is surveys, not crew days </a:t>
            </a:r>
            <a:r>
              <a:rPr sz="1500"/>
              <a:t>for the term that dominates effort.</a:t>
            </a:r>
          </a:p>
        </p:txBody>
      </p:sp>
      <p:sp>
        <p:nvSpPr>
          <p:cNvPr id="5" name="Content Placeholder 4"/>
          <p:cNvSpPr>
            <a:spLocks noGrp="1"/>
          </p:cNvSpPr>
          <p:nvPr>
            <p:ph sz="half" idx="11"/>
          </p:nvPr>
        </p:nvSpPr>
        <p:spPr/>
        <p:txBody>
          <a:bodyPr/>
          <a:lstStyle/>
          <a:p>
            <a:endParaRPr/>
          </a:p>
        </p:txBody>
      </p:sp>
      <p:pic>
        <p:nvPicPr>
          <p:cNvPr id="6" name="Picture 5" descr="fig10_variance_shares.png"/>
          <p:cNvPicPr>
            <a:picLocks noChangeAspect="1"/>
          </p:cNvPicPr>
          <p:nvPr/>
        </p:nvPicPr>
        <p:blipFill>
          <a:blip r:embed="rId3"/>
          <a:stretch>
            <a:fillRect/>
          </a:stretch>
        </p:blipFill>
        <p:spPr>
          <a:xfrm>
            <a:off x="6178610" y="1839978"/>
            <a:ext cx="5403790" cy="294752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 harvest, borrowed catch rate is the largest term up north</a:t>
            </a:r>
          </a:p>
        </p:txBody>
      </p:sp>
      <p:sp>
        <p:nvSpPr>
          <p:cNvPr id="3" name="Content Placeholder 2"/>
          <p:cNvSpPr>
            <a:spLocks noGrp="1"/>
          </p:cNvSpPr>
          <p:nvPr>
            <p:ph sz="half" idx="1"/>
          </p:nvPr>
        </p:nvSpPr>
        <p:spPr/>
        <p:txBody>
          <a:bodyPr wrap="square"/>
          <a:lstStyle/>
          <a:p>
            <a:r>
              <a:rPr sz="1500" b="1"/>
              <a:t>CPUE transfer (borrowed catch rate on uncounted days): </a:t>
            </a:r>
            <a:r>
              <a:rPr sz="1500"/>
              <a:t>39% of harvest variance at Long Beach, 56% at Twin Harbors.</a:t>
            </a:r>
          </a:p>
          <a:p>
            <a:r>
              <a:rPr sz="1500"/>
              <a:t>Single-day imputation error is large (sd 0.54 in log) but roughly unbiased and cancels when summed.</a:t>
            </a:r>
          </a:p>
          <a:p>
            <a:r>
              <a:rPr sz="1500" b="1"/>
              <a:t>Best donor for the two northern beaches: </a:t>
            </a:r>
            <a:r>
              <a:rPr sz="1500"/>
              <a:t>Copalis and Mocrocks jointly (sd 0.43 / 0.37).</a:t>
            </a:r>
          </a:p>
        </p:txBody>
      </p:sp>
      <p:sp>
        <p:nvSpPr>
          <p:cNvPr id="5" name="Content Placeholder 4"/>
          <p:cNvSpPr>
            <a:spLocks noGrp="1"/>
          </p:cNvSpPr>
          <p:nvPr>
            <p:ph sz="half" idx="11"/>
          </p:nvPr>
        </p:nvSpPr>
        <p:spPr/>
        <p:txBody>
          <a:bodyPr/>
          <a:lstStyle/>
          <a:p>
            <a:endParaRPr/>
          </a:p>
        </p:txBody>
      </p:sp>
      <p:pic>
        <p:nvPicPr>
          <p:cNvPr id="6" name="Picture 5" descr="fig11_imputation_error.png"/>
          <p:cNvPicPr>
            <a:picLocks noChangeAspect="1"/>
          </p:cNvPicPr>
          <p:nvPr/>
        </p:nvPicPr>
        <p:blipFill>
          <a:blip r:embed="rId3"/>
          <a:stretch>
            <a:fillRect/>
          </a:stretch>
        </p:blipFill>
        <p:spPr>
          <a:xfrm>
            <a:off x="6178610" y="2085605"/>
            <a:ext cx="5403790" cy="245626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How many days, and which ones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Count about 45% of a beach's open days, with a floor of two</a:t>
            </a:r>
          </a:p>
        </p:txBody>
      </p:sp>
      <p:sp>
        <p:nvSpPr>
          <p:cNvPr id="3" name="Content Placeholder 2"/>
          <p:cNvSpPr>
            <a:spLocks noGrp="1"/>
          </p:cNvSpPr>
          <p:nvPr>
            <p:ph sz="half" idx="1"/>
          </p:nvPr>
        </p:nvSpPr>
        <p:spPr/>
        <p:txBody>
          <a:bodyPr wrap="square"/>
          <a:lstStyle/>
          <a:p>
            <a:r>
              <a:rPr sz="1500" b="1"/>
              <a:t>Count 2 of a 4- or 5-day series; </a:t>
            </a:r>
            <a:r>
              <a:rPr sz="1500"/>
              <a:t>3 of a 6- or 7-day series.</a:t>
            </a:r>
          </a:p>
          <a:p>
            <a:r>
              <a:rPr sz="1500"/>
              <a:t>Counting one day per series never meets CV 0.20 (0.21-0.31 at m = 1).</a:t>
            </a:r>
          </a:p>
          <a:p>
            <a:r>
              <a:rPr sz="1500" b="1"/>
              <a:t>Read it as 45% of open days, floor of two.</a:t>
            </a:r>
          </a:p>
          <a:p>
            <a:r>
              <a:rPr sz="1500"/>
              <a:t>Exception: Copalis needs all three of a three-day series, its floor, not sampling, binds.</a:t>
            </a:r>
          </a:p>
        </p:txBody>
      </p:sp>
      <p:sp>
        <p:nvSpPr>
          <p:cNvPr id="5" name="Content Placeholder 4"/>
          <p:cNvSpPr>
            <a:spLocks noGrp="1"/>
          </p:cNvSpPr>
          <p:nvPr>
            <p:ph sz="half" idx="11"/>
          </p:nvPr>
        </p:nvSpPr>
        <p:spPr/>
        <p:txBody>
          <a:bodyPr/>
          <a:lstStyle/>
          <a:p>
            <a:endParaRPr/>
          </a:p>
        </p:txBody>
      </p:sp>
      <p:pic>
        <p:nvPicPr>
          <p:cNvPr id="6" name="Picture 5" descr="fig13_tide_series_cv.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days to count: the largest-effort days</a:t>
            </a:r>
          </a:p>
        </p:txBody>
      </p:sp>
      <p:sp>
        <p:nvSpPr>
          <p:cNvPr id="3" name="Content Placeholder 2"/>
          <p:cNvSpPr>
            <a:spLocks noGrp="1"/>
          </p:cNvSpPr>
          <p:nvPr>
            <p:ph idx="1"/>
          </p:nvPr>
        </p:nvSpPr>
        <p:spPr/>
        <p:txBody>
          <a:bodyPr wrap="square">
            <a:normAutofit/>
          </a:bodyPr>
          <a:lstStyle/>
          <a:p>
            <a:r>
              <a:rPr sz="2800" b="1" dirty="0"/>
              <a:t>Selecting the largest-effort days beats an even spread by 4-11 CV points </a:t>
            </a:r>
            <a:r>
              <a:rPr sz="2800" dirty="0"/>
              <a:t>at every series length tested.</a:t>
            </a:r>
          </a:p>
          <a:p>
            <a:r>
              <a:rPr sz="2800" b="1" dirty="0"/>
              <a:t>Small bias penalty (1-6%), </a:t>
            </a:r>
            <a:r>
              <a:rPr sz="2800" dirty="0"/>
              <a:t>no worse than the alternatives.</a:t>
            </a:r>
          </a:p>
          <a:p>
            <a:r>
              <a:rPr sz="2800" dirty="0"/>
              <a:t>The program already does this implicitly, staffing the opening weekend and the biggest tides.</a:t>
            </a:r>
          </a:p>
          <a:p>
            <a:r>
              <a:rPr sz="2800" b="1" dirty="0"/>
              <a:t>It is correct. </a:t>
            </a:r>
            <a:r>
              <a:rPr sz="2800" dirty="0"/>
              <a:t>Which days will be largest is well predicted by the schedule, tide height, and day of week.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Some precision cannot be bought with crew days</a:t>
            </a:r>
          </a:p>
        </p:txBody>
      </p:sp>
      <p:sp>
        <p:nvSpPr>
          <p:cNvPr id="3" name="Content Placeholder 2"/>
          <p:cNvSpPr>
            <a:spLocks noGrp="1"/>
          </p:cNvSpPr>
          <p:nvPr>
            <p:ph sz="half" idx="1"/>
          </p:nvPr>
        </p:nvSpPr>
        <p:spPr/>
        <p:txBody>
          <a:bodyPr wrap="square"/>
          <a:lstStyle/>
          <a:p>
            <a:r>
              <a:rPr sz="1500" b="1"/>
              <a:t>Copalis cannot go below a series CV of 0.126; Mocrocks below 0.095 </a:t>
            </a:r>
            <a:r>
              <a:rPr sz="1500"/>
              <a:t>, the between-survey error of their tables.</a:t>
            </a:r>
          </a:p>
          <a:p>
            <a:r>
              <a:rPr sz="1500"/>
              <a:t>Copalis is already counted 100% and sits at 0.129; a 10% target is infeasible there at any rate.</a:t>
            </a:r>
          </a:p>
          <a:p>
            <a:r>
              <a:rPr sz="1500" b="1"/>
              <a:t>The question inverts: </a:t>
            </a:r>
            <a:r>
              <a:rPr sz="1500"/>
              <a:t>how much of a season each beach's table can afford to impute (Table 21).</a:t>
            </a:r>
          </a:p>
        </p:txBody>
      </p:sp>
      <p:sp>
        <p:nvSpPr>
          <p:cNvPr id="5" name="Content Placeholder 4"/>
          <p:cNvSpPr>
            <a:spLocks noGrp="1"/>
          </p:cNvSpPr>
          <p:nvPr>
            <p:ph sz="half" idx="11"/>
          </p:nvPr>
        </p:nvSpPr>
        <p:spPr/>
        <p:txBody>
          <a:bodyPr/>
          <a:lstStyle/>
          <a:p>
            <a:endParaRPr/>
          </a:p>
        </p:txBody>
      </p:sp>
      <p:pic>
        <p:nvPicPr>
          <p:cNvPr id="6" name="Picture 5" descr="fig14_season_cv_vs_imputed.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reallocation pays for itself: minus 19 crew-day units</a:t>
            </a:r>
          </a:p>
        </p:txBody>
      </p:sp>
      <p:sp>
        <p:nvSpPr>
          <p:cNvPr id="3" name="Content Placeholder 2"/>
          <p:cNvSpPr>
            <a:spLocks noGrp="1"/>
          </p:cNvSpPr>
          <p:nvPr>
            <p:ph idx="1"/>
          </p:nvPr>
        </p:nvSpPr>
        <p:spPr/>
        <p:txBody>
          <a:bodyPr/>
          <a:lstStyle/>
          <a:p>
            <a:endParaRPr/>
          </a:p>
        </p:txBody>
      </p:sp>
      <p:graphicFrame>
        <p:nvGraphicFramePr>
          <p:cNvPr id="4" name="Table 3"/>
          <p:cNvGraphicFramePr>
            <a:graphicFrameLocks noGrp="1"/>
          </p:cNvGraphicFramePr>
          <p:nvPr/>
        </p:nvGraphicFramePr>
        <p:xfrm>
          <a:off x="594360" y="1463040"/>
          <a:ext cx="10972798" cy="292608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gridCol w="1874519">
                  <a:extLst>
                    <a:ext uri="{9D8B030D-6E8A-4147-A177-3AD203B41FA5}">
                      <a16:colId xmlns:a16="http://schemas.microsoft.com/office/drawing/2014/main" val="20005"/>
                    </a:ext>
                  </a:extLst>
                </a:gridCol>
              </a:tblGrid>
              <a:tr h="487680">
                <a:tc>
                  <a:txBody>
                    <a:bodyPr/>
                    <a:lstStyle/>
                    <a:p>
                      <a:r>
                        <a:rPr sz="1300" b="1">
                          <a:solidFill>
                            <a:srgbClr val="FFFFFF"/>
                          </a:solidFill>
                        </a:rPr>
                        <a:t>Beach</a:t>
                      </a:r>
                    </a:p>
                  </a:txBody>
                  <a:tcPr>
                    <a:solidFill>
                      <a:srgbClr val="1B3A5C"/>
                    </a:solidFill>
                  </a:tcPr>
                </a:tc>
                <a:tc>
                  <a:txBody>
                    <a:bodyPr/>
                    <a:lstStyle/>
                    <a:p>
                      <a:r>
                        <a:rPr sz="1300" b="1">
                          <a:solidFill>
                            <a:srgbClr val="FFFFFF"/>
                          </a:solidFill>
                        </a:rPr>
                        <a:t>Open days</a:t>
                      </a:r>
                    </a:p>
                  </a:txBody>
                  <a:tcPr>
                    <a:solidFill>
                      <a:srgbClr val="1B3A5C"/>
                    </a:solidFill>
                  </a:tcPr>
                </a:tc>
                <a:tc>
                  <a:txBody>
                    <a:bodyPr/>
                    <a:lstStyle/>
                    <a:p>
                      <a:r>
                        <a:rPr sz="1300" b="1">
                          <a:solidFill>
                            <a:srgbClr val="FFFFFF"/>
                          </a:solidFill>
                        </a:rPr>
                        <a:t>Counted now</a:t>
                      </a:r>
                    </a:p>
                  </a:txBody>
                  <a:tcPr>
                    <a:solidFill>
                      <a:srgbClr val="1B3A5C"/>
                    </a:solidFill>
                  </a:tcPr>
                </a:tc>
                <a:tc>
                  <a:txBody>
                    <a:bodyPr/>
                    <a:lstStyle/>
                    <a:p>
                      <a:r>
                        <a:rPr sz="1300" b="1">
                          <a:solidFill>
                            <a:srgbClr val="FFFFFF"/>
                          </a:solidFill>
                        </a:rPr>
                        <a:t>At 45%</a:t>
                      </a:r>
                    </a:p>
                  </a:txBody>
                  <a:tcPr>
                    <a:solidFill>
                      <a:srgbClr val="1B3A5C"/>
                    </a:solidFill>
                  </a:tcPr>
                </a:tc>
                <a:tc>
                  <a:txBody>
                    <a:bodyPr/>
                    <a:lstStyle/>
                    <a:p>
                      <a:r>
                        <a:rPr sz="1300" b="1">
                          <a:solidFill>
                            <a:srgbClr val="FFFFFF"/>
                          </a:solidFill>
                        </a:rPr>
                        <a:t>Series CV now</a:t>
                      </a:r>
                    </a:p>
                  </a:txBody>
                  <a:tcPr>
                    <a:solidFill>
                      <a:srgbClr val="1B3A5C"/>
                    </a:solidFill>
                  </a:tcPr>
                </a:tc>
                <a:tc>
                  <a:txBody>
                    <a:bodyPr/>
                    <a:lstStyle/>
                    <a:p>
                      <a:r>
                        <a:rPr sz="1300" b="1">
                          <a:solidFill>
                            <a:srgbClr val="FFFFFF"/>
                          </a:solidFill>
                        </a:rPr>
                        <a:t>CV at 45%</a:t>
                      </a:r>
                    </a:p>
                  </a:txBody>
                  <a:tcPr>
                    <a:solidFill>
                      <a:srgbClr val="1B3A5C"/>
                    </a:solidFill>
                  </a:tcPr>
                </a:tc>
                <a:extLst>
                  <a:ext uri="{0D108BD9-81ED-4DB2-BD59-A6C34878D82A}">
                    <a16:rowId xmlns:a16="http://schemas.microsoft.com/office/drawing/2014/main" val="10000"/>
                  </a:ext>
                </a:extLst>
              </a:tr>
              <a:tr h="487680">
                <a:tc>
                  <a:txBody>
                    <a:bodyPr/>
                    <a:lstStyle/>
                    <a:p>
                      <a:r>
                        <a:rPr sz="1200"/>
                        <a:t>Copalis</a:t>
                      </a:r>
                    </a:p>
                  </a:txBody>
                  <a:tcPr/>
                </a:tc>
                <a:tc>
                  <a:txBody>
                    <a:bodyPr/>
                    <a:lstStyle/>
                    <a:p>
                      <a:r>
                        <a:rPr sz="1200"/>
                        <a:t>51</a:t>
                      </a:r>
                    </a:p>
                  </a:txBody>
                  <a:tcPr/>
                </a:tc>
                <a:tc>
                  <a:txBody>
                    <a:bodyPr/>
                    <a:lstStyle/>
                    <a:p>
                      <a:r>
                        <a:rPr sz="1200"/>
                        <a:t>51  (100%)</a:t>
                      </a:r>
                    </a:p>
                  </a:txBody>
                  <a:tcPr/>
                </a:tc>
                <a:tc>
                  <a:txBody>
                    <a:bodyPr/>
                    <a:lstStyle/>
                    <a:p>
                      <a:r>
                        <a:rPr sz="1200"/>
                        <a:t>23</a:t>
                      </a:r>
                    </a:p>
                  </a:txBody>
                  <a:tcPr/>
                </a:tc>
                <a:tc>
                  <a:txBody>
                    <a:bodyPr/>
                    <a:lstStyle/>
                    <a:p>
                      <a:r>
                        <a:rPr sz="1200"/>
                        <a:t>0.129</a:t>
                      </a:r>
                    </a:p>
                  </a:txBody>
                  <a:tcPr/>
                </a:tc>
                <a:tc>
                  <a:txBody>
                    <a:bodyPr/>
                    <a:lstStyle/>
                    <a:p>
                      <a:r>
                        <a:rPr sz="1200"/>
                        <a:t>0.192</a:t>
                      </a:r>
                    </a:p>
                  </a:txBody>
                  <a:tcPr/>
                </a:tc>
                <a:extLst>
                  <a:ext uri="{0D108BD9-81ED-4DB2-BD59-A6C34878D82A}">
                    <a16:rowId xmlns:a16="http://schemas.microsoft.com/office/drawing/2014/main" val="10001"/>
                  </a:ext>
                </a:extLst>
              </a:tr>
              <a:tr h="487680">
                <a:tc>
                  <a:txBody>
                    <a:bodyPr/>
                    <a:lstStyle/>
                    <a:p>
                      <a:r>
                        <a:rPr sz="1200"/>
                        <a:t>Mocrocks</a:t>
                      </a:r>
                    </a:p>
                  </a:txBody>
                  <a:tcPr/>
                </a:tc>
                <a:tc>
                  <a:txBody>
                    <a:bodyPr/>
                    <a:lstStyle/>
                    <a:p>
                      <a:r>
                        <a:rPr sz="1200"/>
                        <a:t>52</a:t>
                      </a:r>
                    </a:p>
                  </a:txBody>
                  <a:tcPr/>
                </a:tc>
                <a:tc>
                  <a:txBody>
                    <a:bodyPr/>
                    <a:lstStyle/>
                    <a:p>
                      <a:r>
                        <a:rPr sz="1200"/>
                        <a:t>52  (100%)</a:t>
                      </a:r>
                    </a:p>
                  </a:txBody>
                  <a:tcPr/>
                </a:tc>
                <a:tc>
                  <a:txBody>
                    <a:bodyPr/>
                    <a:lstStyle/>
                    <a:p>
                      <a:r>
                        <a:rPr sz="1200"/>
                        <a:t>23</a:t>
                      </a:r>
                    </a:p>
                  </a:txBody>
                  <a:tcPr/>
                </a:tc>
                <a:tc>
                  <a:txBody>
                    <a:bodyPr/>
                    <a:lstStyle/>
                    <a:p>
                      <a:r>
                        <a:rPr sz="1200"/>
                        <a:t>0.099</a:t>
                      </a:r>
                    </a:p>
                  </a:txBody>
                  <a:tcPr/>
                </a:tc>
                <a:tc>
                  <a:txBody>
                    <a:bodyPr/>
                    <a:lstStyle/>
                    <a:p>
                      <a:r>
                        <a:rPr sz="1200"/>
                        <a:t>0.171</a:t>
                      </a:r>
                    </a:p>
                  </a:txBody>
                  <a:tcPr/>
                </a:tc>
                <a:extLst>
                  <a:ext uri="{0D108BD9-81ED-4DB2-BD59-A6C34878D82A}">
                    <a16:rowId xmlns:a16="http://schemas.microsoft.com/office/drawing/2014/main" val="10002"/>
                  </a:ext>
                </a:extLst>
              </a:tr>
              <a:tr h="487680">
                <a:tc>
                  <a:txBody>
                    <a:bodyPr/>
                    <a:lstStyle/>
                    <a:p>
                      <a:r>
                        <a:rPr sz="1200"/>
                        <a:t>Twin Harbors</a:t>
                      </a:r>
                    </a:p>
                  </a:txBody>
                  <a:tcPr/>
                </a:tc>
                <a:tc>
                  <a:txBody>
                    <a:bodyPr/>
                    <a:lstStyle/>
                    <a:p>
                      <a:r>
                        <a:rPr sz="1200"/>
                        <a:t>103</a:t>
                      </a:r>
                    </a:p>
                  </a:txBody>
                  <a:tcPr/>
                </a:tc>
                <a:tc>
                  <a:txBody>
                    <a:bodyPr/>
                    <a:lstStyle/>
                    <a:p>
                      <a:r>
                        <a:rPr sz="1200"/>
                        <a:t>52  (50%)</a:t>
                      </a:r>
                    </a:p>
                  </a:txBody>
                  <a:tcPr/>
                </a:tc>
                <a:tc>
                  <a:txBody>
                    <a:bodyPr/>
                    <a:lstStyle/>
                    <a:p>
                      <a:r>
                        <a:rPr sz="1200"/>
                        <a:t>46</a:t>
                      </a:r>
                    </a:p>
                  </a:txBody>
                  <a:tcPr/>
                </a:tc>
                <a:tc>
                  <a:txBody>
                    <a:bodyPr/>
                    <a:lstStyle/>
                    <a:p>
                      <a:r>
                        <a:rPr sz="1200"/>
                        <a:t>0.164</a:t>
                      </a:r>
                    </a:p>
                  </a:txBody>
                  <a:tcPr/>
                </a:tc>
                <a:tc>
                  <a:txBody>
                    <a:bodyPr/>
                    <a:lstStyle/>
                    <a:p>
                      <a:r>
                        <a:rPr sz="1200"/>
                        <a:t>0.164</a:t>
                      </a:r>
                    </a:p>
                  </a:txBody>
                  <a:tcPr/>
                </a:tc>
                <a:extLst>
                  <a:ext uri="{0D108BD9-81ED-4DB2-BD59-A6C34878D82A}">
                    <a16:rowId xmlns:a16="http://schemas.microsoft.com/office/drawing/2014/main" val="10003"/>
                  </a:ext>
                </a:extLst>
              </a:tr>
              <a:tr h="487680">
                <a:tc>
                  <a:txBody>
                    <a:bodyPr/>
                    <a:lstStyle/>
                    <a:p>
                      <a:r>
                        <a:rPr sz="1200"/>
                        <a:t>Long Beach</a:t>
                      </a:r>
                    </a:p>
                  </a:txBody>
                  <a:tcPr/>
                </a:tc>
                <a:tc>
                  <a:txBody>
                    <a:bodyPr/>
                    <a:lstStyle/>
                    <a:p>
                      <a:r>
                        <a:rPr sz="1200"/>
                        <a:t>103</a:t>
                      </a:r>
                    </a:p>
                  </a:txBody>
                  <a:tcPr/>
                </a:tc>
                <a:tc>
                  <a:txBody>
                    <a:bodyPr/>
                    <a:lstStyle/>
                    <a:p>
                      <a:r>
                        <a:rPr sz="1200"/>
                        <a:t>9  (9%)</a:t>
                      </a:r>
                    </a:p>
                  </a:txBody>
                  <a:tcPr/>
                </a:tc>
                <a:tc>
                  <a:txBody>
                    <a:bodyPr/>
                    <a:lstStyle/>
                    <a:p>
                      <a:r>
                        <a:rPr sz="1200"/>
                        <a:t>46</a:t>
                      </a:r>
                    </a:p>
                  </a:txBody>
                  <a:tcPr/>
                </a:tc>
                <a:tc>
                  <a:txBody>
                    <a:bodyPr/>
                    <a:lstStyle/>
                    <a:p>
                      <a:r>
                        <a:rPr sz="1200"/>
                        <a:t>0.294</a:t>
                      </a:r>
                    </a:p>
                  </a:txBody>
                  <a:tcPr/>
                </a:tc>
                <a:tc>
                  <a:txBody>
                    <a:bodyPr/>
                    <a:lstStyle/>
                    <a:p>
                      <a:r>
                        <a:rPr sz="1200"/>
                        <a:t>0.175</a:t>
                      </a:r>
                    </a:p>
                  </a:txBody>
                  <a:tcPr/>
                </a:tc>
                <a:extLst>
                  <a:ext uri="{0D108BD9-81ED-4DB2-BD59-A6C34878D82A}">
                    <a16:rowId xmlns:a16="http://schemas.microsoft.com/office/drawing/2014/main" val="10004"/>
                  </a:ext>
                </a:extLst>
              </a:tr>
              <a:tr h="487680">
                <a:tc>
                  <a:txBody>
                    <a:bodyPr/>
                    <a:lstStyle/>
                    <a:p>
                      <a:r>
                        <a:rPr sz="1200" b="1"/>
                        <a:t>Total crew-day units</a:t>
                      </a:r>
                    </a:p>
                  </a:txBody>
                  <a:tcPr/>
                </a:tc>
                <a:tc>
                  <a:txBody>
                    <a:bodyPr/>
                    <a:lstStyle/>
                    <a:p>
                      <a:endParaRPr/>
                    </a:p>
                  </a:txBody>
                  <a:tcPr/>
                </a:tc>
                <a:tc>
                  <a:txBody>
                    <a:bodyPr/>
                    <a:lstStyle/>
                    <a:p>
                      <a:r>
                        <a:rPr sz="1200" b="1"/>
                        <a:t>203</a:t>
                      </a:r>
                    </a:p>
                  </a:txBody>
                  <a:tcPr/>
                </a:tc>
                <a:tc>
                  <a:txBody>
                    <a:bodyPr/>
                    <a:lstStyle/>
                    <a:p>
                      <a:r>
                        <a:rPr sz="1200" b="1"/>
                        <a:t>184</a:t>
                      </a:r>
                    </a:p>
                  </a:txBody>
                  <a:tcPr/>
                </a:tc>
                <a:tc>
                  <a:txBody>
                    <a:bodyPr/>
                    <a:lstStyle/>
                    <a:p>
                      <a:endParaRPr/>
                    </a:p>
                  </a:txBody>
                  <a:tcPr/>
                </a:tc>
                <a:tc>
                  <a:txBody>
                    <a:bodyPr/>
                    <a:lstStyle/>
                    <a:p>
                      <a:r>
                        <a:rPr sz="1200" b="1"/>
                        <a:t>−19</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594360" y="4572000"/>
            <a:ext cx="10972800" cy="1463040"/>
          </a:xfrm>
          <a:prstGeom prst="rect">
            <a:avLst/>
          </a:prstGeom>
          <a:noFill/>
        </p:spPr>
        <p:txBody>
          <a:bodyPr wrap="square">
            <a:spAutoFit/>
          </a:bodyPr>
          <a:lstStyle/>
          <a:p>
            <a:r>
              <a:rPr sz="1400"/>
              <a:t>Long Beach's series CV falls from 0.294 to 0.175, crossing the design target for the first time. Copalis and Mocrocks rise to 0.192 and 0.171 and stay inside it. No new staff, nineteen surplus crew-day units on the two northern beaches move to Long Beach.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Recommendations for the 2026-27 season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 egress surveys at Long Beach and Twin Harbors, both conditions</a:t>
            </a:r>
          </a:p>
        </p:txBody>
      </p:sp>
      <p:sp>
        <p:nvSpPr>
          <p:cNvPr id="3" name="Content Placeholder 2"/>
          <p:cNvSpPr>
            <a:spLocks noGrp="1"/>
          </p:cNvSpPr>
          <p:nvPr>
            <p:ph sz="half" idx="1"/>
          </p:nvPr>
        </p:nvSpPr>
        <p:spPr/>
        <p:txBody>
          <a:bodyPr wrap="square"/>
          <a:lstStyle/>
          <a:p>
            <a:r>
              <a:rPr sz="1500"/>
              <a:t>The correction factor is the largest term, and these two beaches now carry the worst of it.</a:t>
            </a:r>
          </a:p>
          <a:p>
            <a:r>
              <a:rPr sz="1500" b="1"/>
              <a:t>Newest survey: 2011. </a:t>
            </a:r>
            <a:r>
              <a:rPr sz="1500"/>
              <a:t>Twin Harbors evening rests on just two surveys.</a:t>
            </a:r>
          </a:p>
          <a:p>
            <a:r>
              <a:rPr sz="1500"/>
              <a:t>Copalis and Mocrocks were resurveyed 2022-2026 and no longer need egress effort.</a:t>
            </a:r>
          </a:p>
          <a:p>
            <a:r>
              <a:rPr sz="1500" b="1"/>
              <a:t>The single most valuable unpurchased input </a:t>
            </a:r>
            <a:r>
              <a:rPr sz="1500"/>
              <a:t>in the program.</a:t>
            </a:r>
          </a:p>
        </p:txBody>
      </p:sp>
      <p:sp>
        <p:nvSpPr>
          <p:cNvPr id="5" name="Content Placeholder 4"/>
          <p:cNvSpPr>
            <a:spLocks noGrp="1"/>
          </p:cNvSpPr>
          <p:nvPr>
            <p:ph sz="half" idx="11"/>
          </p:nvPr>
        </p:nvSpPr>
        <p:spPr/>
        <p:txBody>
          <a:bodyPr/>
          <a:lstStyle/>
          <a:p>
            <a:endParaRPr/>
          </a:p>
        </p:txBody>
      </p:sp>
      <p:pic>
        <p:nvPicPr>
          <p:cNvPr id="6" name="Picture 5" descr="fig08_located_egress_surveys.png"/>
          <p:cNvPicPr>
            <a:picLocks noChangeAspect="1"/>
          </p:cNvPicPr>
          <p:nvPr/>
        </p:nvPicPr>
        <p:blipFill>
          <a:blip r:embed="rId3"/>
          <a:stretch>
            <a:fillRect/>
          </a:stretch>
        </p:blipFill>
        <p:spPr>
          <a:xfrm>
            <a:off x="6178610" y="2085605"/>
            <a:ext cx="5403790" cy="245626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Pulling the southern beaches back is not free, co-management is the lever</a:t>
            </a:r>
          </a:p>
        </p:txBody>
      </p:sp>
      <p:sp>
        <p:nvSpPr>
          <p:cNvPr id="3" name="Content Placeholder 2"/>
          <p:cNvSpPr>
            <a:spLocks noGrp="1"/>
          </p:cNvSpPr>
          <p:nvPr>
            <p:ph sz="half" idx="1"/>
          </p:nvPr>
        </p:nvSpPr>
        <p:spPr/>
        <p:txBody>
          <a:bodyPr wrap="square"/>
          <a:lstStyle/>
          <a:p>
            <a:r>
              <a:rPr sz="1400" b="1"/>
              <a:t>Copalis and Mocrocks are the donor for ~63% </a:t>
            </a:r>
            <a:r>
              <a:rPr sz="1400"/>
              <a:t>of Long Beach / Twin Harbors imputed days.</a:t>
            </a:r>
          </a:p>
          <a:p>
            <a:r>
              <a:rPr sz="1400"/>
              <a:t>Under state-Quinault day-trading (2 on, 2 off) the two interleave: exactly one is state-counted each dig day.</a:t>
            </a:r>
          </a:p>
          <a:p>
            <a:r>
              <a:rPr sz="1400" b="1"/>
              <a:t>Pull state sampling to 45% </a:t>
            </a:r>
            <a:r>
              <a:rPr sz="1400"/>
              <a:t>and single-day imputation error rises 0.45 → 0.50 (donor coverage 99% → 45%).</a:t>
            </a:r>
          </a:p>
          <a:p>
            <a:r>
              <a:rPr sz="1400" b="1"/>
              <a:t>Share the tribe's alternate-day counts </a:t>
            </a:r>
            <a:r>
              <a:rPr sz="1400"/>
              <a:t>and it holds at 0.40, better than today (both beaches every dig day = best joint donor).</a:t>
            </a:r>
          </a:p>
        </p:txBody>
      </p:sp>
      <p:sp>
        <p:nvSpPr>
          <p:cNvPr id="5" name="Content Placeholder 4"/>
          <p:cNvSpPr>
            <a:spLocks noGrp="1"/>
          </p:cNvSpPr>
          <p:nvPr>
            <p:ph sz="half" idx="11"/>
          </p:nvPr>
        </p:nvSpPr>
        <p:spPr/>
        <p:txBody>
          <a:bodyPr/>
          <a:lstStyle/>
          <a:p>
            <a:endParaRPr/>
          </a:p>
        </p:txBody>
      </p:sp>
      <p:pic>
        <p:nvPicPr>
          <p:cNvPr id="6" name="Picture 5" descr="fig15_donor_comanagement.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Recommendations, in priority order</a:t>
            </a:r>
          </a:p>
        </p:txBody>
      </p:sp>
      <p:sp>
        <p:nvSpPr>
          <p:cNvPr id="3" name="Content Placeholder 2"/>
          <p:cNvSpPr>
            <a:spLocks noGrp="1"/>
          </p:cNvSpPr>
          <p:nvPr>
            <p:ph idx="1"/>
          </p:nvPr>
        </p:nvSpPr>
        <p:spPr/>
        <p:txBody>
          <a:bodyPr wrap="square"/>
          <a:lstStyle/>
          <a:p>
            <a:r>
              <a:rPr sz="1500" b="1"/>
              <a:t>1.  Survey first. </a:t>
            </a:r>
            <a:r>
              <a:rPr sz="1500"/>
              <a:t>Run egress surveys at Long Beach and Twin Harbors, both conditions, the only input that moves the dominant term.</a:t>
            </a:r>
          </a:p>
          <a:p>
            <a:r>
              <a:rPr sz="1500" b="1"/>
              <a:t>2.  Sample ~45% of open days, largest-effort first, </a:t>
            </a:r>
            <a:r>
              <a:rPr sz="1500"/>
              <a:t>and reallocate crew from Copalis/Mocrocks to Long Beach. Cost-neutral (−19 crew-day units); Long Beach meets a published standard for the first time.</a:t>
            </a:r>
          </a:p>
          <a:p>
            <a:r>
              <a:rPr sz="1500" b="1"/>
              <a:t>3.  Condition the southern pullback on Quinault data-sharing </a:t>
            </a:r>
            <a:r>
              <a:rPr sz="1500"/>
              <a:t>for alternate-day effort and CPUE. It completes the donor series and holds northern-beach imputation error at or below today's.</a:t>
            </a:r>
          </a:p>
          <a:p>
            <a:r>
              <a:rPr sz="1500" b="1"/>
              <a:t>4.  Accept the Copalis floor: </a:t>
            </a:r>
            <a:r>
              <a:rPr sz="1500"/>
              <a:t>a harvest CV of 0.10 is infeasible there at any sampling rate, only more surveys would move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Discussion</a:t>
            </a:r>
          </a:p>
        </p:txBody>
      </p:sp>
    </p:spTree>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007B55"/>
      </a:accent1>
      <a:accent2>
        <a:srgbClr val="0F426B"/>
      </a:accent2>
      <a:accent3>
        <a:srgbClr val="92D2D8"/>
      </a:accent3>
      <a:accent4>
        <a:srgbClr val="FFD12E"/>
      </a:accent4>
      <a:accent5>
        <a:srgbClr val="D1D3D4"/>
      </a:accent5>
      <a:accent6>
        <a:srgbClr val="4EA72E"/>
      </a:accent6>
      <a:hlink>
        <a:srgbClr val="009D7D"/>
      </a:hlink>
      <a:folHlink>
        <a:srgbClr val="7286A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c55fcec3-bb2d-4ee6-a56c-bdfd532525fc">
      <Terms xmlns="http://schemas.microsoft.com/office/infopath/2007/PartnerControls"/>
    </lcf76f155ced4ddcb4097134ff3c332f>
    <TaxCatchAll xmlns="73c3c465-f3d4-4d37-9c58-e2ee535ad8e0" xsi:nil="true"/>
    <NameinDAM xmlns="c55fcec3-bb2d-4ee6-a56c-bdfd532525f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3DF6C379CEE474091FA722A741F562C" ma:contentTypeVersion="18" ma:contentTypeDescription="Create a new document." ma:contentTypeScope="" ma:versionID="6d943700fdf77bec9a4960ab6af060cd">
  <xsd:schema xmlns:xsd="http://www.w3.org/2001/XMLSchema" xmlns:xs="http://www.w3.org/2001/XMLSchema" xmlns:p="http://schemas.microsoft.com/office/2006/metadata/properties" xmlns:ns1="http://schemas.microsoft.com/sharepoint/v3" xmlns:ns2="c55fcec3-bb2d-4ee6-a56c-bdfd532525fc" xmlns:ns3="73c3c465-f3d4-4d37-9c58-e2ee535ad8e0" targetNamespace="http://schemas.microsoft.com/office/2006/metadata/properties" ma:root="true" ma:fieldsID="f5f2cddc585f7bcfd68998bfccb1991a" ns1:_="" ns2:_="" ns3:_="">
    <xsd:import namespace="http://schemas.microsoft.com/sharepoint/v3"/>
    <xsd:import namespace="c55fcec3-bb2d-4ee6-a56c-bdfd532525fc"/>
    <xsd:import namespace="73c3c465-f3d4-4d37-9c58-e2ee535ad8e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1:_ip_UnifiedCompliancePolicyProperties" minOccurs="0"/>
                <xsd:element ref="ns1:_ip_UnifiedCompliancePolicyUIAction"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MediaServiceObjectDetectorVersions" minOccurs="0"/>
                <xsd:element ref="ns2:MediaServiceSearchProperties" minOccurs="0"/>
                <xsd:element ref="ns2:NameinDAM"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55fcec3-bb2d-4ee6-a56c-bdfd532525f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0a6a1c-50a4-4ec0-87e3-f00760ffe76b"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ameinDAM" ma:index="25" nillable="true" ma:displayName="Name in DAM" ma:format="Dropdown" ma:internalName="NameinDAM">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3c3c465-f3d4-4d37-9c58-e2ee535ad8e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c90470e-89a5-48c8-b2d6-7cca2721473a}" ma:internalName="TaxCatchAll" ma:showField="CatchAllData" ma:web="73c3c465-f3d4-4d37-9c58-e2ee535ad8e0">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1EA9719-73E1-4AAC-90C2-9E9ED399E0F4}">
  <ds:schemaRefs>
    <ds:schemaRef ds:uri="http://schemas.microsoft.com/sharepoint/v3/contenttype/forms"/>
  </ds:schemaRefs>
</ds:datastoreItem>
</file>

<file path=customXml/itemProps2.xml><?xml version="1.0" encoding="utf-8"?>
<ds:datastoreItem xmlns:ds="http://schemas.openxmlformats.org/officeDocument/2006/customXml" ds:itemID="{B432BB05-EAC0-435E-80C7-C3FC0DCFDF5B}">
  <ds:schemaRefs>
    <ds:schemaRef ds:uri="http://www.w3.org/XML/1998/namespace"/>
    <ds:schemaRef ds:uri="73c3c465-f3d4-4d37-9c58-e2ee535ad8e0"/>
    <ds:schemaRef ds:uri="http://schemas.microsoft.com/sharepoint/v3"/>
    <ds:schemaRef ds:uri="http://schemas.microsoft.com/office/2006/documentManagement/types"/>
    <ds:schemaRef ds:uri="http://purl.org/dc/elements/1.1/"/>
    <ds:schemaRef ds:uri="http://schemas.microsoft.com/office/infopath/2007/PartnerControls"/>
    <ds:schemaRef ds:uri="c55fcec3-bb2d-4ee6-a56c-bdfd532525fc"/>
    <ds:schemaRef ds:uri="http://schemas.openxmlformats.org/package/2006/metadata/core-properties"/>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236337B2-684D-4381-98D1-02BFB399796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c55fcec3-bb2d-4ee6-a56c-bdfd532525fc"/>
    <ds:schemaRef ds:uri="73c3c465-f3d4-4d37-9c58-e2ee535ad8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5011977-b912-4387-97a4-f4c94a801377}" enabled="1" method="Standard" siteId="{11d0e217-264e-400a-8ba0-57dcc127d72d}" removed="0"/>
</clbl:labelList>
</file>

<file path=docProps/app.xml><?xml version="1.0" encoding="utf-8"?>
<Properties xmlns="http://schemas.openxmlformats.org/officeDocument/2006/extended-properties" xmlns:vt="http://schemas.openxmlformats.org/officeDocument/2006/docPropsVTypes">
  <TotalTime>1744</TotalTime>
  <Words>1218</Words>
  <Application>Microsoft Office PowerPoint</Application>
  <PresentationFormat>Widescreen</PresentationFormat>
  <Paragraphs>104</Paragraphs>
  <Slides>16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Calibri</vt:lpstr>
      <vt:lpstr>Segoe UI</vt:lpstr>
      <vt:lpstr>Office Theme</vt:lpstr>
      <vt:lpstr>In-Season Sampling Design for the Coastal Razor Clam Fishery</vt:lpstr>
      <vt:lpstr>The question this answers</vt:lpstr>
      <vt:lpstr>Priors: what the estimate rests on</vt:lpstr>
      <vt:lpstr>The expansion table is the instrument, and it has moved</vt:lpstr>
      <vt:lpstr>The correction factor dominates, and it does not average down</vt:lpstr>
      <vt:lpstr>For harvest, borrowed catch rate is the largest term up north</vt:lpstr>
      <vt:lpstr>How many days, and which ones</vt:lpstr>
      <vt:lpstr>Count about 45% of a beach's open days, with a floor of two</vt:lpstr>
      <vt:lpstr>Which days to count: the largest-effort days</vt:lpstr>
      <vt:lpstr>Some precision cannot be bought with crew days</vt:lpstr>
      <vt:lpstr>The reallocation pays for itself: minus 19 crew-day units</vt:lpstr>
      <vt:lpstr>Recommendations for the 2026-27 season</vt:lpstr>
      <vt:lpstr>Run egress surveys at Long Beach and Twin Harbors, both conditions</vt:lpstr>
      <vt:lpstr>Pulling the southern beaches back is not free, co-management is the lever</vt:lpstr>
      <vt:lpstr>Recommendations, in priority order</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Washington Department of Fish and Wildlife</dc:creator>
  <cp:lastModifiedBy>Matt George</cp:lastModifiedBy>
  <cp:revision>15</cp:revision>
  <dcterms:created xsi:type="dcterms:W3CDTF">2024-02-02T23:28:24Z</dcterms:created>
  <dcterms:modified xsi:type="dcterms:W3CDTF">2026-07-13T16:49:06Z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5011977-b912-4387-97a4-f4c94a801377_Enabled">
    <vt:lpwstr>true</vt:lpwstr>
  </property>
  <property fmtid="{D5CDD505-2E9C-101B-9397-08002B2CF9AE}" pid="3" name="MSIP_Label_45011977-b912-4387-97a4-f4c94a801377_SetDate">
    <vt:lpwstr>2024-02-03T00:07:05Z</vt:lpwstr>
  </property>
  <property fmtid="{D5CDD505-2E9C-101B-9397-08002B2CF9AE}" pid="4" name="MSIP_Label_45011977-b912-4387-97a4-f4c94a801377_Method">
    <vt:lpwstr>Standard</vt:lpwstr>
  </property>
  <property fmtid="{D5CDD505-2E9C-101B-9397-08002B2CF9AE}" pid="5" name="MSIP_Label_45011977-b912-4387-97a4-f4c94a801377_Name">
    <vt:lpwstr>Uncategorized Data</vt:lpwstr>
  </property>
  <property fmtid="{D5CDD505-2E9C-101B-9397-08002B2CF9AE}" pid="6" name="MSIP_Label_45011977-b912-4387-97a4-f4c94a801377_SiteId">
    <vt:lpwstr>11d0e217-264e-400a-8ba0-57dcc127d72d</vt:lpwstr>
  </property>
  <property fmtid="{D5CDD505-2E9C-101B-9397-08002B2CF9AE}" pid="7" name="MSIP_Label_45011977-b912-4387-97a4-f4c94a801377_ActionId">
    <vt:lpwstr>2dc8ed1d-0dbc-44fc-8405-9fa39dbf00ba</vt:lpwstr>
  </property>
  <property fmtid="{D5CDD505-2E9C-101B-9397-08002B2CF9AE}" pid="8" name="MSIP_Label_45011977-b912-4387-97a4-f4c94a801377_ContentBits">
    <vt:lpwstr>0</vt:lpwstr>
  </property>
  <property fmtid="{D5CDD505-2E9C-101B-9397-08002B2CF9AE}" pid="9" name="ContentTypeId">
    <vt:lpwstr>0x01010053DF6C379CEE474091FA722A741F562C</vt:lpwstr>
  </property>
  <property fmtid="{D5CDD505-2E9C-101B-9397-08002B2CF9AE}" pid="10" name="MediaServiceImageTags">
    <vt:lpwstr/>
  </property>
</Properties>
</file>