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media/image2.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handoutMasterIdLst>
    <p:handoutMasterId r:id="rId19"/>
  </p:handoutMasterIdLst>
  <p:sldIdLst>
    <p:sldId id="256" r:id="rId11"/>
    <p:sldId id="257" r:id="rId13"/>
    <p:sldId id="258" r:id="rId14"/>
    <p:sldId id="259" r:id="rId15"/>
    <p:sldId id="260" r:id="rId16"/>
    <p:sldId id="261" r:id="rId17"/>
    <p:sldId id="262" r:id="rId18"/>
    <p:sldId id="263" r:id="rId10"/>
    <p:sldId id="264" r:id="rId9"/>
    <p:sldId id="265" r:id="rId8"/>
    <p:sldId id="266" r:id="rId7"/>
    <p:sldId id="267" r:id="rId6"/>
    <p:sldId id="268" r:id="rId5"/>
    <p:sldId id="269" r:id="rId25"/>
    <p:sldId id="270" r:id="rId26"/>
    <p:sldId id="271" r:id="rId27"/>
    <p:sldId id="272" r:id="rId28"/>
    <p:sldId id="273" r:id="rId29"/>
    <p:sldId id="274" r:id="rId30"/>
    <p:sldId id="275"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07EB4D7-25B6-6B85-9290-F95130246F2E}" name="Couch, Eryn (DFW)" initials="C(" userId="S::eryn.couch@dfw.wa.gov::6628dc54-d9a5-4187-8a46-71485c065632" providerId="AD"/>
  <p188:author id="{DCBB07DC-9E44-AA92-C39B-18FE8A26D185}" name="Hart, Alison L (DFW)" initials="AH" userId="Hart, Alison L (DFW)" providerId="Non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F426B"/>
    <a:srgbClr val="92D2D8"/>
    <a:srgbClr val="007B55"/>
    <a:srgbClr val="F15D44"/>
    <a:srgbClr val="5A594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10" d="100"/>
          <a:sy n="110" d="100"/>
        </p:scale>
        <p:origin x="630" y="114"/>
      </p:cViewPr>
      <p:guideLst/>
    </p:cSldViewPr>
  </p:slideViewPr>
  <p:notesTextViewPr>
    <p:cViewPr>
      <p:scale>
        <a:sx n="1" d="1"/>
        <a:sy n="1" d="1"/>
      </p:scale>
      <p:origin x="0" y="0"/>
    </p:cViewPr>
  </p:notesTextViewPr>
  <p:notesViewPr>
    <p:cSldViewPr snapToGrid="0">
      <p:cViewPr varScale="1">
        <p:scale>
          <a:sx n="85" d="100"/>
          <a:sy n="85" d="100"/>
        </p:scale>
        <p:origin x="3888" y="9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3.xml"/><Relationship Id="rId6" Type="http://schemas.openxmlformats.org/officeDocument/2006/relationships/slide" Target="slides/slide12.xml"/><Relationship Id="rId7" Type="http://schemas.openxmlformats.org/officeDocument/2006/relationships/slide" Target="slides/slide11.xml"/><Relationship Id="rId8" Type="http://schemas.openxmlformats.org/officeDocument/2006/relationships/slide" Target="slides/slide10.xml"/><Relationship Id="rId9" Type="http://schemas.openxmlformats.org/officeDocument/2006/relationships/slide" Target="slides/slide9.xml"/><Relationship Id="rId10" Type="http://schemas.openxmlformats.org/officeDocument/2006/relationships/slide" Target="slides/slide8.xml"/><Relationship Id="rId11" Type="http://schemas.openxmlformats.org/officeDocument/2006/relationships/slide" Target="slides/slide1.xml"/><Relationship Id="rId12" Type="http://schemas.openxmlformats.org/officeDocument/2006/relationships/notesMaster" Target="notesMasters/notesMaster1.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8/10/relationships/authors" Target="authors.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709FEE8-815C-9F09-84E1-59C2DBCAC01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C3208CE1-7C1C-D566-D628-3E61F2FFFEA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A1D058-9860-4C37-9D21-AC6EFE975A47}" type="datetimeFigureOut">
              <a:rPr lang="en-US" smtClean="0"/>
              <a:t>3/12/2026</a:t>
            </a:fld>
            <a:endParaRPr lang="en-US"/>
          </a:p>
        </p:txBody>
      </p:sp>
      <p:sp>
        <p:nvSpPr>
          <p:cNvPr id="4" name="Footer Placeholder 3">
            <a:extLst>
              <a:ext uri="{FF2B5EF4-FFF2-40B4-BE49-F238E27FC236}">
                <a16:creationId xmlns:a16="http://schemas.microsoft.com/office/drawing/2014/main" id="{6A63D8D6-66E1-4233-947C-6DCAC938240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1F51885-49A3-9397-8220-7D6CCC81D7BF}"/>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76BAD10-440F-40BF-A94A-4B961E111E2E}" type="slidenum">
              <a:rPr lang="en-US" smtClean="0"/>
              <a:t>‹#›</a:t>
            </a:fld>
            <a:endParaRPr lang="en-US"/>
          </a:p>
        </p:txBody>
      </p:sp>
    </p:spTree>
    <p:extLst>
      <p:ext uri="{BB962C8B-B14F-4D97-AF65-F5344CB8AC3E}">
        <p14:creationId xmlns:p14="http://schemas.microsoft.com/office/powerpoint/2010/main" val="20130502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Goal: present the Section 11 sampling-design result, framed by the error budget (Sec 10) and the history (Sec 6), plus survey recommendations and the Copalis/Mocrocks donor question under co-management.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decision. The standard is external because WDFW has none for this fishery.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 6.2-6.3. The instrument itself changed, which propagates into the imputation ratios.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 10.1 / Table 14. Key reframing: magnitude is not what matters, correlation 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 10.2 / Tables 15-16. Foreshadows the donor question: the southern beaches are the donors.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 11.2 / Table 19. The headline answer.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 11.3 / Table 20.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 11.4 / Table 21. Only surveys move the floor.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 11.5 / Table 22. Cost-neutral. But see the donor caveat next.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 10.3 / Table 4. Priority: TH evening (2 surveys), LB evening &amp; daylight, TH daylight.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 11.6-11.7 + revised Fig 15. Correction: the Quinault alternate-day fishery is NOT a state proxy, so there is no offsetting data-share. The cost of thinning the donor is real and unoffset. This is why the recommendation is to hold the donor at its co-management floor and fund Long Beach from the pilot instead.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INGRESSPLAN98.docx (method, one counter per approach); consolidated IE inventory (Long Beach surveys were Oysterville-north-only or Seaview-south-only, never whole-beach); wdfw02656.pdf (7-section effort structure; the six drivable approaches are Seaview, Long Beach/Bolstad, Cranberry, Klipsan, Ocean Park, Oysterville).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crews, not one, because Long Beach is far longer than Twin Harbors or Mocrocks and carries several thousand diggers on a good day. The paired northern survey is the explicit test of the imputation the whole program leans 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 10.3 / new Fig 16. The pilot is not one survey but the start of a rebuilt table; and because it is whole-beach it fixes the within-beach section allocation that partial surveys leave imputed.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Reordered after the Quinault correction. #1 (the pilot) and #2 (hold the donor floor) are the highest-leverage moves. #4 replaces the old 'condition the pullback on tribal data-sharing', which was wrong: there is no tribal offset.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29B20E8-EE02-1820-5544-18085A336327}"/>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userDrawn="1"/>
        </p:nvSpPr>
        <p:spPr>
          <a:xfrm>
            <a:off x="0" y="0"/>
            <a:ext cx="12192000" cy="3429000"/>
          </a:xfrm>
          <a:prstGeom prst="rect">
            <a:avLst/>
          </a:prstGeom>
          <a:solidFill>
            <a:srgbClr val="0F426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srgbClr val="007A53"/>
              </a:solidFill>
            </a:endParaRPr>
          </a:p>
        </p:txBody>
      </p:sp>
      <p:sp>
        <p:nvSpPr>
          <p:cNvPr id="8" name="Title 1">
            <a:extLst>
              <a:ext uri="{FF2B5EF4-FFF2-40B4-BE49-F238E27FC236}">
                <a16:creationId xmlns:a16="http://schemas.microsoft.com/office/drawing/2014/main" id="{6BC7EB52-0C9C-F1C6-B091-BF55222372B7}"/>
              </a:ext>
            </a:extLst>
          </p:cNvPr>
          <p:cNvSpPr>
            <a:spLocks noGrp="1"/>
          </p:cNvSpPr>
          <p:nvPr>
            <p:ph type="title" hasCustomPrompt="1"/>
          </p:nvPr>
        </p:nvSpPr>
        <p:spPr>
          <a:xfrm>
            <a:off x="508000" y="1143000"/>
            <a:ext cx="11176000" cy="1143000"/>
          </a:xfrm>
        </p:spPr>
        <p:txBody>
          <a:bodyPr>
            <a:normAutofit/>
          </a:bodyPr>
          <a:lstStyle>
            <a:lvl1pPr>
              <a:defRPr sz="4200" b="1" baseline="0">
                <a:solidFill>
                  <a:schemeClr val="bg1"/>
                </a:solidFill>
                <a:latin typeface="Segoe UI" panose="020B0502040204020203" pitchFamily="34" charset="0"/>
                <a:cs typeface="Segoe UI" panose="020B0502040204020203" pitchFamily="34" charset="0"/>
              </a:defRPr>
            </a:lvl1pPr>
          </a:lstStyle>
          <a:p>
            <a:r>
              <a:rPr lang="en-US" dirty="0"/>
              <a:t>Master title style</a:t>
            </a:r>
          </a:p>
        </p:txBody>
      </p:sp>
      <p:sp>
        <p:nvSpPr>
          <p:cNvPr id="2" name="Content Placeholder 2">
            <a:extLst>
              <a:ext uri="{FF2B5EF4-FFF2-40B4-BE49-F238E27FC236}">
                <a16:creationId xmlns:a16="http://schemas.microsoft.com/office/drawing/2014/main" id="{5A35CD5F-D907-C543-D46B-BA1D02F01831}"/>
              </a:ext>
            </a:extLst>
          </p:cNvPr>
          <p:cNvSpPr>
            <a:spLocks noGrp="1"/>
          </p:cNvSpPr>
          <p:nvPr>
            <p:ph sz="half" idx="1" hasCustomPrompt="1"/>
          </p:nvPr>
        </p:nvSpPr>
        <p:spPr>
          <a:xfrm>
            <a:off x="2180065" y="3645260"/>
            <a:ext cx="7831869" cy="1551490"/>
          </a:xfrm>
        </p:spPr>
        <p:txBody>
          <a:bodyPr>
            <a:normAutofit/>
          </a:bodyPr>
          <a:lstStyle>
            <a:lvl1pPr algn="ctr">
              <a:defRPr sz="2800">
                <a:solidFill>
                  <a:srgbClr val="5A594D"/>
                </a:solidFill>
              </a:defRPr>
            </a:lvl1pPr>
            <a:lvl2pPr>
              <a:defRPr sz="2800"/>
            </a:lvl2pPr>
            <a:lvl3pPr>
              <a:defRPr sz="2400"/>
            </a:lvl3pPr>
            <a:lvl4pPr>
              <a:defRPr sz="2000"/>
            </a:lvl4pPr>
            <a:lvl5pPr>
              <a:defRPr sz="2000"/>
            </a:lvl5pPr>
          </a:lstStyle>
          <a:p>
            <a:pPr lvl="0"/>
            <a:r>
              <a:rPr lang="en-US" dirty="0"/>
              <a:t>Speaker Name</a:t>
            </a:r>
          </a:p>
          <a:p>
            <a:pPr lvl="0"/>
            <a:r>
              <a:rPr lang="en-US" dirty="0"/>
              <a:t>Title, Program Name</a:t>
            </a:r>
          </a:p>
          <a:p>
            <a:pPr lvl="0"/>
            <a:r>
              <a:rPr lang="en-US" dirty="0"/>
              <a:t>Date</a:t>
            </a:r>
          </a:p>
        </p:txBody>
      </p:sp>
      <p:pic>
        <p:nvPicPr>
          <p:cNvPr id="10" name="Picture 8">
            <a:extLst>
              <a:ext uri="{FF2B5EF4-FFF2-40B4-BE49-F238E27FC236}">
                <a16:creationId xmlns:a16="http://schemas.microsoft.com/office/drawing/2014/main" id="{0DCAE3D6-58BB-7007-2D20-F621752710BE}"/>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5023353" y="5314966"/>
            <a:ext cx="2145293" cy="1199670"/>
          </a:xfrm>
          <a:prstGeom prst="rect">
            <a:avLst/>
          </a:prstGeom>
        </p:spPr>
      </p:pic>
      <p:sp>
        <p:nvSpPr>
          <p:cNvPr id="9" name="Rectangle 8">
            <a:extLst>
              <a:ext uri="{FF2B5EF4-FFF2-40B4-BE49-F238E27FC236}">
                <a16:creationId xmlns:a16="http://schemas.microsoft.com/office/drawing/2014/main" id="{D2BDC616-847B-BDDA-D087-1397910DA645}"/>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userDrawn="1"/>
        </p:nvSpPr>
        <p:spPr>
          <a:xfrm>
            <a:off x="0" y="3429000"/>
            <a:ext cx="12192000" cy="76200"/>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33650280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4731443-4BAF-A624-C348-6ABCE5F5E791}"/>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userDrawn="1"/>
        </p:nvSpPr>
        <p:spPr>
          <a:xfrm>
            <a:off x="0" y="2057400"/>
            <a:ext cx="12192000" cy="2743200"/>
          </a:xfrm>
          <a:prstGeom prst="rect">
            <a:avLst/>
          </a:prstGeom>
          <a:solidFill>
            <a:srgbClr val="0F426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itle 1">
            <a:extLst>
              <a:ext uri="{FF2B5EF4-FFF2-40B4-BE49-F238E27FC236}">
                <a16:creationId xmlns:a16="http://schemas.microsoft.com/office/drawing/2014/main" id="{BDAEBB8A-5F07-AAF3-2E74-B640CE9A3DF6}"/>
              </a:ext>
              <a:ext uri="{C183D7F6-B498-43B3-948B-1728B52AA6E4}">
                <adec:decorative xmlns:adec="http://schemas.microsoft.com/office/drawing/2017/decorative" val="0"/>
              </a:ext>
            </a:extLst>
          </p:cNvPr>
          <p:cNvSpPr>
            <a:spLocks noGrp="1"/>
          </p:cNvSpPr>
          <p:nvPr>
            <p:ph type="ctrTitle" hasCustomPrompt="1"/>
          </p:nvPr>
        </p:nvSpPr>
        <p:spPr>
          <a:xfrm>
            <a:off x="2844800" y="2667000"/>
            <a:ext cx="8534400" cy="1371600"/>
          </a:xfrm>
        </p:spPr>
        <p:txBody>
          <a:bodyPr>
            <a:normAutofit/>
          </a:bodyPr>
          <a:lstStyle>
            <a:lvl1pPr algn="l">
              <a:defRPr sz="4000" b="1">
                <a:solidFill>
                  <a:schemeClr val="bg1"/>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pic>
        <p:nvPicPr>
          <p:cNvPr id="9" name="Picture 8">
            <a:extLst>
              <a:ext uri="{FF2B5EF4-FFF2-40B4-BE49-F238E27FC236}">
                <a16:creationId xmlns:a16="http://schemas.microsoft.com/office/drawing/2014/main" id="{915BFBA1-44DB-AF22-0306-2F799446F60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r:embed="rId2" cstate="print">
            <a:extLst>
              <a:ext uri="{28A0092B-C50C-407E-A947-70E740481C1C}">
                <a14:useLocalDpi xmlns:a14="http://schemas.microsoft.com/office/drawing/2010/main" val="0"/>
              </a:ext>
            </a:extLst>
          </a:blip>
          <a:srcRect/>
          <a:stretch/>
        </p:blipFill>
        <p:spPr>
          <a:xfrm>
            <a:off x="813594" y="2543175"/>
            <a:ext cx="1281906" cy="1619250"/>
          </a:xfrm>
          <a:prstGeom prst="rect">
            <a:avLst/>
          </a:prstGeom>
        </p:spPr>
      </p:pic>
      <p:sp>
        <p:nvSpPr>
          <p:cNvPr id="10" name="TextBox 9">
            <a:extLst>
              <a:ext uri="{FF2B5EF4-FFF2-40B4-BE49-F238E27FC236}">
                <a16:creationId xmlns:a16="http://schemas.microsoft.com/office/drawing/2014/main" id="{AEBE36C2-37B7-77C8-A2C8-8CEB14566916}"/>
              </a:ext>
              <a:ext uri="{C183D7F6-B498-43B3-948B-1728B52AA6E4}">
                <adec:decorative xmlns:adec="http://schemas.microsoft.com/office/drawing/2017/decorative" val="0"/>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rgbClr val="5A594D"/>
                </a:solidFill>
                <a:latin typeface="Calibri" panose="020F0502020204030204" pitchFamily="34" charset="0"/>
                <a:ea typeface="Roboto Slab" pitchFamily="2" charset="0"/>
                <a:cs typeface="Calibri" panose="020F0502020204030204" pitchFamily="34" charset="0"/>
              </a:rPr>
              <a:t>‹#›</a:t>
            </a:fld>
            <a:endParaRPr lang="en-US" sz="1100" b="1" dirty="0">
              <a:solidFill>
                <a:srgbClr val="5A594D"/>
              </a:solidFill>
              <a:latin typeface="Calibri" panose="020F0502020204030204" pitchFamily="34" charset="0"/>
              <a:ea typeface="Roboto Slab" pitchFamily="2" charset="0"/>
              <a:cs typeface="Calibri" panose="020F0502020204030204" pitchFamily="34" charset="0"/>
            </a:endParaRPr>
          </a:p>
        </p:txBody>
      </p:sp>
    </p:spTree>
    <p:extLst>
      <p:ext uri="{BB962C8B-B14F-4D97-AF65-F5344CB8AC3E}">
        <p14:creationId xmlns:p14="http://schemas.microsoft.com/office/powerpoint/2010/main" val="20610813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Slide">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5D687948-4D2F-57CF-C228-5BD687C99F52}"/>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8" name="Rectangle 7">
              <a:extLst>
                <a:ext uri="{FF2B5EF4-FFF2-40B4-BE49-F238E27FC236}">
                  <a16:creationId xmlns:a16="http://schemas.microsoft.com/office/drawing/2014/main" id="{5E09C125-C78B-1E7C-9B80-02C0025D15EE}"/>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9" name="Rectangle 8">
              <a:extLst>
                <a:ext uri="{FF2B5EF4-FFF2-40B4-BE49-F238E27FC236}">
                  <a16:creationId xmlns:a16="http://schemas.microsoft.com/office/drawing/2014/main" id="{112519E8-CEBF-D73C-75F5-F992DC2B96EE}"/>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0" name="Title 1">
            <a:extLst>
              <a:ext uri="{FF2B5EF4-FFF2-40B4-BE49-F238E27FC236}">
                <a16:creationId xmlns:a16="http://schemas.microsoft.com/office/drawing/2014/main" id="{FEE575BB-B8AD-3961-7DC1-7A99C084FD64}"/>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11" name="Content Placeholder 2">
            <a:extLst>
              <a:ext uri="{FF2B5EF4-FFF2-40B4-BE49-F238E27FC236}">
                <a16:creationId xmlns:a16="http://schemas.microsoft.com/office/drawing/2014/main" id="{849C2614-C120-DE70-9364-4FE58CE3B8B7}"/>
              </a:ext>
            </a:extLst>
          </p:cNvPr>
          <p:cNvSpPr>
            <a:spLocks noGrp="1"/>
          </p:cNvSpPr>
          <p:nvPr>
            <p:ph idx="1" hasCustomPrompt="1"/>
          </p:nvPr>
        </p:nvSpPr>
        <p:spPr>
          <a:xfrm>
            <a:off x="593212" y="1143000"/>
            <a:ext cx="10989187" cy="4800600"/>
          </a:xfrm>
        </p:spPr>
        <p:txBody>
          <a:bodyPr>
            <a:normAutofit/>
          </a:bodyPr>
          <a:lstStyle>
            <a:lvl1pPr marL="0" indent="0">
              <a:buNone/>
              <a:defRPr sz="3200">
                <a:solidFill>
                  <a:srgbClr val="0F426B"/>
                </a:solidFill>
                <a:latin typeface="Calibri" panose="020F0502020204030204" pitchFamily="34" charset="0"/>
                <a:ea typeface="Ebrima" panose="02000000000000000000" pitchFamily="2" charset="0"/>
                <a:cs typeface="Calibri" panose="020F0502020204030204" pitchFamily="34" charset="0"/>
              </a:defRPr>
            </a:lvl1pPr>
            <a:lvl2pPr marL="365760" indent="-274320">
              <a:defRPr sz="2800">
                <a:solidFill>
                  <a:srgbClr val="0F426B"/>
                </a:solidFill>
                <a:latin typeface="Calibri" panose="020F0502020204030204" pitchFamily="34" charset="0"/>
                <a:ea typeface="Ebrima" panose="02000000000000000000" pitchFamily="2" charset="0"/>
                <a:cs typeface="Calibri" panose="020F0502020204030204" pitchFamily="34" charset="0"/>
              </a:defRPr>
            </a:lvl2pPr>
            <a:lvl3pPr marL="640080" indent="-182880">
              <a:defRPr sz="2400">
                <a:solidFill>
                  <a:srgbClr val="0F426B"/>
                </a:solidFill>
                <a:latin typeface="Calibri" panose="020F0502020204030204" pitchFamily="34" charset="0"/>
                <a:ea typeface="Ebrima" panose="02000000000000000000" pitchFamily="2" charset="0"/>
                <a:cs typeface="Calibri" panose="020F0502020204030204" pitchFamily="34" charset="0"/>
              </a:defRPr>
            </a:lvl3pPr>
            <a:lvl4pPr marL="1005840">
              <a:defRPr sz="2000">
                <a:solidFill>
                  <a:srgbClr val="0F426B"/>
                </a:solidFill>
                <a:latin typeface="Calibri" panose="020F0502020204030204" pitchFamily="34" charset="0"/>
                <a:ea typeface="Ebrima" panose="02000000000000000000" pitchFamily="2" charset="0"/>
                <a:cs typeface="Calibri" panose="020F0502020204030204" pitchFamily="34" charset="0"/>
              </a:defRPr>
            </a:lvl4pPr>
            <a:lvl5pPr marL="1188720">
              <a:defRPr sz="2000">
                <a:solidFill>
                  <a:srgbClr val="0F426B"/>
                </a:solidFill>
                <a:latin typeface="Calibri" panose="020F0502020204030204" pitchFamily="34" charset="0"/>
                <a:ea typeface="Ebrima" panose="02000000000000000000" pitchFamily="2" charset="0"/>
                <a:cs typeface="Calibri" panose="020F0502020204030204" pitchFamily="34" charset="0"/>
              </a:defRPr>
            </a:lvl5p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Box 11">
            <a:extLst>
              <a:ext uri="{FF2B5EF4-FFF2-40B4-BE49-F238E27FC236}">
                <a16:creationId xmlns:a16="http://schemas.microsoft.com/office/drawing/2014/main" id="{E2A7A3E6-A8D9-A61B-AD99-07756017775B}"/>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3" name="Graphic 12">
            <a:extLst>
              <a:ext uri="{FF2B5EF4-FFF2-40B4-BE49-F238E27FC236}">
                <a16:creationId xmlns:a16="http://schemas.microsoft.com/office/drawing/2014/main" id="{E0E51DA3-5135-68FE-C33C-DE98F42D59C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22085008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Slide">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FC68F89E-9F7A-9A57-5461-D6F332212357}"/>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AE2E124A-15E3-FBD3-700B-54BADAFDB1E8}"/>
              </a:ext>
            </a:extLst>
          </p:cNvPr>
          <p:cNvSpPr>
            <a:spLocks noGrp="1"/>
          </p:cNvSpPr>
          <p:nvPr>
            <p:ph sz="half" idx="1" hasCustomPrompt="1"/>
          </p:nvPr>
        </p:nvSpPr>
        <p:spPr>
          <a:xfrm>
            <a:off x="593212" y="1160091"/>
            <a:ext cx="5420180" cy="4731137"/>
          </a:xfrm>
        </p:spPr>
        <p:txBody>
          <a:bodyPr/>
          <a:lstStyle>
            <a:lvl1pPr>
              <a:defRPr sz="3200"/>
            </a:lvl1pPr>
            <a:lvl2pPr>
              <a:defRPr sz="2800"/>
            </a:lvl2pPr>
            <a:lvl3pPr>
              <a:defRPr sz="2400"/>
            </a:lvl3pPr>
            <a:lvl4pPr>
              <a:defRPr sz="2000"/>
            </a:lvl4pPr>
            <a:lvl5pPr>
              <a:defRPr sz="2000"/>
            </a:lvl5p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160C714A-E925-8EA8-C39B-E61BE08F0257}"/>
              </a:ext>
            </a:extLst>
          </p:cNvPr>
          <p:cNvSpPr>
            <a:spLocks noGrp="1"/>
          </p:cNvSpPr>
          <p:nvPr>
            <p:ph sz="half" idx="2" hasCustomPrompt="1"/>
          </p:nvPr>
        </p:nvSpPr>
        <p:spPr>
          <a:xfrm>
            <a:off x="6178609" y="1156914"/>
            <a:ext cx="5403791" cy="4731137"/>
          </a:xfrm>
        </p:spPr>
        <p:txBody>
          <a:bodyPr/>
          <a:lstStyle>
            <a:lvl1pPr>
              <a:defRPr sz="3200"/>
            </a:lvl1pPr>
            <a:lvl2pPr>
              <a:defRPr sz="2800"/>
            </a:lvl2pPr>
            <a:lvl3pPr>
              <a:defRPr sz="2400"/>
            </a:lvl3pPr>
            <a:lvl4pPr>
              <a:defRPr sz="2000"/>
            </a:lvl4pPr>
            <a:lvl5pPr>
              <a:defRPr sz="2000"/>
            </a:lvl5p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8" name="Group 7">
            <a:extLst>
              <a:ext uri="{FF2B5EF4-FFF2-40B4-BE49-F238E27FC236}">
                <a16:creationId xmlns:a16="http://schemas.microsoft.com/office/drawing/2014/main" id="{72D35D01-D513-A49B-DF93-0460AE6D357B}"/>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3199AB99-1256-B198-1E90-DE4CB94B53F8}"/>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A6E16079-6D89-C3DD-D420-D01EA7654A70}"/>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ECCF79BF-5446-4474-D141-994C1D284078}"/>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DBB3D561-8F5A-4471-40E1-22AEA0B949D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16485154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 with One Image or Figure">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FC68F89E-9F7A-9A57-5461-D6F332212357}"/>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AE2E124A-15E3-FBD3-700B-54BADAFDB1E8}"/>
              </a:ext>
              <a:ext uri="{C183D7F6-B498-43B3-948B-1728B52AA6E4}">
                <adec:decorative xmlns:adec="http://schemas.microsoft.com/office/drawing/2017/decorative" val="0"/>
              </a:ext>
            </a:extLst>
          </p:cNvPr>
          <p:cNvSpPr>
            <a:spLocks noGrp="1"/>
          </p:cNvSpPr>
          <p:nvPr>
            <p:ph sz="half" idx="1" hasCustomPrompt="1"/>
          </p:nvPr>
        </p:nvSpPr>
        <p:spPr>
          <a:xfrm>
            <a:off x="593212" y="1160091"/>
            <a:ext cx="5420180" cy="4731137"/>
          </a:xfrm>
        </p:spPr>
        <p:txBody>
          <a:bodyPr/>
          <a:lstStyle>
            <a:lvl1pPr>
              <a:defRPr sz="3200"/>
            </a:lvl1pPr>
            <a:lvl2pPr>
              <a:defRPr sz="2800"/>
            </a:lvl2pPr>
            <a:lvl3pPr>
              <a:defRPr sz="2400"/>
            </a:lvl3pPr>
            <a:lvl4pPr>
              <a:defRPr sz="2000"/>
            </a:lvl4pPr>
            <a:lvl5pPr>
              <a:defRPr sz="2000"/>
            </a:lvl5p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Picture Placeholder 2">
            <a:extLst>
              <a:ext uri="{FF2B5EF4-FFF2-40B4-BE49-F238E27FC236}">
                <a16:creationId xmlns:a16="http://schemas.microsoft.com/office/drawing/2014/main" id="{B6584567-5C82-5AF2-16CA-CC5F6B47E877}"/>
              </a:ext>
            </a:extLst>
          </p:cNvPr>
          <p:cNvSpPr>
            <a:spLocks noGrp="1"/>
          </p:cNvSpPr>
          <p:nvPr>
            <p:ph type="pic" idx="10" hasCustomPrompt="1"/>
          </p:nvPr>
        </p:nvSpPr>
        <p:spPr>
          <a:xfrm>
            <a:off x="6178610" y="1160092"/>
            <a:ext cx="5403790" cy="430729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5" name="Content Placeholder 2">
            <a:extLst>
              <a:ext uri="{FF2B5EF4-FFF2-40B4-BE49-F238E27FC236}">
                <a16:creationId xmlns:a16="http://schemas.microsoft.com/office/drawing/2014/main" id="{21943B9D-1DE3-3E5F-C3F7-356B4EE5C2FA}"/>
              </a:ext>
            </a:extLst>
          </p:cNvPr>
          <p:cNvSpPr>
            <a:spLocks noGrp="1"/>
          </p:cNvSpPr>
          <p:nvPr>
            <p:ph sz="half" idx="11" hasCustomPrompt="1"/>
          </p:nvPr>
        </p:nvSpPr>
        <p:spPr>
          <a:xfrm>
            <a:off x="6178610" y="5637498"/>
            <a:ext cx="5420180"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8" name="Group 7">
            <a:extLst>
              <a:ext uri="{FF2B5EF4-FFF2-40B4-BE49-F238E27FC236}">
                <a16:creationId xmlns:a16="http://schemas.microsoft.com/office/drawing/2014/main" id="{72D35D01-D513-A49B-DF93-0460AE6D357B}"/>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3199AB99-1256-B198-1E90-DE4CB94B53F8}"/>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A6E16079-6D89-C3DD-D420-D01EA7654A70}"/>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ECCF79BF-5446-4474-D141-994C1D284078}"/>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DBB3D561-8F5A-4471-40E1-22AEA0B949D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19890122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 with Two Images or Figures">
    <p:spTree>
      <p:nvGrpSpPr>
        <p:cNvPr id="1" name=""/>
        <p:cNvGrpSpPr/>
        <p:nvPr/>
      </p:nvGrpSpPr>
      <p:grpSpPr>
        <a:xfrm>
          <a:off x="0" y="0"/>
          <a:ext cx="0" cy="0"/>
          <a:chOff x="0" y="0"/>
          <a:chExt cx="0" cy="0"/>
        </a:xfrm>
      </p:grpSpPr>
      <p:sp>
        <p:nvSpPr>
          <p:cNvPr id="18" name="Title 1">
            <a:extLst>
              <a:ext uri="{FF2B5EF4-FFF2-40B4-BE49-F238E27FC236}">
                <a16:creationId xmlns:a16="http://schemas.microsoft.com/office/drawing/2014/main" id="{66A8D98D-32F0-3856-8ECD-C7676C4EDA25}"/>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696F640D-08FB-1ABB-A45A-322CD0EEA06B}"/>
              </a:ext>
            </a:extLst>
          </p:cNvPr>
          <p:cNvSpPr>
            <a:spLocks noGrp="1"/>
          </p:cNvSpPr>
          <p:nvPr>
            <p:ph idx="1" hasCustomPrompt="1"/>
          </p:nvPr>
        </p:nvSpPr>
        <p:spPr>
          <a:xfrm>
            <a:off x="594094" y="1154103"/>
            <a:ext cx="10988305" cy="1213084"/>
          </a:xfrm>
        </p:spPr>
        <p:txBody>
          <a:bodyPr/>
          <a:lstStyle>
            <a:lvl1pPr>
              <a:defRPr sz="3200"/>
            </a:lvl1pPr>
            <a:lvl2pPr marL="457200" indent="0">
              <a:buNone/>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Master text styles</a:t>
            </a:r>
          </a:p>
        </p:txBody>
      </p:sp>
      <p:sp>
        <p:nvSpPr>
          <p:cNvPr id="16" name="Picture Placeholder 2">
            <a:extLst>
              <a:ext uri="{FF2B5EF4-FFF2-40B4-BE49-F238E27FC236}">
                <a16:creationId xmlns:a16="http://schemas.microsoft.com/office/drawing/2014/main" id="{4F45E2E3-2911-AE05-4C8E-7C84A13D79AA}"/>
              </a:ext>
            </a:extLst>
          </p:cNvPr>
          <p:cNvSpPr>
            <a:spLocks noGrp="1"/>
          </p:cNvSpPr>
          <p:nvPr>
            <p:ph type="pic" idx="11" hasCustomPrompt="1"/>
          </p:nvPr>
        </p:nvSpPr>
        <p:spPr>
          <a:xfrm>
            <a:off x="609601" y="2511660"/>
            <a:ext cx="5403790" cy="31450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2" name="Content Placeholder 2">
            <a:extLst>
              <a:ext uri="{FF2B5EF4-FFF2-40B4-BE49-F238E27FC236}">
                <a16:creationId xmlns:a16="http://schemas.microsoft.com/office/drawing/2014/main" id="{15D12262-081C-F343-CB0B-2EF83F9B63CB}"/>
              </a:ext>
            </a:extLst>
          </p:cNvPr>
          <p:cNvSpPr>
            <a:spLocks noGrp="1"/>
          </p:cNvSpPr>
          <p:nvPr>
            <p:ph sz="half" idx="14" hasCustomPrompt="1"/>
          </p:nvPr>
        </p:nvSpPr>
        <p:spPr>
          <a:xfrm>
            <a:off x="609601" y="5787595"/>
            <a:ext cx="5420180"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14" name="Picture Placeholder 2">
            <a:extLst>
              <a:ext uri="{FF2B5EF4-FFF2-40B4-BE49-F238E27FC236}">
                <a16:creationId xmlns:a16="http://schemas.microsoft.com/office/drawing/2014/main" id="{227D89F9-E5E8-1D23-B541-9AC0A1B3D3DA}"/>
              </a:ext>
            </a:extLst>
          </p:cNvPr>
          <p:cNvSpPr>
            <a:spLocks noGrp="1"/>
          </p:cNvSpPr>
          <p:nvPr>
            <p:ph type="pic" idx="10" hasCustomPrompt="1"/>
          </p:nvPr>
        </p:nvSpPr>
        <p:spPr>
          <a:xfrm>
            <a:off x="6178610" y="2511660"/>
            <a:ext cx="5403790" cy="31450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6" name="Content Placeholder 2">
            <a:extLst>
              <a:ext uri="{FF2B5EF4-FFF2-40B4-BE49-F238E27FC236}">
                <a16:creationId xmlns:a16="http://schemas.microsoft.com/office/drawing/2014/main" id="{E28F8F39-9023-8D9C-C875-114F54DEB10F}"/>
              </a:ext>
            </a:extLst>
          </p:cNvPr>
          <p:cNvSpPr>
            <a:spLocks noGrp="1"/>
          </p:cNvSpPr>
          <p:nvPr>
            <p:ph sz="half" idx="13" hasCustomPrompt="1"/>
          </p:nvPr>
        </p:nvSpPr>
        <p:spPr>
          <a:xfrm>
            <a:off x="6178610" y="5787595"/>
            <a:ext cx="5420180"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8" name="Group 7">
            <a:extLst>
              <a:ext uri="{FF2B5EF4-FFF2-40B4-BE49-F238E27FC236}">
                <a16:creationId xmlns:a16="http://schemas.microsoft.com/office/drawing/2014/main" id="{D46344D7-743F-0440-C39E-F79E0B97C560}"/>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A0E5AFAE-B165-EE68-BBEB-21DAEFE633F2}"/>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357C6B7E-619E-D462-3F1A-83F2A95D8802}"/>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1ADDF728-D389-41F4-E9C5-2A99E3584FD6}"/>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5A03E084-6B9C-B381-C0BB-915F6FCE88F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30017195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with Three Images or Figures">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48536B0-08A2-DB4F-63ED-D36260041485}"/>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696F640D-08FB-1ABB-A45A-322CD0EEA06B}"/>
              </a:ext>
            </a:extLst>
          </p:cNvPr>
          <p:cNvSpPr>
            <a:spLocks noGrp="1"/>
          </p:cNvSpPr>
          <p:nvPr>
            <p:ph idx="1" hasCustomPrompt="1"/>
          </p:nvPr>
        </p:nvSpPr>
        <p:spPr>
          <a:xfrm>
            <a:off x="594094" y="1154103"/>
            <a:ext cx="10988305" cy="1213084"/>
          </a:xfrm>
        </p:spPr>
        <p:txBody>
          <a:bodyPr/>
          <a:lstStyle>
            <a:lvl1pPr>
              <a:defRPr sz="3200"/>
            </a:lvl1pPr>
            <a:lvl2pPr marL="457200" indent="0">
              <a:buNone/>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Master text styles</a:t>
            </a:r>
          </a:p>
        </p:txBody>
      </p:sp>
      <p:sp>
        <p:nvSpPr>
          <p:cNvPr id="16" name="Picture Placeholder 2">
            <a:extLst>
              <a:ext uri="{FF2B5EF4-FFF2-40B4-BE49-F238E27FC236}">
                <a16:creationId xmlns:a16="http://schemas.microsoft.com/office/drawing/2014/main" id="{4F45E2E3-2911-AE05-4C8E-7C84A13D79AA}"/>
              </a:ext>
            </a:extLst>
          </p:cNvPr>
          <p:cNvSpPr>
            <a:spLocks noGrp="1"/>
          </p:cNvSpPr>
          <p:nvPr>
            <p:ph type="pic" idx="11" hasCustomPrompt="1"/>
          </p:nvPr>
        </p:nvSpPr>
        <p:spPr>
          <a:xfrm>
            <a:off x="593212" y="2537298"/>
            <a:ext cx="3458197" cy="311942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5" name="Content Placeholder 2">
            <a:extLst>
              <a:ext uri="{FF2B5EF4-FFF2-40B4-BE49-F238E27FC236}">
                <a16:creationId xmlns:a16="http://schemas.microsoft.com/office/drawing/2014/main" id="{BCDC8034-E799-9636-AF90-FB2577D8242E}"/>
              </a:ext>
            </a:extLst>
          </p:cNvPr>
          <p:cNvSpPr>
            <a:spLocks noGrp="1"/>
          </p:cNvSpPr>
          <p:nvPr>
            <p:ph sz="half" idx="14" hasCustomPrompt="1"/>
          </p:nvPr>
        </p:nvSpPr>
        <p:spPr>
          <a:xfrm>
            <a:off x="609601" y="5787595"/>
            <a:ext cx="3441808"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14" name="Picture Placeholder 2">
            <a:extLst>
              <a:ext uri="{FF2B5EF4-FFF2-40B4-BE49-F238E27FC236}">
                <a16:creationId xmlns:a16="http://schemas.microsoft.com/office/drawing/2014/main" id="{227D89F9-E5E8-1D23-B541-9AC0A1B3D3DA}"/>
              </a:ext>
            </a:extLst>
          </p:cNvPr>
          <p:cNvSpPr>
            <a:spLocks noGrp="1"/>
          </p:cNvSpPr>
          <p:nvPr>
            <p:ph type="pic" idx="10" hasCustomPrompt="1"/>
          </p:nvPr>
        </p:nvSpPr>
        <p:spPr>
          <a:xfrm>
            <a:off x="4358707" y="2537298"/>
            <a:ext cx="3474586" cy="311942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6" name="Content Placeholder 2">
            <a:extLst>
              <a:ext uri="{FF2B5EF4-FFF2-40B4-BE49-F238E27FC236}">
                <a16:creationId xmlns:a16="http://schemas.microsoft.com/office/drawing/2014/main" id="{F0FC55FA-2313-B583-EC02-5AACB520C42E}"/>
              </a:ext>
            </a:extLst>
          </p:cNvPr>
          <p:cNvSpPr>
            <a:spLocks noGrp="1"/>
          </p:cNvSpPr>
          <p:nvPr>
            <p:ph sz="half" idx="15" hasCustomPrompt="1"/>
          </p:nvPr>
        </p:nvSpPr>
        <p:spPr>
          <a:xfrm>
            <a:off x="4358707" y="5787595"/>
            <a:ext cx="3441808"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2" name="Picture Placeholder 2">
            <a:extLst>
              <a:ext uri="{FF2B5EF4-FFF2-40B4-BE49-F238E27FC236}">
                <a16:creationId xmlns:a16="http://schemas.microsoft.com/office/drawing/2014/main" id="{D63BE60B-796F-B33A-F43D-A7F588ACBD93}"/>
              </a:ext>
            </a:extLst>
          </p:cNvPr>
          <p:cNvSpPr>
            <a:spLocks noGrp="1"/>
          </p:cNvSpPr>
          <p:nvPr>
            <p:ph type="pic" idx="12" hasCustomPrompt="1"/>
          </p:nvPr>
        </p:nvSpPr>
        <p:spPr>
          <a:xfrm>
            <a:off x="8107813" y="2537298"/>
            <a:ext cx="3474586" cy="311942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7" name="Content Placeholder 2">
            <a:extLst>
              <a:ext uri="{FF2B5EF4-FFF2-40B4-BE49-F238E27FC236}">
                <a16:creationId xmlns:a16="http://schemas.microsoft.com/office/drawing/2014/main" id="{85CF2935-7B5A-3650-C578-EBD3489C1894}"/>
              </a:ext>
            </a:extLst>
          </p:cNvPr>
          <p:cNvSpPr>
            <a:spLocks noGrp="1"/>
          </p:cNvSpPr>
          <p:nvPr>
            <p:ph sz="half" idx="16" hasCustomPrompt="1"/>
          </p:nvPr>
        </p:nvSpPr>
        <p:spPr>
          <a:xfrm>
            <a:off x="8107813" y="5789638"/>
            <a:ext cx="3441808"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8" name="Group 7">
            <a:extLst>
              <a:ext uri="{FF2B5EF4-FFF2-40B4-BE49-F238E27FC236}">
                <a16:creationId xmlns:a16="http://schemas.microsoft.com/office/drawing/2014/main" id="{D46344D7-743F-0440-C39E-F79E0B97C560}"/>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A0E5AFAE-B165-EE68-BBEB-21DAEFE633F2}"/>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357C6B7E-619E-D462-3F1A-83F2A95D8802}"/>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1ADDF728-D389-41F4-E9C5-2A99E3584FD6}"/>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5A03E084-6B9C-B381-C0BB-915F6FCE88F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18904397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Four Images or Figures">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AF720FB-C949-3605-A8FD-1E087BC21FC5}"/>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696F640D-08FB-1ABB-A45A-322CD0EEA06B}"/>
              </a:ext>
            </a:extLst>
          </p:cNvPr>
          <p:cNvSpPr>
            <a:spLocks noGrp="1"/>
          </p:cNvSpPr>
          <p:nvPr>
            <p:ph idx="1" hasCustomPrompt="1"/>
          </p:nvPr>
        </p:nvSpPr>
        <p:spPr>
          <a:xfrm>
            <a:off x="594094" y="1154103"/>
            <a:ext cx="10988305" cy="1213084"/>
          </a:xfrm>
        </p:spPr>
        <p:txBody>
          <a:bodyPr/>
          <a:lstStyle>
            <a:lvl1pPr>
              <a:defRPr sz="3200"/>
            </a:lvl1pPr>
            <a:lvl2pPr marL="457200" indent="0">
              <a:buNone/>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Master text styles</a:t>
            </a:r>
          </a:p>
        </p:txBody>
      </p:sp>
      <p:sp>
        <p:nvSpPr>
          <p:cNvPr id="16" name="Picture Placeholder 2">
            <a:extLst>
              <a:ext uri="{FF2B5EF4-FFF2-40B4-BE49-F238E27FC236}">
                <a16:creationId xmlns:a16="http://schemas.microsoft.com/office/drawing/2014/main" id="{4F45E2E3-2911-AE05-4C8E-7C84A13D79AA}"/>
              </a:ext>
            </a:extLst>
          </p:cNvPr>
          <p:cNvSpPr>
            <a:spLocks noGrp="1"/>
          </p:cNvSpPr>
          <p:nvPr>
            <p:ph type="pic" idx="11" hasCustomPrompt="1"/>
          </p:nvPr>
        </p:nvSpPr>
        <p:spPr>
          <a:xfrm>
            <a:off x="593212" y="2575636"/>
            <a:ext cx="2458850" cy="30968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6" name="Content Placeholder 2">
            <a:extLst>
              <a:ext uri="{FF2B5EF4-FFF2-40B4-BE49-F238E27FC236}">
                <a16:creationId xmlns:a16="http://schemas.microsoft.com/office/drawing/2014/main" id="{C5A1FA4D-8E9A-32ED-BB2B-2458E8522947}"/>
              </a:ext>
            </a:extLst>
          </p:cNvPr>
          <p:cNvSpPr>
            <a:spLocks noGrp="1"/>
          </p:cNvSpPr>
          <p:nvPr>
            <p:ph sz="half" idx="14" hasCustomPrompt="1"/>
          </p:nvPr>
        </p:nvSpPr>
        <p:spPr>
          <a:xfrm>
            <a:off x="609601" y="5787595"/>
            <a:ext cx="2442461"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14" name="Picture Placeholder 2">
            <a:extLst>
              <a:ext uri="{FF2B5EF4-FFF2-40B4-BE49-F238E27FC236}">
                <a16:creationId xmlns:a16="http://schemas.microsoft.com/office/drawing/2014/main" id="{227D89F9-E5E8-1D23-B541-9AC0A1B3D3DA}"/>
              </a:ext>
            </a:extLst>
          </p:cNvPr>
          <p:cNvSpPr>
            <a:spLocks noGrp="1"/>
          </p:cNvSpPr>
          <p:nvPr>
            <p:ph type="pic" idx="10" hasCustomPrompt="1"/>
          </p:nvPr>
        </p:nvSpPr>
        <p:spPr>
          <a:xfrm>
            <a:off x="3454417" y="2559821"/>
            <a:ext cx="2470503" cy="30968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7" name="Content Placeholder 2">
            <a:extLst>
              <a:ext uri="{FF2B5EF4-FFF2-40B4-BE49-F238E27FC236}">
                <a16:creationId xmlns:a16="http://schemas.microsoft.com/office/drawing/2014/main" id="{7FF1242B-AA97-4D77-BDE3-9A0D99673126}"/>
              </a:ext>
            </a:extLst>
          </p:cNvPr>
          <p:cNvSpPr>
            <a:spLocks noGrp="1"/>
          </p:cNvSpPr>
          <p:nvPr>
            <p:ph sz="half" idx="15" hasCustomPrompt="1"/>
          </p:nvPr>
        </p:nvSpPr>
        <p:spPr>
          <a:xfrm>
            <a:off x="3454417" y="5787595"/>
            <a:ext cx="2442461"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4" name="Picture Placeholder 2">
            <a:extLst>
              <a:ext uri="{FF2B5EF4-FFF2-40B4-BE49-F238E27FC236}">
                <a16:creationId xmlns:a16="http://schemas.microsoft.com/office/drawing/2014/main" id="{163B4FD5-AD0F-C1F4-9EEE-88FF9FA34B3A}"/>
              </a:ext>
            </a:extLst>
          </p:cNvPr>
          <p:cNvSpPr>
            <a:spLocks noGrp="1"/>
          </p:cNvSpPr>
          <p:nvPr>
            <p:ph type="pic" idx="13" hasCustomPrompt="1"/>
          </p:nvPr>
        </p:nvSpPr>
        <p:spPr>
          <a:xfrm>
            <a:off x="6327274" y="2563173"/>
            <a:ext cx="2470503" cy="30968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13" name="Content Placeholder 2">
            <a:extLst>
              <a:ext uri="{FF2B5EF4-FFF2-40B4-BE49-F238E27FC236}">
                <a16:creationId xmlns:a16="http://schemas.microsoft.com/office/drawing/2014/main" id="{841CD70C-55F1-A628-07B0-34F93B7BD047}"/>
              </a:ext>
            </a:extLst>
          </p:cNvPr>
          <p:cNvSpPr>
            <a:spLocks noGrp="1"/>
          </p:cNvSpPr>
          <p:nvPr>
            <p:ph sz="half" idx="16" hasCustomPrompt="1"/>
          </p:nvPr>
        </p:nvSpPr>
        <p:spPr>
          <a:xfrm>
            <a:off x="6327274" y="5785975"/>
            <a:ext cx="2442461"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2" name="Picture Placeholder 2">
            <a:extLst>
              <a:ext uri="{FF2B5EF4-FFF2-40B4-BE49-F238E27FC236}">
                <a16:creationId xmlns:a16="http://schemas.microsoft.com/office/drawing/2014/main" id="{D63BE60B-796F-B33A-F43D-A7F588ACBD93}"/>
              </a:ext>
            </a:extLst>
          </p:cNvPr>
          <p:cNvSpPr>
            <a:spLocks noGrp="1"/>
          </p:cNvSpPr>
          <p:nvPr>
            <p:ph type="pic" idx="12" hasCustomPrompt="1"/>
          </p:nvPr>
        </p:nvSpPr>
        <p:spPr>
          <a:xfrm>
            <a:off x="9111896" y="2559821"/>
            <a:ext cx="2470503" cy="30968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15" name="Content Placeholder 2">
            <a:extLst>
              <a:ext uri="{FF2B5EF4-FFF2-40B4-BE49-F238E27FC236}">
                <a16:creationId xmlns:a16="http://schemas.microsoft.com/office/drawing/2014/main" id="{43CF104B-64F4-96D7-0889-9B1A1B6B5F4A}"/>
              </a:ext>
            </a:extLst>
          </p:cNvPr>
          <p:cNvSpPr>
            <a:spLocks noGrp="1"/>
          </p:cNvSpPr>
          <p:nvPr>
            <p:ph sz="half" idx="17" hasCustomPrompt="1"/>
          </p:nvPr>
        </p:nvSpPr>
        <p:spPr>
          <a:xfrm>
            <a:off x="9111896" y="5785975"/>
            <a:ext cx="2442461"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8" name="Group 7">
            <a:extLst>
              <a:ext uri="{FF2B5EF4-FFF2-40B4-BE49-F238E27FC236}">
                <a16:creationId xmlns:a16="http://schemas.microsoft.com/office/drawing/2014/main" id="{D46344D7-743F-0440-C39E-F79E0B97C560}"/>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A0E5AFAE-B165-EE68-BBEB-21DAEFE633F2}"/>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357C6B7E-619E-D462-3F1A-83F2A95D8802}"/>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1ADDF728-D389-41F4-E9C5-2A99E3584FD6}"/>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5A03E084-6B9C-B381-C0BB-915F6FCE88F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3602001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mage or Figure Only">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2A60C347-0F02-8ABE-9C0A-2414CF30D31D}"/>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2" name="Picture Placeholder 2">
            <a:extLst>
              <a:ext uri="{FF2B5EF4-FFF2-40B4-BE49-F238E27FC236}">
                <a16:creationId xmlns:a16="http://schemas.microsoft.com/office/drawing/2014/main" id="{CB263469-5CF0-30FF-09BE-DBD3C2AEB576}"/>
              </a:ext>
            </a:extLst>
          </p:cNvPr>
          <p:cNvSpPr>
            <a:spLocks noGrp="1"/>
          </p:cNvSpPr>
          <p:nvPr>
            <p:ph type="pic" idx="10" hasCustomPrompt="1"/>
          </p:nvPr>
        </p:nvSpPr>
        <p:spPr>
          <a:xfrm>
            <a:off x="593213" y="1160092"/>
            <a:ext cx="10989187" cy="4496628"/>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7" name="Content Placeholder 2">
            <a:extLst>
              <a:ext uri="{FF2B5EF4-FFF2-40B4-BE49-F238E27FC236}">
                <a16:creationId xmlns:a16="http://schemas.microsoft.com/office/drawing/2014/main" id="{03C919D3-A039-50AE-CBD9-89F458D53EDD}"/>
              </a:ext>
            </a:extLst>
          </p:cNvPr>
          <p:cNvSpPr>
            <a:spLocks noGrp="1"/>
          </p:cNvSpPr>
          <p:nvPr>
            <p:ph sz="half" idx="14" hasCustomPrompt="1"/>
          </p:nvPr>
        </p:nvSpPr>
        <p:spPr>
          <a:xfrm>
            <a:off x="609601" y="5787595"/>
            <a:ext cx="10972799"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4" name="Group 3">
            <a:extLst>
              <a:ext uri="{FF2B5EF4-FFF2-40B4-BE49-F238E27FC236}">
                <a16:creationId xmlns:a16="http://schemas.microsoft.com/office/drawing/2014/main" id="{C1D5208B-6EC7-23B8-8646-0B92A3FA3BEA}"/>
              </a:ext>
              <a:ext uri="{C183D7F6-B498-43B3-948B-1728B52AA6E4}">
                <adec:decorative xmlns:adec="http://schemas.microsoft.com/office/drawing/2017/decorative" val="1"/>
              </a:ext>
            </a:extLst>
          </p:cNvPr>
          <p:cNvGrpSpPr/>
          <p:nvPr userDrawn="1"/>
        </p:nvGrpSpPr>
        <p:grpSpPr>
          <a:xfrm>
            <a:off x="0" y="6172200"/>
            <a:ext cx="12192000" cy="685801"/>
            <a:chOff x="0" y="6423843"/>
            <a:chExt cx="9144000" cy="434157"/>
          </a:xfrm>
        </p:grpSpPr>
        <p:sp>
          <p:nvSpPr>
            <p:cNvPr id="5" name="Rectangle 4">
              <a:extLst>
                <a:ext uri="{FF2B5EF4-FFF2-40B4-BE49-F238E27FC236}">
                  <a16:creationId xmlns:a16="http://schemas.microsoft.com/office/drawing/2014/main" id="{BDC46A72-B502-6814-2E8D-A1A9EFAFCD24}"/>
                </a:ext>
              </a:extLst>
            </p:cNvPr>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9" name="Rectangle 8">
              <a:extLst>
                <a:ext uri="{FF2B5EF4-FFF2-40B4-BE49-F238E27FC236}">
                  <a16:creationId xmlns:a16="http://schemas.microsoft.com/office/drawing/2014/main" id="{3E5DCEC6-0F8C-5541-7442-C093800C3015}"/>
                </a:ext>
              </a:extLst>
            </p:cNvPr>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0" name="TextBox 9">
            <a:extLst>
              <a:ext uri="{FF2B5EF4-FFF2-40B4-BE49-F238E27FC236}">
                <a16:creationId xmlns:a16="http://schemas.microsoft.com/office/drawing/2014/main" id="{2E4910A2-E75A-A0F3-12FA-C7B33827BFF5}"/>
              </a:ext>
            </a:extLst>
          </p:cNvPr>
          <p:cNvSpPr txBox="1"/>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1" name="Graphic 10">
            <a:extLst>
              <a:ext uri="{FF2B5EF4-FFF2-40B4-BE49-F238E27FC236}">
                <a16:creationId xmlns:a16="http://schemas.microsoft.com/office/drawing/2014/main" id="{CC0C22ED-5F80-CEFE-BB25-C337EB274037}"/>
              </a:ext>
              <a:ext uri="{C183D7F6-B498-43B3-948B-1728B52AA6E4}">
                <adec:decorative xmlns:adec="http://schemas.microsoft.com/office/drawing/2017/decorative" val="1"/>
              </a:ext>
            </a:extLst>
          </p:cNvPr>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401028201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F66BB33-DB2B-91D3-D089-F85266D214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Master title style</a:t>
            </a:r>
          </a:p>
        </p:txBody>
      </p:sp>
      <p:sp>
        <p:nvSpPr>
          <p:cNvPr id="3" name="Text Placeholder 2">
            <a:extLst>
              <a:ext uri="{FF2B5EF4-FFF2-40B4-BE49-F238E27FC236}">
                <a16:creationId xmlns:a16="http://schemas.microsoft.com/office/drawing/2014/main" id="{5F01A2DB-9F95-64AA-F96F-279EB0EF761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030280026"/>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50" r:id="rId3"/>
    <p:sldLayoutId id="2147483652" r:id="rId4"/>
    <p:sldLayoutId id="2147483658" r:id="rId5"/>
    <p:sldLayoutId id="2147483656" r:id="rId6"/>
    <p:sldLayoutId id="2147483659" r:id="rId7"/>
    <p:sldLayoutId id="2147483660" r:id="rId8"/>
    <p:sldLayoutId id="2147483654" r:id="rId9"/>
  </p:sldLayoutIdLst>
  <p:txStyles>
    <p:titleStyle>
      <a:lvl1pPr algn="l" defTabSz="914400" rtl="0" eaLnBrk="1" latinLnBrk="0" hangingPunct="1">
        <a:lnSpc>
          <a:spcPct val="90000"/>
        </a:lnSpc>
        <a:spcBef>
          <a:spcPct val="0"/>
        </a:spcBef>
        <a:buNone/>
        <a:defRPr sz="3600" b="1" kern="1200">
          <a:solidFill>
            <a:srgbClr val="007B55"/>
          </a:solidFill>
          <a:latin typeface="Segoe UI" panose="020B0502040204020203" pitchFamily="34" charset="0"/>
          <a:ea typeface="+mj-ea"/>
          <a:cs typeface="Segoe UI" panose="020B0502040204020203" pitchFamily="34" charset="0"/>
        </a:defRPr>
      </a:lvl1pPr>
    </p:titleStyle>
    <p:bodyStyle>
      <a:lvl1pPr marL="0" indent="0" algn="l" defTabSz="914400" rtl="0" eaLnBrk="1" latinLnBrk="0" hangingPunct="1">
        <a:lnSpc>
          <a:spcPct val="90000"/>
        </a:lnSpc>
        <a:spcBef>
          <a:spcPts val="1000"/>
        </a:spcBef>
        <a:buFont typeface="Arial" panose="020B0604020202020204" pitchFamily="34" charset="0"/>
        <a:buNone/>
        <a:defRPr sz="2800" kern="1200">
          <a:solidFill>
            <a:srgbClr val="0F426B"/>
          </a:solidFill>
          <a:latin typeface="Calibri" panose="020F0502020204030204" pitchFamily="34" charset="0"/>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0F426B"/>
          </a:solidFill>
          <a:latin typeface="Calibri" panose="020F0502020204030204" pitchFamily="34" charset="0"/>
          <a:ea typeface="+mn-ea"/>
          <a:cs typeface="Calibri" panose="020F050202020403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0F426B"/>
          </a:solidFill>
          <a:latin typeface="Calibri" panose="020F0502020204030204" pitchFamily="34" charset="0"/>
          <a:ea typeface="+mn-ea"/>
          <a:cs typeface="Calibri" panose="020F050202020403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0F426B"/>
          </a:solidFill>
          <a:latin typeface="Calibri" panose="020F0502020204030204" pitchFamily="34" charset="0"/>
          <a:ea typeface="+mn-ea"/>
          <a:cs typeface="Calibri" panose="020F050202020403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0F426B"/>
          </a:solidFill>
          <a:latin typeface="Calibri" panose="020F0502020204030204" pitchFamily="34" charset="0"/>
          <a:ea typeface="+mn-ea"/>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In-Season Sampling Design for the Coastal Razor Clam Fishery</a:t>
            </a:r>
          </a:p>
        </p:txBody>
      </p:sp>
      <p:sp>
        <p:nvSpPr>
          <p:cNvPr id="3" name="Content Placeholder 2"/>
          <p:cNvSpPr>
            <a:spLocks noGrp="1"/>
          </p:cNvSpPr>
          <p:nvPr>
            <p:ph idx="1" sz="half"/>
          </p:nvPr>
        </p:nvSpPr>
        <p:spPr/>
        <p:txBody>
          <a:bodyPr wrap="square"/>
          <a:lstStyle/>
          <a:p>
            <a:r>
              <a:t>Findings from the 2026 harvest-estimate methodology review (v10)</a:t>
            </a:r>
          </a:p>
          <a:p>
            <a:r>
              <a:t>Matthew George  ·  Coastal Shellfish Unit, WDFW</a:t>
            </a:r>
          </a:p>
          <a:p>
            <a:r>
              <a:t>2026-27 season planning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question this answers</a:t>
            </a:r>
          </a:p>
        </p:txBody>
      </p:sp>
      <p:sp>
        <p:nvSpPr>
          <p:cNvPr id="3" name="Content Placeholder 2"/>
          <p:cNvSpPr>
            <a:spLocks noGrp="1"/>
          </p:cNvSpPr>
          <p:nvPr>
            <p:ph idx="1"/>
          </p:nvPr>
        </p:nvSpPr>
        <p:spPr/>
        <p:txBody>
          <a:bodyPr wrap="square"/>
          <a:lstStyle/>
          <a:p>
            <a:r>
              <a:rPr b="1"/>
              <a:t>Given a crew of finite size: </a:t>
            </a:r>
            <a:r>
              <a:t>how many beach-days per tide series must be counted, and which ones?</a:t>
            </a:r>
          </a:p>
          <a:p>
            <a:r>
              <a:t>This is new work, the program has never had a quantitative answer.</a:t>
            </a:r>
          </a:p>
          <a:p>
            <a:r>
              <a:rPr b="1"/>
              <a:t>Judged against a published standard: </a:t>
            </a:r>
            <a:r>
              <a:t>CV ≤ 0.20 (creel-survey design target) and NOAA MRIP's ≤ 0.30 publication threshold.</a:t>
            </a:r>
          </a:p>
          <a:p>
            <a:r>
              <a:t>Every figure here is a lower bound: it excludes beach-count observer error, which has never been measured.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Priors: what the estimate rests 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expansion table is the instrument, and it has moved</a:t>
            </a:r>
          </a:p>
        </p:txBody>
      </p:sp>
      <p:sp>
        <p:nvSpPr>
          <p:cNvPr id="3" name="Content Placeholder 2"/>
          <p:cNvSpPr>
            <a:spLocks noGrp="1"/>
          </p:cNvSpPr>
          <p:nvPr>
            <p:ph idx="1" sz="half"/>
          </p:nvPr>
        </p:nvSpPr>
        <p:spPr/>
        <p:txBody>
          <a:bodyPr wrap="square"/>
          <a:lstStyle/>
          <a:p>
            <a:r>
              <a:rPr b="1" sz="1500"/>
              <a:t>May 2013 correction: </a:t>
            </a:r>
            <a:r>
              <a:rPr sz="1500"/>
              <a:t>the old arithmetic underestimated harvest by ~16%; re-estimated day-by-day back to 1997-98.</a:t>
            </a:r>
          </a:p>
          <a:p>
            <a:r>
              <a:rPr sz="1500"/>
              <a:t>The correction factor, the share of a day's effort present at the count, is the load-bearing number.</a:t>
            </a:r>
          </a:p>
          <a:p>
            <a:r>
              <a:rPr b="1" sz="1500"/>
              <a:t>Long Beach's table was reshaped after 2013: </a:t>
            </a:r>
            <a:r>
              <a:rPr sz="1500"/>
              <a:t>+33% expanded effort for the same count.</a:t>
            </a:r>
          </a:p>
          <a:p>
            <a:r>
              <a:rPr sz="1500"/>
              <a:t>Comparing Long Beach effort across that change compares two different instruments.</a:t>
            </a:r>
          </a:p>
        </p:txBody>
      </p:sp>
      <p:sp>
        <p:nvSpPr>
          <p:cNvPr id="5" name="Content Placeholder 4"/>
          <p:cNvSpPr>
            <a:spLocks noGrp="1"/>
          </p:cNvSpPr>
          <p:nvPr>
            <p:ph idx="11" sz="half"/>
          </p:nvPr>
        </p:nvSpPr>
        <p:spPr/>
        <p:txBody>
          <a:bodyPr/>
          <a:lstStyle/>
          <a:p/>
        </p:txBody>
      </p:sp>
      <p:pic>
        <p:nvPicPr>
          <p:cNvPr id="6" name="Picture 5" descr="fig09_operational_vs_vintage.png"/>
          <p:cNvPicPr>
            <a:picLocks noChangeAspect="1"/>
          </p:cNvPicPr>
          <p:nvPr/>
        </p:nvPicPr>
        <p:blipFill>
          <a:blip r:embed="rId2"/>
          <a:stretch>
            <a:fillRect/>
          </a:stretch>
        </p:blipFill>
        <p:spPr>
          <a:xfrm>
            <a:off x="6178610" y="1422412"/>
            <a:ext cx="5403790" cy="3782653"/>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correction factor dominates, and it does not average down</a:t>
            </a:r>
          </a:p>
        </p:txBody>
      </p:sp>
      <p:sp>
        <p:nvSpPr>
          <p:cNvPr id="3" name="Content Placeholder 2"/>
          <p:cNvSpPr>
            <a:spLocks noGrp="1"/>
          </p:cNvSpPr>
          <p:nvPr>
            <p:ph idx="1" sz="half"/>
          </p:nvPr>
        </p:nvSpPr>
        <p:spPr/>
        <p:txBody>
          <a:bodyPr wrap="square"/>
          <a:lstStyle/>
          <a:p>
            <a:r>
              <a:rPr b="1" sz="1500"/>
              <a:t>71-96% of season effort variance </a:t>
            </a:r>
            <a:r>
              <a:rPr sz="1500"/>
              <a:t>at every beach is the correction factor.</a:t>
            </a:r>
          </a:p>
          <a:p>
            <a:r>
              <a:rPr sz="1500"/>
              <a:t>It is systematic: one table scales every beach-day, so counting more days cannot shrink it.</a:t>
            </a:r>
          </a:p>
          <a:p>
            <a:r>
              <a:rPr sz="1500"/>
              <a:t>Imputation is large on a single day but cancels within a tide series (lag-1 autocorrelation −0.68).</a:t>
            </a:r>
          </a:p>
          <a:p>
            <a:r>
              <a:rPr b="1" sz="1500"/>
              <a:t>The lever is surveys, not crew days </a:t>
            </a:r>
            <a:r>
              <a:rPr sz="1500"/>
              <a:t>for the term that dominates effort.</a:t>
            </a:r>
          </a:p>
        </p:txBody>
      </p:sp>
      <p:sp>
        <p:nvSpPr>
          <p:cNvPr id="5" name="Content Placeholder 4"/>
          <p:cNvSpPr>
            <a:spLocks noGrp="1"/>
          </p:cNvSpPr>
          <p:nvPr>
            <p:ph idx="11" sz="half"/>
          </p:nvPr>
        </p:nvSpPr>
        <p:spPr/>
        <p:txBody>
          <a:bodyPr/>
          <a:lstStyle/>
          <a:p/>
        </p:txBody>
      </p:sp>
      <p:pic>
        <p:nvPicPr>
          <p:cNvPr id="6" name="Picture 5" descr="fig10_variance_shares.png"/>
          <p:cNvPicPr>
            <a:picLocks noChangeAspect="1"/>
          </p:cNvPicPr>
          <p:nvPr/>
        </p:nvPicPr>
        <p:blipFill>
          <a:blip r:embed="rId2"/>
          <a:stretch>
            <a:fillRect/>
          </a:stretch>
        </p:blipFill>
        <p:spPr>
          <a:xfrm>
            <a:off x="6178610" y="1839978"/>
            <a:ext cx="5403790" cy="294752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 harvest, borrowed catch rate is the largest term up north</a:t>
            </a:r>
          </a:p>
        </p:txBody>
      </p:sp>
      <p:sp>
        <p:nvSpPr>
          <p:cNvPr id="3" name="Content Placeholder 2"/>
          <p:cNvSpPr>
            <a:spLocks noGrp="1"/>
          </p:cNvSpPr>
          <p:nvPr>
            <p:ph idx="1" sz="half"/>
          </p:nvPr>
        </p:nvSpPr>
        <p:spPr/>
        <p:txBody>
          <a:bodyPr wrap="square"/>
          <a:lstStyle/>
          <a:p>
            <a:r>
              <a:rPr b="1" sz="1500"/>
              <a:t>CPUE transfer (borrowed catch rate on uncounted days): </a:t>
            </a:r>
            <a:r>
              <a:rPr sz="1500"/>
              <a:t>39% of harvest variance at Long Beach, 56% at Twin Harbors.</a:t>
            </a:r>
          </a:p>
          <a:p>
            <a:r>
              <a:rPr sz="1500"/>
              <a:t>Single-day imputation error is large (sd 0.54 in log) but roughly unbiased and cancels when summed.</a:t>
            </a:r>
          </a:p>
          <a:p>
            <a:r>
              <a:rPr b="1" sz="1500"/>
              <a:t>Best donor for the two northern beaches: </a:t>
            </a:r>
            <a:r>
              <a:rPr sz="1500"/>
              <a:t>Copalis and Mocrocks jointly (sd 0.43 / 0.37).</a:t>
            </a:r>
          </a:p>
        </p:txBody>
      </p:sp>
      <p:sp>
        <p:nvSpPr>
          <p:cNvPr id="5" name="Content Placeholder 4"/>
          <p:cNvSpPr>
            <a:spLocks noGrp="1"/>
          </p:cNvSpPr>
          <p:nvPr>
            <p:ph idx="11" sz="half"/>
          </p:nvPr>
        </p:nvSpPr>
        <p:spPr/>
        <p:txBody>
          <a:bodyPr/>
          <a:lstStyle/>
          <a:p/>
        </p:txBody>
      </p:sp>
      <p:pic>
        <p:nvPicPr>
          <p:cNvPr id="6" name="Picture 5" descr="fig11_imputation_error.png"/>
          <p:cNvPicPr>
            <a:picLocks noChangeAspect="1"/>
          </p:cNvPicPr>
          <p:nvPr/>
        </p:nvPicPr>
        <p:blipFill>
          <a:blip r:embed="rId2"/>
          <a:stretch>
            <a:fillRect/>
          </a:stretch>
        </p:blipFill>
        <p:spPr>
          <a:xfrm>
            <a:off x="6178610" y="2085605"/>
            <a:ext cx="5403790" cy="245626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How many days, and which ones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Count about 45% of a beach's open days, with a floor of two</a:t>
            </a:r>
          </a:p>
        </p:txBody>
      </p:sp>
      <p:sp>
        <p:nvSpPr>
          <p:cNvPr id="3" name="Content Placeholder 2"/>
          <p:cNvSpPr>
            <a:spLocks noGrp="1"/>
          </p:cNvSpPr>
          <p:nvPr>
            <p:ph idx="1" sz="half"/>
          </p:nvPr>
        </p:nvSpPr>
        <p:spPr/>
        <p:txBody>
          <a:bodyPr wrap="square"/>
          <a:lstStyle/>
          <a:p>
            <a:r>
              <a:rPr b="1" sz="1500"/>
              <a:t>Count 2 of a 4- or 5-day series; </a:t>
            </a:r>
            <a:r>
              <a:rPr sz="1500"/>
              <a:t>3 of a 6- or 7-day series.</a:t>
            </a:r>
          </a:p>
          <a:p>
            <a:r>
              <a:rPr sz="1500"/>
              <a:t>Counting one day per series never meets CV 0.20 (0.21-0.31 at m = 1).</a:t>
            </a:r>
          </a:p>
          <a:p>
            <a:r>
              <a:rPr b="1" sz="1500"/>
              <a:t>Read it as 45% of open days, floor of two.</a:t>
            </a:r>
          </a:p>
          <a:p>
            <a:r>
              <a:rPr sz="1500"/>
              <a:t>Exception: Copalis needs all three of a three-day series, its floor, not sampling, binds.</a:t>
            </a:r>
          </a:p>
        </p:txBody>
      </p:sp>
      <p:sp>
        <p:nvSpPr>
          <p:cNvPr id="5" name="Content Placeholder 4"/>
          <p:cNvSpPr>
            <a:spLocks noGrp="1"/>
          </p:cNvSpPr>
          <p:nvPr>
            <p:ph idx="11" sz="half"/>
          </p:nvPr>
        </p:nvSpPr>
        <p:spPr/>
        <p:txBody>
          <a:bodyPr/>
          <a:lstStyle/>
          <a:p/>
        </p:txBody>
      </p:sp>
      <p:pic>
        <p:nvPicPr>
          <p:cNvPr id="6" name="Picture 5" descr="fig13_tide_series_cv.png"/>
          <p:cNvPicPr>
            <a:picLocks noChangeAspect="1"/>
          </p:cNvPicPr>
          <p:nvPr/>
        </p:nvPicPr>
        <p:blipFill>
          <a:blip r:embed="rId2"/>
          <a:stretch>
            <a:fillRect/>
          </a:stretch>
        </p:blipFill>
        <p:spPr>
          <a:xfrm>
            <a:off x="6178610" y="1692602"/>
            <a:ext cx="5403790" cy="324227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Which days to count: the largest-effort days</a:t>
            </a:r>
          </a:p>
        </p:txBody>
      </p:sp>
      <p:sp>
        <p:nvSpPr>
          <p:cNvPr id="3" name="Content Placeholder 2"/>
          <p:cNvSpPr>
            <a:spLocks noGrp="1"/>
          </p:cNvSpPr>
          <p:nvPr>
            <p:ph idx="1"/>
          </p:nvPr>
        </p:nvSpPr>
        <p:spPr/>
        <p:txBody>
          <a:bodyPr wrap="square"/>
          <a:lstStyle/>
          <a:p>
            <a:r>
              <a:rPr b="1"/>
              <a:t>Selecting the largest-effort days beats an even spread by 4-11 CV points </a:t>
            </a:r>
            <a:r>
              <a:t>at every series length tested.</a:t>
            </a:r>
          </a:p>
          <a:p>
            <a:r>
              <a:rPr b="1"/>
              <a:t>Small bias penalty (1-6%), </a:t>
            </a:r>
            <a:r>
              <a:t>no worse than the alternatives.</a:t>
            </a:r>
          </a:p>
          <a:p>
            <a:r>
              <a:t>The program already does this implicitly, staffing the opening weekend and the biggest tides.</a:t>
            </a:r>
          </a:p>
          <a:p>
            <a:r>
              <a:rPr b="1"/>
              <a:t>It is correct. </a:t>
            </a:r>
            <a:r>
              <a:t>Which days will be largest is well predicted by the schedule, tide height, and day of week.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Some precision cannot be bought with crew days</a:t>
            </a:r>
          </a:p>
        </p:txBody>
      </p:sp>
      <p:sp>
        <p:nvSpPr>
          <p:cNvPr id="3" name="Content Placeholder 2"/>
          <p:cNvSpPr>
            <a:spLocks noGrp="1"/>
          </p:cNvSpPr>
          <p:nvPr>
            <p:ph idx="1" sz="half"/>
          </p:nvPr>
        </p:nvSpPr>
        <p:spPr/>
        <p:txBody>
          <a:bodyPr wrap="square"/>
          <a:lstStyle/>
          <a:p>
            <a:r>
              <a:rPr b="1" sz="1500"/>
              <a:t>Copalis cannot go below a series CV of 0.126; Mocrocks below 0.095 </a:t>
            </a:r>
            <a:r>
              <a:rPr sz="1500"/>
              <a:t>, the between-survey error of their tables.</a:t>
            </a:r>
          </a:p>
          <a:p>
            <a:r>
              <a:rPr sz="1500"/>
              <a:t>Copalis is already counted 100% and sits at 0.129; a 10% target is infeasible there at any rate.</a:t>
            </a:r>
          </a:p>
          <a:p>
            <a:r>
              <a:rPr b="1" sz="1500"/>
              <a:t>The question inverts: </a:t>
            </a:r>
            <a:r>
              <a:rPr sz="1500"/>
              <a:t>how much of a season each beach's table can afford to impute (Table 21).</a:t>
            </a:r>
          </a:p>
        </p:txBody>
      </p:sp>
      <p:sp>
        <p:nvSpPr>
          <p:cNvPr id="5" name="Content Placeholder 4"/>
          <p:cNvSpPr>
            <a:spLocks noGrp="1"/>
          </p:cNvSpPr>
          <p:nvPr>
            <p:ph idx="11" sz="half"/>
          </p:nvPr>
        </p:nvSpPr>
        <p:spPr/>
        <p:txBody>
          <a:bodyPr/>
          <a:lstStyle/>
          <a:p/>
        </p:txBody>
      </p:sp>
      <p:pic>
        <p:nvPicPr>
          <p:cNvPr id="6" name="Picture 5" descr="fig14_season_cv_vs_imputed.png"/>
          <p:cNvPicPr>
            <a:picLocks noChangeAspect="1"/>
          </p:cNvPicPr>
          <p:nvPr/>
        </p:nvPicPr>
        <p:blipFill>
          <a:blip r:embed="rId2"/>
          <a:stretch>
            <a:fillRect/>
          </a:stretch>
        </p:blipFill>
        <p:spPr>
          <a:xfrm>
            <a:off x="6178610" y="1692602"/>
            <a:ext cx="5403790" cy="324227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reallocation pays for itself: minus 19 crew-day units</a:t>
            </a:r>
          </a:p>
        </p:txBody>
      </p:sp>
      <p:sp>
        <p:nvSpPr>
          <p:cNvPr id="3" name="Content Placeholder 2"/>
          <p:cNvSpPr>
            <a:spLocks noGrp="1"/>
          </p:cNvSpPr>
          <p:nvPr>
            <p:ph idx="1"/>
          </p:nvPr>
        </p:nvSpPr>
        <p:spPr/>
        <p:txBody>
          <a:bodyPr/>
          <a:lstStyle/>
          <a:p/>
        </p:txBody>
      </p:sp>
      <p:graphicFrame>
        <p:nvGraphicFramePr>
          <p:cNvPr id="4" name="Table 3"/>
          <p:cNvGraphicFramePr>
            <a:graphicFrameLocks noGrp="1"/>
          </p:cNvGraphicFramePr>
          <p:nvPr/>
        </p:nvGraphicFramePr>
        <p:xfrm>
          <a:off x="594360" y="1463040"/>
          <a:ext cx="10972798" cy="2926080"/>
        </p:xfrm>
        <a:graphic>
          <a:graphicData uri="http://schemas.openxmlformats.org/drawingml/2006/table">
            <a:tbl>
              <a:tblPr firstRow="1" bandRow="1">
                <a:tableStyleId>{5C22544A-7EE6-4342-B048-85BDC9FD1C3A}</a:tableStyleId>
              </a:tblPr>
              <a:tblGrid>
                <a:gridCol w="2560320"/>
                <a:gridCol w="1463040"/>
                <a:gridCol w="1920240"/>
                <a:gridCol w="1280160"/>
                <a:gridCol w="1874519"/>
                <a:gridCol w="1874519"/>
              </a:tblGrid>
              <a:tr h="487680">
                <a:tc>
                  <a:txBody>
                    <a:bodyPr/>
                    <a:lstStyle/>
                    <a:p>
                      <a:r>
                        <a:rPr sz="1300" b="1">
                          <a:solidFill>
                            <a:srgbClr val="FFFFFF"/>
                          </a:solidFill>
                        </a:rPr>
                        <a:t>Beach</a:t>
                      </a:r>
                    </a:p>
                  </a:txBody>
                  <a:tcPr>
                    <a:solidFill>
                      <a:srgbClr val="1B3A5C"/>
                    </a:solidFill>
                  </a:tcPr>
                </a:tc>
                <a:tc>
                  <a:txBody>
                    <a:bodyPr/>
                    <a:lstStyle/>
                    <a:p>
                      <a:r>
                        <a:rPr sz="1300" b="1">
                          <a:solidFill>
                            <a:srgbClr val="FFFFFF"/>
                          </a:solidFill>
                        </a:rPr>
                        <a:t>Open days</a:t>
                      </a:r>
                    </a:p>
                  </a:txBody>
                  <a:tcPr>
                    <a:solidFill>
                      <a:srgbClr val="1B3A5C"/>
                    </a:solidFill>
                  </a:tcPr>
                </a:tc>
                <a:tc>
                  <a:txBody>
                    <a:bodyPr/>
                    <a:lstStyle/>
                    <a:p>
                      <a:r>
                        <a:rPr sz="1300" b="1">
                          <a:solidFill>
                            <a:srgbClr val="FFFFFF"/>
                          </a:solidFill>
                        </a:rPr>
                        <a:t>Counted now</a:t>
                      </a:r>
                    </a:p>
                  </a:txBody>
                  <a:tcPr>
                    <a:solidFill>
                      <a:srgbClr val="1B3A5C"/>
                    </a:solidFill>
                  </a:tcPr>
                </a:tc>
                <a:tc>
                  <a:txBody>
                    <a:bodyPr/>
                    <a:lstStyle/>
                    <a:p>
                      <a:r>
                        <a:rPr sz="1300" b="1">
                          <a:solidFill>
                            <a:srgbClr val="FFFFFF"/>
                          </a:solidFill>
                        </a:rPr>
                        <a:t>At 45%</a:t>
                      </a:r>
                    </a:p>
                  </a:txBody>
                  <a:tcPr>
                    <a:solidFill>
                      <a:srgbClr val="1B3A5C"/>
                    </a:solidFill>
                  </a:tcPr>
                </a:tc>
                <a:tc>
                  <a:txBody>
                    <a:bodyPr/>
                    <a:lstStyle/>
                    <a:p>
                      <a:r>
                        <a:rPr sz="1300" b="1">
                          <a:solidFill>
                            <a:srgbClr val="FFFFFF"/>
                          </a:solidFill>
                        </a:rPr>
                        <a:t>Series CV now</a:t>
                      </a:r>
                    </a:p>
                  </a:txBody>
                  <a:tcPr>
                    <a:solidFill>
                      <a:srgbClr val="1B3A5C"/>
                    </a:solidFill>
                  </a:tcPr>
                </a:tc>
                <a:tc>
                  <a:txBody>
                    <a:bodyPr/>
                    <a:lstStyle/>
                    <a:p>
                      <a:r>
                        <a:rPr sz="1300" b="1">
                          <a:solidFill>
                            <a:srgbClr val="FFFFFF"/>
                          </a:solidFill>
                        </a:rPr>
                        <a:t>CV at 45%</a:t>
                      </a:r>
                    </a:p>
                  </a:txBody>
                  <a:tcPr>
                    <a:solidFill>
                      <a:srgbClr val="1B3A5C"/>
                    </a:solidFill>
                  </a:tcPr>
                </a:tc>
              </a:tr>
              <a:tr h="487680">
                <a:tc>
                  <a:txBody>
                    <a:bodyPr/>
                    <a:lstStyle/>
                    <a:p>
                      <a:r>
                        <a:rPr sz="1200"/>
                        <a:t>Copalis</a:t>
                      </a:r>
                    </a:p>
                  </a:txBody>
                  <a:tcPr/>
                </a:tc>
                <a:tc>
                  <a:txBody>
                    <a:bodyPr/>
                    <a:lstStyle/>
                    <a:p>
                      <a:r>
                        <a:rPr sz="1200"/>
                        <a:t>51</a:t>
                      </a:r>
                    </a:p>
                  </a:txBody>
                  <a:tcPr/>
                </a:tc>
                <a:tc>
                  <a:txBody>
                    <a:bodyPr/>
                    <a:lstStyle/>
                    <a:p>
                      <a:r>
                        <a:rPr sz="1200"/>
                        <a:t>51  (100%)</a:t>
                      </a:r>
                    </a:p>
                  </a:txBody>
                  <a:tcPr/>
                </a:tc>
                <a:tc>
                  <a:txBody>
                    <a:bodyPr/>
                    <a:lstStyle/>
                    <a:p>
                      <a:r>
                        <a:rPr sz="1200"/>
                        <a:t>23</a:t>
                      </a:r>
                    </a:p>
                  </a:txBody>
                  <a:tcPr/>
                </a:tc>
                <a:tc>
                  <a:txBody>
                    <a:bodyPr/>
                    <a:lstStyle/>
                    <a:p>
                      <a:r>
                        <a:rPr sz="1200"/>
                        <a:t>0.129</a:t>
                      </a:r>
                    </a:p>
                  </a:txBody>
                  <a:tcPr/>
                </a:tc>
                <a:tc>
                  <a:txBody>
                    <a:bodyPr/>
                    <a:lstStyle/>
                    <a:p>
                      <a:r>
                        <a:rPr sz="1200"/>
                        <a:t>0.192</a:t>
                      </a:r>
                    </a:p>
                  </a:txBody>
                  <a:tcPr/>
                </a:tc>
              </a:tr>
              <a:tr h="487680">
                <a:tc>
                  <a:txBody>
                    <a:bodyPr/>
                    <a:lstStyle/>
                    <a:p>
                      <a:r>
                        <a:rPr sz="1200"/>
                        <a:t>Mocrocks</a:t>
                      </a:r>
                    </a:p>
                  </a:txBody>
                  <a:tcPr/>
                </a:tc>
                <a:tc>
                  <a:txBody>
                    <a:bodyPr/>
                    <a:lstStyle/>
                    <a:p>
                      <a:r>
                        <a:rPr sz="1200"/>
                        <a:t>52</a:t>
                      </a:r>
                    </a:p>
                  </a:txBody>
                  <a:tcPr/>
                </a:tc>
                <a:tc>
                  <a:txBody>
                    <a:bodyPr/>
                    <a:lstStyle/>
                    <a:p>
                      <a:r>
                        <a:rPr sz="1200"/>
                        <a:t>52  (100%)</a:t>
                      </a:r>
                    </a:p>
                  </a:txBody>
                  <a:tcPr/>
                </a:tc>
                <a:tc>
                  <a:txBody>
                    <a:bodyPr/>
                    <a:lstStyle/>
                    <a:p>
                      <a:r>
                        <a:rPr sz="1200"/>
                        <a:t>23</a:t>
                      </a:r>
                    </a:p>
                  </a:txBody>
                  <a:tcPr/>
                </a:tc>
                <a:tc>
                  <a:txBody>
                    <a:bodyPr/>
                    <a:lstStyle/>
                    <a:p>
                      <a:r>
                        <a:rPr sz="1200"/>
                        <a:t>0.099</a:t>
                      </a:r>
                    </a:p>
                  </a:txBody>
                  <a:tcPr/>
                </a:tc>
                <a:tc>
                  <a:txBody>
                    <a:bodyPr/>
                    <a:lstStyle/>
                    <a:p>
                      <a:r>
                        <a:rPr sz="1200"/>
                        <a:t>0.171</a:t>
                      </a:r>
                    </a:p>
                  </a:txBody>
                  <a:tcPr/>
                </a:tc>
              </a:tr>
              <a:tr h="487680">
                <a:tc>
                  <a:txBody>
                    <a:bodyPr/>
                    <a:lstStyle/>
                    <a:p>
                      <a:r>
                        <a:rPr sz="1200"/>
                        <a:t>Twin Harbors</a:t>
                      </a:r>
                    </a:p>
                  </a:txBody>
                  <a:tcPr/>
                </a:tc>
                <a:tc>
                  <a:txBody>
                    <a:bodyPr/>
                    <a:lstStyle/>
                    <a:p>
                      <a:r>
                        <a:rPr sz="1200"/>
                        <a:t>103</a:t>
                      </a:r>
                    </a:p>
                  </a:txBody>
                  <a:tcPr/>
                </a:tc>
                <a:tc>
                  <a:txBody>
                    <a:bodyPr/>
                    <a:lstStyle/>
                    <a:p>
                      <a:r>
                        <a:rPr sz="1200"/>
                        <a:t>52  (50%)</a:t>
                      </a:r>
                    </a:p>
                  </a:txBody>
                  <a:tcPr/>
                </a:tc>
                <a:tc>
                  <a:txBody>
                    <a:bodyPr/>
                    <a:lstStyle/>
                    <a:p>
                      <a:r>
                        <a:rPr sz="1200"/>
                        <a:t>46</a:t>
                      </a:r>
                    </a:p>
                  </a:txBody>
                  <a:tcPr/>
                </a:tc>
                <a:tc>
                  <a:txBody>
                    <a:bodyPr/>
                    <a:lstStyle/>
                    <a:p>
                      <a:r>
                        <a:rPr sz="1200"/>
                        <a:t>0.164</a:t>
                      </a:r>
                    </a:p>
                  </a:txBody>
                  <a:tcPr/>
                </a:tc>
                <a:tc>
                  <a:txBody>
                    <a:bodyPr/>
                    <a:lstStyle/>
                    <a:p>
                      <a:r>
                        <a:rPr sz="1200"/>
                        <a:t>0.164</a:t>
                      </a:r>
                    </a:p>
                  </a:txBody>
                  <a:tcPr/>
                </a:tc>
              </a:tr>
              <a:tr h="487680">
                <a:tc>
                  <a:txBody>
                    <a:bodyPr/>
                    <a:lstStyle/>
                    <a:p>
                      <a:r>
                        <a:rPr sz="1200"/>
                        <a:t>Long Beach</a:t>
                      </a:r>
                    </a:p>
                  </a:txBody>
                  <a:tcPr/>
                </a:tc>
                <a:tc>
                  <a:txBody>
                    <a:bodyPr/>
                    <a:lstStyle/>
                    <a:p>
                      <a:r>
                        <a:rPr sz="1200"/>
                        <a:t>103</a:t>
                      </a:r>
                    </a:p>
                  </a:txBody>
                  <a:tcPr/>
                </a:tc>
                <a:tc>
                  <a:txBody>
                    <a:bodyPr/>
                    <a:lstStyle/>
                    <a:p>
                      <a:r>
                        <a:rPr sz="1200"/>
                        <a:t>9  (9%)</a:t>
                      </a:r>
                    </a:p>
                  </a:txBody>
                  <a:tcPr/>
                </a:tc>
                <a:tc>
                  <a:txBody>
                    <a:bodyPr/>
                    <a:lstStyle/>
                    <a:p>
                      <a:r>
                        <a:rPr sz="1200"/>
                        <a:t>46</a:t>
                      </a:r>
                    </a:p>
                  </a:txBody>
                  <a:tcPr/>
                </a:tc>
                <a:tc>
                  <a:txBody>
                    <a:bodyPr/>
                    <a:lstStyle/>
                    <a:p>
                      <a:r>
                        <a:rPr sz="1200"/>
                        <a:t>0.294</a:t>
                      </a:r>
                    </a:p>
                  </a:txBody>
                  <a:tcPr/>
                </a:tc>
                <a:tc>
                  <a:txBody>
                    <a:bodyPr/>
                    <a:lstStyle/>
                    <a:p>
                      <a:r>
                        <a:rPr sz="1200"/>
                        <a:t>0.175</a:t>
                      </a:r>
                    </a:p>
                  </a:txBody>
                  <a:tcPr/>
                </a:tc>
              </a:tr>
              <a:tr h="487680">
                <a:tc>
                  <a:txBody>
                    <a:bodyPr/>
                    <a:lstStyle/>
                    <a:p>
                      <a:r>
                        <a:rPr sz="1200" b="1"/>
                        <a:t>Total crew-day units</a:t>
                      </a:r>
                    </a:p>
                  </a:txBody>
                  <a:tcPr/>
                </a:tc>
                <a:tc>
                  <a:txBody>
                    <a:bodyPr/>
                    <a:lstStyle/>
                    <a:p/>
                  </a:txBody>
                  <a:tcPr/>
                </a:tc>
                <a:tc>
                  <a:txBody>
                    <a:bodyPr/>
                    <a:lstStyle/>
                    <a:p>
                      <a:r>
                        <a:rPr sz="1200" b="1"/>
                        <a:t>203</a:t>
                      </a:r>
                    </a:p>
                  </a:txBody>
                  <a:tcPr/>
                </a:tc>
                <a:tc>
                  <a:txBody>
                    <a:bodyPr/>
                    <a:lstStyle/>
                    <a:p>
                      <a:r>
                        <a:rPr sz="1200" b="1"/>
                        <a:t>184</a:t>
                      </a:r>
                    </a:p>
                  </a:txBody>
                  <a:tcPr/>
                </a:tc>
                <a:tc>
                  <a:txBody>
                    <a:bodyPr/>
                    <a:lstStyle/>
                    <a:p/>
                  </a:txBody>
                  <a:tcPr/>
                </a:tc>
                <a:tc>
                  <a:txBody>
                    <a:bodyPr/>
                    <a:lstStyle/>
                    <a:p>
                      <a:r>
                        <a:rPr sz="1200" b="1"/>
                        <a:t>−19</a:t>
                      </a:r>
                    </a:p>
                  </a:txBody>
                  <a:tcPr/>
                </a:tc>
              </a:tr>
            </a:tbl>
          </a:graphicData>
        </a:graphic>
      </p:graphicFrame>
      <p:sp>
        <p:nvSpPr>
          <p:cNvPr id="5" name="TextBox 4"/>
          <p:cNvSpPr txBox="1"/>
          <p:nvPr/>
        </p:nvSpPr>
        <p:spPr>
          <a:xfrm>
            <a:off x="594360" y="4572000"/>
            <a:ext cx="10972800" cy="1463040"/>
          </a:xfrm>
          <a:prstGeom prst="rect">
            <a:avLst/>
          </a:prstGeom>
          <a:noFill/>
        </p:spPr>
        <p:txBody>
          <a:bodyPr wrap="square">
            <a:spAutoFit/>
          </a:bodyPr>
          <a:lstStyle/>
          <a:p>
            <a:r>
              <a:rPr sz="1400"/>
              <a:t>Long Beach's series CV falls from 0.294 to 0.175, crossing the design target for the first time. Copalis and Mocrocks rise to 0.192 and 0.171 and stay inside it. No new staff, nineteen crew-day units move to Long Beach; but those units are not truly free once the two beaches' donor role is counted, which the co-management slide takes 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Recommendations for the 2026-27 season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Run egress surveys at Long Beach and Twin Harbors, both conditions</a:t>
            </a:r>
          </a:p>
        </p:txBody>
      </p:sp>
      <p:sp>
        <p:nvSpPr>
          <p:cNvPr id="3" name="Content Placeholder 2"/>
          <p:cNvSpPr>
            <a:spLocks noGrp="1"/>
          </p:cNvSpPr>
          <p:nvPr>
            <p:ph idx="1" sz="half"/>
          </p:nvPr>
        </p:nvSpPr>
        <p:spPr/>
        <p:txBody>
          <a:bodyPr wrap="square"/>
          <a:lstStyle/>
          <a:p>
            <a:r>
              <a:rPr sz="1500"/>
              <a:t>The correction factor is the largest term, and these two beaches now carry the worst of it.</a:t>
            </a:r>
          </a:p>
          <a:p>
            <a:r>
              <a:rPr b="1" sz="1500"/>
              <a:t>Newest survey: 2011. </a:t>
            </a:r>
            <a:r>
              <a:rPr sz="1500"/>
              <a:t>Twin Harbors evening rests on just two surveys.</a:t>
            </a:r>
          </a:p>
          <a:p>
            <a:r>
              <a:rPr sz="1500"/>
              <a:t>Copalis and Mocrocks were resurveyed 2022-2026 and no longer need egress effort.</a:t>
            </a:r>
          </a:p>
          <a:p>
            <a:r>
              <a:rPr b="1" sz="1500"/>
              <a:t>The single most valuable unpurchased input </a:t>
            </a:r>
            <a:r>
              <a:rPr sz="1500"/>
              <a:t>in the program.</a:t>
            </a:r>
          </a:p>
        </p:txBody>
      </p:sp>
      <p:sp>
        <p:nvSpPr>
          <p:cNvPr id="5" name="Content Placeholder 4"/>
          <p:cNvSpPr>
            <a:spLocks noGrp="1"/>
          </p:cNvSpPr>
          <p:nvPr>
            <p:ph idx="11" sz="half"/>
          </p:nvPr>
        </p:nvSpPr>
        <p:spPr/>
        <p:txBody>
          <a:bodyPr/>
          <a:lstStyle/>
          <a:p/>
        </p:txBody>
      </p:sp>
      <p:pic>
        <p:nvPicPr>
          <p:cNvPr id="6" name="Picture 5" descr="fig08_located_egress_surveys.png"/>
          <p:cNvPicPr>
            <a:picLocks noChangeAspect="1"/>
          </p:cNvPicPr>
          <p:nvPr/>
        </p:nvPicPr>
        <p:blipFill>
          <a:blip r:embed="rId2"/>
          <a:stretch>
            <a:fillRect/>
          </a:stretch>
        </p:blipFill>
        <p:spPr>
          <a:xfrm>
            <a:off x="6178610" y="2085605"/>
            <a:ext cx="5403790" cy="2456268"/>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Pulling the southern beaches back is not free, and no tribal count offsets it</a:t>
            </a:r>
          </a:p>
        </p:txBody>
      </p:sp>
      <p:sp>
        <p:nvSpPr>
          <p:cNvPr id="3" name="Content Placeholder 2"/>
          <p:cNvSpPr>
            <a:spLocks noGrp="1"/>
          </p:cNvSpPr>
          <p:nvPr>
            <p:ph idx="1" sz="half"/>
          </p:nvPr>
        </p:nvSpPr>
        <p:spPr/>
        <p:txBody>
          <a:bodyPr wrap="square"/>
          <a:lstStyle/>
          <a:p>
            <a:r>
              <a:rPr b="1" sz="1400"/>
              <a:t>Copalis and Mocrocks are the donor for ~63% </a:t>
            </a:r>
            <a:r>
              <a:rPr sz="1400"/>
              <a:t>of Long Beach / Twin Harbors imputed days; jointly they are the best donor (sd 0.43 in log, against 0.62 and 0.64 for either alone).</a:t>
            </a:r>
          </a:p>
          <a:p>
            <a:r>
              <a:rPr b="1" sz="1400"/>
              <a:t>Under state-Quinault day-trading (2 on, 2 off) </a:t>
            </a:r>
            <a:r>
              <a:rPr sz="1400"/>
              <a:t>exactly one of the two is state-counted each dig day, so the state seldom holds that best joint donor.</a:t>
            </a:r>
          </a:p>
          <a:p>
            <a:r>
              <a:rPr b="1" sz="1400"/>
              <a:t>The Quinault dig the alternate days, </a:t>
            </a:r>
            <a:r>
              <a:rPr sz="1400"/>
              <a:t>but theirs is a smaller, lower-participation fishery: its effort and catch rate do not proxy the state, so those counts cannot fill the state donor series.</a:t>
            </a:r>
          </a:p>
          <a:p>
            <a:r>
              <a:rPr b="1" sz="1400"/>
              <a:t>Pulling state sampling to 45% </a:t>
            </a:r>
            <a:r>
              <a:rPr sz="1400"/>
              <a:t>raises single-day imputation error from 0.45 to 0.50 in the log, with no data-share available to offset it.</a:t>
            </a:r>
          </a:p>
        </p:txBody>
      </p:sp>
      <p:sp>
        <p:nvSpPr>
          <p:cNvPr id="5" name="Content Placeholder 4"/>
          <p:cNvSpPr>
            <a:spLocks noGrp="1"/>
          </p:cNvSpPr>
          <p:nvPr>
            <p:ph idx="11" sz="half"/>
          </p:nvPr>
        </p:nvSpPr>
        <p:spPr/>
        <p:txBody>
          <a:bodyPr/>
          <a:lstStyle/>
          <a:p/>
        </p:txBody>
      </p:sp>
      <p:pic>
        <p:nvPicPr>
          <p:cNvPr id="6" name="Picture 5" descr="fig15_donor_comanagement.png"/>
          <p:cNvPicPr>
            <a:picLocks noChangeAspect="1"/>
          </p:cNvPicPr>
          <p:nvPr/>
        </p:nvPicPr>
        <p:blipFill>
          <a:blip r:embed="rId2"/>
          <a:stretch>
            <a:fillRect/>
          </a:stretch>
        </p:blipFill>
        <p:spPr>
          <a:xfrm>
            <a:off x="6178610" y="1692602"/>
            <a:ext cx="5403790" cy="324227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 Long Beach ingress / egress pilot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design: a whole-beach egress survey across six approaches</a:t>
            </a:r>
          </a:p>
        </p:txBody>
      </p:sp>
      <p:graphicFrame>
        <p:nvGraphicFramePr>
          <p:cNvPr id="3" name="Table 2"/>
          <p:cNvGraphicFramePr>
            <a:graphicFrameLocks noGrp="1"/>
          </p:cNvGraphicFramePr>
          <p:nvPr/>
        </p:nvGraphicFramePr>
        <p:xfrm>
          <a:off x="594360" y="1325880"/>
          <a:ext cx="10607040" cy="2560320"/>
        </p:xfrm>
        <a:graphic>
          <a:graphicData uri="http://schemas.openxmlformats.org/drawingml/2006/table">
            <a:tbl>
              <a:tblPr firstRow="1" bandRow="1">
                <a:tableStyleId>{5C22544A-7EE6-4342-B048-85BDC9FD1C3A}</a:tableStyleId>
              </a:tblPr>
              <a:tblGrid>
                <a:gridCol w="3657600"/>
                <a:gridCol w="4937760"/>
                <a:gridCol w="2011680"/>
              </a:tblGrid>
              <a:tr h="365760">
                <a:tc>
                  <a:txBody>
                    <a:bodyPr/>
                    <a:lstStyle/>
                    <a:p>
                      <a:r>
                        <a:rPr sz="1300" b="1">
                          <a:solidFill>
                            <a:srgbClr val="FFFFFF"/>
                          </a:solidFill>
                        </a:rPr>
                        <a:t>Vehicle approach  (south to north)</a:t>
                      </a:r>
                    </a:p>
                  </a:txBody>
                  <a:tcPr>
                    <a:solidFill>
                      <a:srgbClr val="1B3A5C"/>
                    </a:solidFill>
                  </a:tcPr>
                </a:tc>
                <a:tc>
                  <a:txBody>
                    <a:bodyPr/>
                    <a:lstStyle/>
                    <a:p>
                      <a:r>
                        <a:rPr sz="1300" b="1">
                          <a:solidFill>
                            <a:srgbClr val="FFFFFF"/>
                          </a:solidFill>
                        </a:rPr>
                        <a:t>Historical egress coverage</a:t>
                      </a:r>
                    </a:p>
                  </a:txBody>
                  <a:tcPr>
                    <a:solidFill>
                      <a:srgbClr val="1B3A5C"/>
                    </a:solidFill>
                  </a:tcPr>
                </a:tc>
                <a:tc>
                  <a:txBody>
                    <a:bodyPr/>
                    <a:lstStyle/>
                    <a:p>
                      <a:r>
                        <a:rPr sz="1300" b="1">
                          <a:solidFill>
                            <a:srgbClr val="FFFFFF"/>
                          </a:solidFill>
                        </a:rPr>
                        <a:t>Pilot role</a:t>
                      </a:r>
                    </a:p>
                  </a:txBody>
                  <a:tcPr>
                    <a:solidFill>
                      <a:srgbClr val="1B3A5C"/>
                    </a:solidFill>
                  </a:tcPr>
                </a:tc>
              </a:tr>
              <a:tr h="365760">
                <a:tc>
                  <a:txBody>
                    <a:bodyPr/>
                    <a:lstStyle/>
                    <a:p>
                      <a:r>
                        <a:rPr sz="1200"/>
                        <a:t>Seaview</a:t>
                      </a:r>
                    </a:p>
                  </a:txBody>
                  <a:tcPr/>
                </a:tc>
                <a:tc>
                  <a:txBody>
                    <a:bodyPr/>
                    <a:lstStyle/>
                    <a:p>
                      <a:r>
                        <a:rPr sz="1200"/>
                        <a:t>2004 only (south to Beards Hollow)</a:t>
                      </a:r>
                    </a:p>
                  </a:txBody>
                  <a:tcPr/>
                </a:tc>
                <a:tc>
                  <a:txBody>
                    <a:bodyPr/>
                    <a:lstStyle/>
                    <a:p>
                      <a:r>
                        <a:rPr sz="1200"/>
                        <a:t>Counter</a:t>
                      </a:r>
                    </a:p>
                  </a:txBody>
                  <a:tcPr/>
                </a:tc>
              </a:tr>
              <a:tr h="365760">
                <a:tc>
                  <a:txBody>
                    <a:bodyPr/>
                    <a:lstStyle/>
                    <a:p>
                      <a:r>
                        <a:rPr sz="1200"/>
                        <a:t>Long Beach (Bolstad)</a:t>
                      </a:r>
                    </a:p>
                  </a:txBody>
                  <a:tcPr/>
                </a:tc>
                <a:tc>
                  <a:txBody>
                    <a:bodyPr/>
                    <a:lstStyle/>
                    <a:p>
                      <a:r>
                        <a:rPr sz="1200"/>
                        <a:t>never counted</a:t>
                      </a:r>
                    </a:p>
                  </a:txBody>
                  <a:tcPr/>
                </a:tc>
                <a:tc>
                  <a:txBody>
                    <a:bodyPr/>
                    <a:lstStyle/>
                    <a:p>
                      <a:r>
                        <a:rPr sz="1200"/>
                        <a:t>Counter</a:t>
                      </a:r>
                    </a:p>
                  </a:txBody>
                  <a:tcPr/>
                </a:tc>
              </a:tr>
              <a:tr h="365760">
                <a:tc>
                  <a:txBody>
                    <a:bodyPr/>
                    <a:lstStyle/>
                    <a:p>
                      <a:r>
                        <a:rPr sz="1200"/>
                        <a:t>Cranberry</a:t>
                      </a:r>
                    </a:p>
                  </a:txBody>
                  <a:tcPr/>
                </a:tc>
                <a:tc>
                  <a:txBody>
                    <a:bodyPr/>
                    <a:lstStyle/>
                    <a:p>
                      <a:r>
                        <a:rPr sz="1200"/>
                        <a:t>never counted</a:t>
                      </a:r>
                    </a:p>
                  </a:txBody>
                  <a:tcPr/>
                </a:tc>
                <a:tc>
                  <a:txBody>
                    <a:bodyPr/>
                    <a:lstStyle/>
                    <a:p>
                      <a:r>
                        <a:rPr sz="1200"/>
                        <a:t>Counter</a:t>
                      </a:r>
                    </a:p>
                  </a:txBody>
                  <a:tcPr/>
                </a:tc>
              </a:tr>
              <a:tr h="365760">
                <a:tc>
                  <a:txBody>
                    <a:bodyPr/>
                    <a:lstStyle/>
                    <a:p>
                      <a:r>
                        <a:rPr sz="1200"/>
                        <a:t>Klipsan</a:t>
                      </a:r>
                    </a:p>
                  </a:txBody>
                  <a:tcPr/>
                </a:tc>
                <a:tc>
                  <a:txBody>
                    <a:bodyPr/>
                    <a:lstStyle/>
                    <a:p>
                      <a:r>
                        <a:rPr sz="1200"/>
                        <a:t>never counted</a:t>
                      </a:r>
                    </a:p>
                  </a:txBody>
                  <a:tcPr/>
                </a:tc>
                <a:tc>
                  <a:txBody>
                    <a:bodyPr/>
                    <a:lstStyle/>
                    <a:p>
                      <a:r>
                        <a:rPr sz="1200"/>
                        <a:t>Counter</a:t>
                      </a:r>
                    </a:p>
                  </a:txBody>
                  <a:tcPr/>
                </a:tc>
              </a:tr>
              <a:tr h="365760">
                <a:tc>
                  <a:txBody>
                    <a:bodyPr/>
                    <a:lstStyle/>
                    <a:p>
                      <a:r>
                        <a:rPr sz="1200"/>
                        <a:t>Ocean Park</a:t>
                      </a:r>
                    </a:p>
                  </a:txBody>
                  <a:tcPr/>
                </a:tc>
                <a:tc>
                  <a:txBody>
                    <a:bodyPr/>
                    <a:lstStyle/>
                    <a:p>
                      <a:r>
                        <a:rPr sz="1200"/>
                        <a:t>never counted</a:t>
                      </a:r>
                    </a:p>
                  </a:txBody>
                  <a:tcPr/>
                </a:tc>
                <a:tc>
                  <a:txBody>
                    <a:bodyPr/>
                    <a:lstStyle/>
                    <a:p>
                      <a:r>
                        <a:rPr sz="1200"/>
                        <a:t>Counter</a:t>
                      </a:r>
                    </a:p>
                  </a:txBody>
                  <a:tcPr/>
                </a:tc>
              </a:tr>
              <a:tr h="365760">
                <a:tc>
                  <a:txBody>
                    <a:bodyPr/>
                    <a:lstStyle/>
                    <a:p>
                      <a:r>
                        <a:rPr sz="1200"/>
                        <a:t>Oysterville</a:t>
                      </a:r>
                    </a:p>
                  </a:txBody>
                  <a:tcPr/>
                </a:tc>
                <a:tc>
                  <a:txBody>
                    <a:bodyPr/>
                    <a:lstStyle/>
                    <a:p>
                      <a:r>
                        <a:rPr sz="1200"/>
                        <a:t>1990, 1998, 2004, 2011 (north to Leadbetter)</a:t>
                      </a:r>
                    </a:p>
                  </a:txBody>
                  <a:tcPr/>
                </a:tc>
                <a:tc>
                  <a:txBody>
                    <a:bodyPr/>
                    <a:lstStyle/>
                    <a:p>
                      <a:r>
                        <a:rPr sz="1200"/>
                        <a:t>Counter</a:t>
                      </a:r>
                    </a:p>
                  </a:txBody>
                  <a:tcPr/>
                </a:tc>
              </a:tr>
            </a:tbl>
          </a:graphicData>
        </a:graphic>
      </p:graphicFrame>
      <p:sp>
        <p:nvSpPr>
          <p:cNvPr id="4" name="TextBox 3"/>
          <p:cNvSpPr txBox="1"/>
          <p:nvPr/>
        </p:nvSpPr>
        <p:spPr>
          <a:xfrm>
            <a:off x="594360" y="4297680"/>
            <a:ext cx="10972800" cy="1554480"/>
          </a:xfrm>
          <a:prstGeom prst="rect">
            <a:avLst/>
          </a:prstGeom>
          <a:noFill/>
        </p:spPr>
        <p:txBody>
          <a:bodyPr wrap="square">
            <a:spAutoFit/>
          </a:bodyPr>
          <a:lstStyle/>
          <a:p>
            <a:r>
              <a:rPr sz="1300"/>
              <a:t>One counter per approach records cars on and off in 15-minute bins across the tidal window (about three hours before to ninety minutes after low water); a roving crew runs the instantaneous beach count near the peak and works the full length for catch and effort. Long Beach splits into seven census sections between Beards Hollow and Leadbetter Point. Four of its six approaches have never been counted, and no survey has ever counted all six on the same day: coverage was one end or the other, on separate days. This is the first whole-beach measurement.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Staffing: eight for Long Beach, thirteen with a paired northern beach</a:t>
            </a:r>
          </a:p>
        </p:txBody>
      </p:sp>
      <p:graphicFrame>
        <p:nvGraphicFramePr>
          <p:cNvPr id="3" name="Table 2"/>
          <p:cNvGraphicFramePr>
            <a:graphicFrameLocks noGrp="1"/>
          </p:cNvGraphicFramePr>
          <p:nvPr/>
        </p:nvGraphicFramePr>
        <p:xfrm>
          <a:off x="594360" y="1325880"/>
          <a:ext cx="10972800" cy="2194560"/>
        </p:xfrm>
        <a:graphic>
          <a:graphicData uri="http://schemas.openxmlformats.org/drawingml/2006/table">
            <a:tbl>
              <a:tblPr firstRow="1" bandRow="1">
                <a:tableStyleId>{5C22544A-7EE6-4342-B048-85BDC9FD1C3A}</a:tableStyleId>
              </a:tblPr>
              <a:tblGrid>
                <a:gridCol w="5120640"/>
                <a:gridCol w="1188720"/>
                <a:gridCol w="4663440"/>
              </a:tblGrid>
              <a:tr h="365760">
                <a:tc>
                  <a:txBody>
                    <a:bodyPr/>
                    <a:lstStyle/>
                    <a:p>
                      <a:r>
                        <a:rPr sz="1300" b="1">
                          <a:solidFill>
                            <a:srgbClr val="FFFFFF"/>
                          </a:solidFill>
                        </a:rPr>
                        <a:t>Role</a:t>
                      </a:r>
                    </a:p>
                  </a:txBody>
                  <a:tcPr>
                    <a:solidFill>
                      <a:srgbClr val="1B3A5C"/>
                    </a:solidFill>
                  </a:tcPr>
                </a:tc>
                <a:tc>
                  <a:txBody>
                    <a:bodyPr/>
                    <a:lstStyle/>
                    <a:p>
                      <a:r>
                        <a:rPr sz="1300" b="1">
                          <a:solidFill>
                            <a:srgbClr val="FFFFFF"/>
                          </a:solidFill>
                        </a:rPr>
                        <a:t>Staff</a:t>
                      </a:r>
                    </a:p>
                  </a:txBody>
                  <a:tcPr>
                    <a:solidFill>
                      <a:srgbClr val="1B3A5C"/>
                    </a:solidFill>
                  </a:tcPr>
                </a:tc>
                <a:tc>
                  <a:txBody>
                    <a:bodyPr/>
                    <a:lstStyle/>
                    <a:p>
                      <a:r>
                        <a:rPr sz="1300" b="1">
                          <a:solidFill>
                            <a:srgbClr val="FFFFFF"/>
                          </a:solidFill>
                        </a:rPr>
                        <a:t>Basis</a:t>
                      </a:r>
                    </a:p>
                  </a:txBody>
                  <a:tcPr>
                    <a:solidFill>
                      <a:srgbClr val="1B3A5C"/>
                    </a:solidFill>
                  </a:tcPr>
                </a:tc>
              </a:tr>
              <a:tr h="365760">
                <a:tc>
                  <a:txBody>
                    <a:bodyPr/>
                    <a:lstStyle/>
                    <a:p>
                      <a:r>
                        <a:rPr sz="1200"/>
                        <a:t>Approach counters</a:t>
                      </a:r>
                    </a:p>
                  </a:txBody>
                  <a:tcPr/>
                </a:tc>
                <a:tc>
                  <a:txBody>
                    <a:bodyPr/>
                    <a:lstStyle/>
                    <a:p>
                      <a:r>
                        <a:rPr sz="1200"/>
                        <a:t>6</a:t>
                      </a:r>
                    </a:p>
                  </a:txBody>
                  <a:tcPr/>
                </a:tc>
                <a:tc>
                  <a:txBody>
                    <a:bodyPr/>
                    <a:lstStyle/>
                    <a:p>
                      <a:r>
                        <a:rPr sz="1200"/>
                        <a:t>one per drivable approach (1998 field model)</a:t>
                      </a:r>
                    </a:p>
                  </a:txBody>
                  <a:tcPr/>
                </a:tc>
              </a:tr>
              <a:tr h="365760">
                <a:tc>
                  <a:txBody>
                    <a:bodyPr/>
                    <a:lstStyle/>
                    <a:p>
                      <a:r>
                        <a:rPr sz="1200"/>
                        <a:t>Roving beach-count / interview crews</a:t>
                      </a:r>
                    </a:p>
                  </a:txBody>
                  <a:tcPr/>
                </a:tc>
                <a:tc>
                  <a:txBody>
                    <a:bodyPr/>
                    <a:lstStyle/>
                    <a:p>
                      <a:r>
                        <a:rPr sz="1200"/>
                        <a:t>2</a:t>
                      </a:r>
                    </a:p>
                  </a:txBody>
                  <a:tcPr/>
                </a:tc>
                <a:tc>
                  <a:txBody>
                    <a:bodyPr/>
                    <a:lstStyle/>
                    <a:p>
                      <a:r>
                        <a:rPr sz="1200"/>
                        <a:t>28-mile beach, up to ~5,200 trips on a 90th-percentile day</a:t>
                      </a:r>
                    </a:p>
                  </a:txBody>
                  <a:tcPr/>
                </a:tc>
              </a:tr>
              <a:tr h="365760">
                <a:tc>
                  <a:txBody>
                    <a:bodyPr/>
                    <a:lstStyle/>
                    <a:p>
                      <a:r>
                        <a:rPr sz="1200" b="1"/>
                        <a:t>Long Beach core, per survey day</a:t>
                      </a:r>
                    </a:p>
                  </a:txBody>
                  <a:tcPr/>
                </a:tc>
                <a:tc>
                  <a:txBody>
                    <a:bodyPr/>
                    <a:lstStyle/>
                    <a:p>
                      <a:r>
                        <a:rPr sz="1200" b="1"/>
                        <a:t>8</a:t>
                      </a:r>
                    </a:p>
                  </a:txBody>
                  <a:tcPr/>
                </a:tc>
                <a:tc>
                  <a:txBody>
                    <a:bodyPr/>
                    <a:lstStyle/>
                    <a:p/>
                  </a:txBody>
                  <a:tcPr/>
                </a:tc>
              </a:tr>
              <a:tr h="365760">
                <a:tc>
                  <a:txBody>
                    <a:bodyPr/>
                    <a:lstStyle/>
                    <a:p>
                      <a:r>
                        <a:rPr sz="1200"/>
                        <a:t>Paired northern egress (Copalis or Mocrocks)</a:t>
                      </a:r>
                    </a:p>
                  </a:txBody>
                  <a:tcPr/>
                </a:tc>
                <a:tc>
                  <a:txBody>
                    <a:bodyPr/>
                    <a:lstStyle/>
                    <a:p>
                      <a:r>
                        <a:rPr sz="1200"/>
                        <a:t>+5</a:t>
                      </a:r>
                    </a:p>
                  </a:txBody>
                  <a:tcPr/>
                </a:tc>
                <a:tc>
                  <a:txBody>
                    <a:bodyPr/>
                    <a:lstStyle/>
                    <a:p>
                      <a:r>
                        <a:rPr sz="1200"/>
                        <a:t>same-day donor truth on a subset of days</a:t>
                      </a:r>
                    </a:p>
                  </a:txBody>
                  <a:tcPr/>
                </a:tc>
              </a:tr>
              <a:tr h="365760">
                <a:tc>
                  <a:txBody>
                    <a:bodyPr/>
                    <a:lstStyle/>
                    <a:p>
                      <a:r>
                        <a:rPr sz="1200" b="1"/>
                        <a:t>Peak, on a paired day</a:t>
                      </a:r>
                    </a:p>
                  </a:txBody>
                  <a:tcPr/>
                </a:tc>
                <a:tc>
                  <a:txBody>
                    <a:bodyPr/>
                    <a:lstStyle/>
                    <a:p>
                      <a:r>
                        <a:rPr sz="1200" b="1"/>
                        <a:t>13</a:t>
                      </a:r>
                    </a:p>
                  </a:txBody>
                  <a:tcPr/>
                </a:tc>
                <a:tc>
                  <a:txBody>
                    <a:bodyPr/>
                    <a:lstStyle/>
                    <a:p/>
                  </a:txBody>
                  <a:tcPr/>
                </a:tc>
              </a:tr>
            </a:tbl>
          </a:graphicData>
        </a:graphic>
      </p:graphicFrame>
      <p:sp>
        <p:nvSpPr>
          <p:cNvPr id="4" name="TextBox 3"/>
          <p:cNvSpPr txBox="1"/>
          <p:nvPr/>
        </p:nvSpPr>
        <p:spPr>
          <a:xfrm>
            <a:off x="594360" y="4160520"/>
            <a:ext cx="10972800" cy="1554480"/>
          </a:xfrm>
          <a:prstGeom prst="rect">
            <a:avLst/>
          </a:prstGeom>
          <a:noFill/>
        </p:spPr>
        <p:txBody>
          <a:bodyPr wrap="square">
            <a:spAutoFit/>
          </a:bodyPr>
          <a:lstStyle/>
          <a:p>
            <a:r>
              <a:rPr sz="1300"/>
              <a:t>Counters are stationary and low-skill (enforcement, seasonals, trained volunteers); the roving crews are the program's regular samplers, who are on the beach that day regardless, so the marginal cost is mainly the six counters. On a subset of days, add a whole-beach egress at whichever northern donor the state is digging that day. That yields paired same-day truth at donor and target, measuring the imputation transfer directly and adding to the 97 same-day pairs that anchor the joint-donor error (sd 0.43).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it buys: from 18% toward 6%, and a template for partial surveys</a:t>
            </a:r>
          </a:p>
        </p:txBody>
      </p:sp>
      <p:sp>
        <p:nvSpPr>
          <p:cNvPr id="3" name="Content Placeholder 2"/>
          <p:cNvSpPr>
            <a:spLocks noGrp="1"/>
          </p:cNvSpPr>
          <p:nvPr>
            <p:ph idx="1" sz="half"/>
          </p:nvPr>
        </p:nvSpPr>
        <p:spPr/>
        <p:txBody>
          <a:bodyPr wrap="square"/>
          <a:lstStyle/>
          <a:p>
            <a:r>
              <a:rPr b="1" sz="1400"/>
              <a:t>Today: 18.4% relative sd on three daylight surveys, newest 2011. </a:t>
            </a:r>
            <a:r>
              <a:rPr sz="1400"/>
              <a:t>Between-survey error falls as one over the root of the survey count.</a:t>
            </a:r>
          </a:p>
          <a:p>
            <a:r>
              <a:rPr b="1" sz="1400"/>
              <a:t>A pilot season (~8 whole-beach surveys) </a:t>
            </a:r>
            <a:r>
              <a:rPr sz="1400"/>
              <a:t>roughly halves it to ~11%; a ~16-survey rebuild reaches ~8%, approaching the ~6% of the refreshed northern beaches.</a:t>
            </a:r>
          </a:p>
          <a:p>
            <a:r>
              <a:rPr b="1" sz="1400"/>
              <a:t>Whole-beach coverage also retires the section-ratio error (sd 0.281) </a:t>
            </a:r>
            <a:r>
              <a:rPr sz="1400"/>
              <a:t>that the historical single-approach partials cannot.</a:t>
            </a:r>
          </a:p>
          <a:p>
            <a:r>
              <a:rPr b="1" sz="1400"/>
              <a:t>It calibrates the section shares, </a:t>
            </a:r>
            <a:r>
              <a:rPr sz="1400"/>
              <a:t>so future cheap partial surveys (one approach) can be expanded reliably instead of imputed.</a:t>
            </a:r>
          </a:p>
        </p:txBody>
      </p:sp>
      <p:sp>
        <p:nvSpPr>
          <p:cNvPr id="5" name="Content Placeholder 4"/>
          <p:cNvSpPr>
            <a:spLocks noGrp="1"/>
          </p:cNvSpPr>
          <p:nvPr>
            <p:ph idx="11" sz="half"/>
          </p:nvPr>
        </p:nvSpPr>
        <p:spPr/>
        <p:txBody>
          <a:bodyPr/>
          <a:lstStyle/>
          <a:p/>
        </p:txBody>
      </p:sp>
      <p:pic>
        <p:nvPicPr>
          <p:cNvPr id="6" name="Picture 5" descr="fig16_lb_survey_target.png"/>
          <p:cNvPicPr>
            <a:picLocks noChangeAspect="1"/>
          </p:cNvPicPr>
          <p:nvPr/>
        </p:nvPicPr>
        <p:blipFill>
          <a:blip r:embed="rId2"/>
          <a:stretch>
            <a:fillRect/>
          </a:stretch>
        </p:blipFill>
        <p:spPr>
          <a:xfrm>
            <a:off x="6178610" y="1692602"/>
            <a:ext cx="5403790" cy="3242274"/>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Recommendations, in priority order</a:t>
            </a:r>
          </a:p>
        </p:txBody>
      </p:sp>
      <p:sp>
        <p:nvSpPr>
          <p:cNvPr id="3" name="Content Placeholder 2"/>
          <p:cNvSpPr>
            <a:spLocks noGrp="1"/>
          </p:cNvSpPr>
          <p:nvPr>
            <p:ph idx="1"/>
          </p:nvPr>
        </p:nvSpPr>
        <p:spPr/>
        <p:txBody>
          <a:bodyPr wrap="square"/>
          <a:lstStyle/>
          <a:p>
            <a:r>
              <a:rPr b="1" sz="1400"/>
              <a:t>1.  Survey Long Beach first. </a:t>
            </a:r>
            <a:r>
              <a:rPr sz="1400"/>
              <a:t>Run the whole-beach egress pilot, six approaches and about eight staff, both tide conditions. The correction factor is the largest term and Long Beach's table is the thinnest and oldest.</a:t>
            </a:r>
          </a:p>
          <a:p>
            <a:r>
              <a:rPr b="1" sz="1400"/>
              <a:t>2.  Hold the southern donor at its co-management floor. </a:t>
            </a:r>
            <a:r>
              <a:rPr sz="1400"/>
              <a:t>Keep one of Copalis or Mocrocks state-counted every dig day, which the 2-on / 2-off calendar already delivers. The Quinault's alternate-day counts cannot substitute for the state.</a:t>
            </a:r>
          </a:p>
          <a:p>
            <a:r>
              <a:rPr b="1" sz="1400"/>
              <a:t>3.  Pair the pilot with the northern donor on a subset of days </a:t>
            </a:r>
            <a:r>
              <a:rPr sz="1400"/>
              <a:t>to measure the imputation transfer directly and tighten the joint-donor error, rather than leaning on the modeled lag curve.</a:t>
            </a:r>
          </a:p>
          <a:p>
            <a:r>
              <a:rPr b="1" sz="1400"/>
              <a:t>4.  Treat the 45% reallocation as optional, not free. </a:t>
            </a:r>
            <a:r>
              <a:rPr sz="1400"/>
              <a:t>It buys direct Long Beach precision but degrades the donor with no offset; fund Long Beach from dedicated effort where possible.</a:t>
            </a:r>
          </a:p>
          <a:p>
            <a:r>
              <a:rPr b="1" sz="1400"/>
              <a:t>5.  Accept the Copalis floor: </a:t>
            </a:r>
            <a:r>
              <a:rPr sz="1400"/>
              <a:t>a harvest CV of 0.10 is infeasible there at any sampling rate, only more surveys would move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Discussion</a:t>
            </a:r>
          </a:p>
        </p:txBody>
      </p:sp>
    </p:spTree>
  </p:cSld>
  <p:clrMapOvr>
    <a:masterClrMapping/>
  </p:clrMapOvr>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007B55"/>
      </a:accent1>
      <a:accent2>
        <a:srgbClr val="0F426B"/>
      </a:accent2>
      <a:accent3>
        <a:srgbClr val="92D2D8"/>
      </a:accent3>
      <a:accent4>
        <a:srgbClr val="FFD12E"/>
      </a:accent4>
      <a:accent5>
        <a:srgbClr val="D1D3D4"/>
      </a:accent5>
      <a:accent6>
        <a:srgbClr val="4EA72E"/>
      </a:accent6>
      <a:hlink>
        <a:srgbClr val="009D7D"/>
      </a:hlink>
      <a:folHlink>
        <a:srgbClr val="7286A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3DF6C379CEE474091FA722A741F562C" ma:contentTypeVersion="18" ma:contentTypeDescription="Create a new document." ma:contentTypeScope="" ma:versionID="6d943700fdf77bec9a4960ab6af060cd">
  <xsd:schema xmlns:xsd="http://www.w3.org/2001/XMLSchema" xmlns:xs="http://www.w3.org/2001/XMLSchema" xmlns:p="http://schemas.microsoft.com/office/2006/metadata/properties" xmlns:ns1="http://schemas.microsoft.com/sharepoint/v3" xmlns:ns2="c55fcec3-bb2d-4ee6-a56c-bdfd532525fc" xmlns:ns3="73c3c465-f3d4-4d37-9c58-e2ee535ad8e0" targetNamespace="http://schemas.microsoft.com/office/2006/metadata/properties" ma:root="true" ma:fieldsID="f5f2cddc585f7bcfd68998bfccb1991a" ns1:_="" ns2:_="" ns3:_="">
    <xsd:import namespace="http://schemas.microsoft.com/sharepoint/v3"/>
    <xsd:import namespace="c55fcec3-bb2d-4ee6-a56c-bdfd532525fc"/>
    <xsd:import namespace="73c3c465-f3d4-4d37-9c58-e2ee535ad8e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1:_ip_UnifiedCompliancePolicyProperties" minOccurs="0"/>
                <xsd:element ref="ns1:_ip_UnifiedCompliancePolicyUIAction" minOccurs="0"/>
                <xsd:element ref="ns2:lcf76f155ced4ddcb4097134ff3c332f" minOccurs="0"/>
                <xsd:element ref="ns3:TaxCatchAll"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MediaServiceObjectDetectorVersions" minOccurs="0"/>
                <xsd:element ref="ns2:MediaServiceSearchProperties" minOccurs="0"/>
                <xsd:element ref="ns2:NameinDAM"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c55fcec3-bb2d-4ee6-a56c-bdfd532525f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0a6a1c-50a4-4ec0-87e3-f00760ffe76b" ma:termSetId="09814cd3-568e-fe90-9814-8d621ff8fb84" ma:anchorId="fba54fb3-c3e1-fe81-a776-ca4b69148c4d" ma:open="true" ma:isKeyword="false">
      <xsd:complexType>
        <xsd:sequence>
          <xsd:element ref="pc:Terms" minOccurs="0" maxOccurs="1"/>
        </xsd:sequence>
      </xsd:complex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dexed="true" ma:internalName="MediaServiceLocation" ma:readOnly="true">
      <xsd:simpleType>
        <xsd:restriction base="dms:Text"/>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NameinDAM" ma:index="25" nillable="true" ma:displayName="Name in DAM" ma:format="Dropdown" ma:internalName="NameinDAM">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73c3c465-f3d4-4d37-9c58-e2ee535ad8e0"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1c90470e-89a5-48c8-b2d6-7cca2721473a}" ma:internalName="TaxCatchAll" ma:showField="CatchAllData" ma:web="73c3c465-f3d4-4d37-9c58-e2ee535ad8e0">
      <xsd:complexType>
        <xsd:complexContent>
          <xsd:extension base="dms:MultiChoiceLookup">
            <xsd:sequence>
              <xsd:element name="Value" type="dms:Lookup" maxOccurs="unbounded" minOccurs="0" nillable="true"/>
            </xsd:sequence>
          </xsd:extension>
        </xsd:complexContent>
      </xsd:complex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c55fcec3-bb2d-4ee6-a56c-bdfd532525fc">
      <Terms xmlns="http://schemas.microsoft.com/office/infopath/2007/PartnerControls"/>
    </lcf76f155ced4ddcb4097134ff3c332f>
    <TaxCatchAll xmlns="73c3c465-f3d4-4d37-9c58-e2ee535ad8e0" xsi:nil="true"/>
    <NameinDAM xmlns="c55fcec3-bb2d-4ee6-a56c-bdfd532525fc"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36337B2-684D-4381-98D1-02BFB399796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c55fcec3-bb2d-4ee6-a56c-bdfd532525fc"/>
    <ds:schemaRef ds:uri="73c3c465-f3d4-4d37-9c58-e2ee535ad8e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432BB05-EAC0-435E-80C7-C3FC0DCFDF5B}">
  <ds:schemaRefs>
    <ds:schemaRef ds:uri="http://www.w3.org/XML/1998/namespace"/>
    <ds:schemaRef ds:uri="73c3c465-f3d4-4d37-9c58-e2ee535ad8e0"/>
    <ds:schemaRef ds:uri="http://schemas.microsoft.com/sharepoint/v3"/>
    <ds:schemaRef ds:uri="http://schemas.microsoft.com/office/2006/documentManagement/types"/>
    <ds:schemaRef ds:uri="http://purl.org/dc/elements/1.1/"/>
    <ds:schemaRef ds:uri="http://schemas.microsoft.com/office/infopath/2007/PartnerControls"/>
    <ds:schemaRef ds:uri="c55fcec3-bb2d-4ee6-a56c-bdfd532525fc"/>
    <ds:schemaRef ds:uri="http://schemas.openxmlformats.org/package/2006/metadata/core-properties"/>
    <ds:schemaRef ds:uri="http://schemas.microsoft.com/office/2006/metadata/properties"/>
    <ds:schemaRef ds:uri="http://purl.org/dc/dcmitype/"/>
    <ds:schemaRef ds:uri="http://purl.org/dc/terms/"/>
  </ds:schemaRefs>
</ds:datastoreItem>
</file>

<file path=customXml/itemProps3.xml><?xml version="1.0" encoding="utf-8"?>
<ds:datastoreItem xmlns:ds="http://schemas.openxmlformats.org/officeDocument/2006/customXml" ds:itemID="{01EA9719-73E1-4AAC-90C2-9E9ED399E0F4}">
  <ds:schemaRefs>
    <ds:schemaRef ds:uri="http://schemas.microsoft.com/sharepoint/v3/contenttype/forms"/>
  </ds:schemaRefs>
</ds:datastoreItem>
</file>

<file path=docMetadata/LabelInfo.xml><?xml version="1.0" encoding="utf-8"?>
<clbl:labelList xmlns:clbl="http://schemas.microsoft.com/office/2020/mipLabelMetadata">
  <clbl:label id="{45011977-b912-4387-97a4-f4c94a801377}" enabled="1" method="Standard" siteId="{11d0e217-264e-400a-8ba0-57dcc127d72d}" removed="0"/>
</clbl:labelList>
</file>

<file path=docProps/app.xml><?xml version="1.0" encoding="utf-8"?>
<Properties xmlns="http://schemas.openxmlformats.org/officeDocument/2006/extended-properties" xmlns:vt="http://schemas.openxmlformats.org/officeDocument/2006/docPropsVTypes">
  <TotalTime>1742</TotalTime>
  <Words>483</Words>
  <Application>Microsoft Office PowerPoint</Application>
  <PresentationFormat>Widescreen</PresentationFormat>
  <Paragraphs>81</Paragraphs>
  <Slides>14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Aptos</vt:lpstr>
      <vt:lpstr>Arial</vt:lpstr>
      <vt:lpstr>Calibri</vt:lpstr>
      <vt:lpstr>Segoe UI</vt:lpstr>
      <vt:lpstr>Office Theme</vt:lpstr>
      <vt:lpstr>Presentation title  Note: this PowerPoint template utilizes a wide template size to accommodate modern screen/monitor sizes. Standard size slides are no longer available.</vt:lpstr>
      <vt:lpstr>Transition slide title</vt:lpstr>
      <vt:lpstr>Content slide title</vt:lpstr>
      <vt:lpstr>Two column slide title</vt:lpstr>
      <vt:lpstr>Content with one image or figure slide title</vt:lpstr>
      <vt:lpstr>Content with two images or figures slide title</vt:lpstr>
      <vt:lpstr>Content with three images or figures slide title</vt:lpstr>
      <vt:lpstr>Content with four images or figures slide title</vt:lpstr>
      <vt:lpstr>Image or figure only slide title</vt:lpstr>
      <vt:lpstr>Table guidance</vt:lpstr>
      <vt:lpstr>Sample table</vt:lpstr>
      <vt:lpstr>Figure guidance</vt:lpstr>
      <vt:lpstr>Sample figures</vt:lpstr>
      <vt:lpstr>Questions?   Contact your Communications Manager for help and review of your PowerPoint.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creator>Washington Department of Fish and Wildlife</dc:creator>
  <cp:lastModifiedBy>Lazaras, Kate E (DFW)</cp:lastModifiedBy>
  <cp:revision>14</cp:revision>
  <dcterms:created xsi:type="dcterms:W3CDTF">2024-02-02T23:28:24Z</dcterms:created>
  <dcterms:modified xsi:type="dcterms:W3CDTF">2026-03-12T20:11:28Z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5011977-b912-4387-97a4-f4c94a801377_Enabled">
    <vt:lpwstr>true</vt:lpwstr>
  </property>
  <property fmtid="{D5CDD505-2E9C-101B-9397-08002B2CF9AE}" pid="3" name="MSIP_Label_45011977-b912-4387-97a4-f4c94a801377_SetDate">
    <vt:lpwstr>2024-02-03T00:07:05Z</vt:lpwstr>
  </property>
  <property fmtid="{D5CDD505-2E9C-101B-9397-08002B2CF9AE}" pid="4" name="MSIP_Label_45011977-b912-4387-97a4-f4c94a801377_Method">
    <vt:lpwstr>Standard</vt:lpwstr>
  </property>
  <property fmtid="{D5CDD505-2E9C-101B-9397-08002B2CF9AE}" pid="5" name="MSIP_Label_45011977-b912-4387-97a4-f4c94a801377_Name">
    <vt:lpwstr>Uncategorized Data</vt:lpwstr>
  </property>
  <property fmtid="{D5CDD505-2E9C-101B-9397-08002B2CF9AE}" pid="6" name="MSIP_Label_45011977-b912-4387-97a4-f4c94a801377_SiteId">
    <vt:lpwstr>11d0e217-264e-400a-8ba0-57dcc127d72d</vt:lpwstr>
  </property>
  <property fmtid="{D5CDD505-2E9C-101B-9397-08002B2CF9AE}" pid="7" name="MSIP_Label_45011977-b912-4387-97a4-f4c94a801377_ActionId">
    <vt:lpwstr>2dc8ed1d-0dbc-44fc-8405-9fa39dbf00ba</vt:lpwstr>
  </property>
  <property fmtid="{D5CDD505-2E9C-101B-9397-08002B2CF9AE}" pid="8" name="MSIP_Label_45011977-b912-4387-97a4-f4c94a801377_ContentBits">
    <vt:lpwstr>0</vt:lpwstr>
  </property>
  <property fmtid="{D5CDD505-2E9C-101B-9397-08002B2CF9AE}" pid="9" name="ContentTypeId">
    <vt:lpwstr>0x01010053DF6C379CEE474091FA722A741F562C</vt:lpwstr>
  </property>
  <property fmtid="{D5CDD505-2E9C-101B-9397-08002B2CF9AE}" pid="10" name="MediaServiceImageTags">
    <vt:lpwstr/>
  </property>
</Properties>
</file>