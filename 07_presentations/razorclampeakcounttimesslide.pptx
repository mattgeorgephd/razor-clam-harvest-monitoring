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9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7EB4D7-25B6-6B85-9290-F95130246F2E}" name="Couch, Eryn (DFW)" initials="C(" userId="S::eryn.couch@dfw.wa.gov::6628dc54-d9a5-4187-8a46-71485c065632" providerId="AD"/>
  <p188:author id="{DCBB07DC-9E44-AA92-C39B-18FE8A26D185}" name="Hart, Alison L (DFW)" initials="AH" userId="Hart, Alison L (DFW)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426B"/>
    <a:srgbClr val="92D2D8"/>
    <a:srgbClr val="007B55"/>
    <a:srgbClr val="F15D44"/>
    <a:srgbClr val="5A59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09FEE8-815C-9F09-84E1-59C2DBCAC0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208CE1-7C1C-D566-D628-3E61F2FFF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1D058-9860-4C37-9D21-AC6EFE975A4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63D8D6-66E1-4233-947C-6DCAC93824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51885-49A3-9397-8220-7D6CCC81D7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BAD10-440F-40BF-A94A-4B961E111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50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at the peak gives the highest CF (smallest expansion) and the flat top where a timing slip barely moves the estimate. The frozen operational tables in use today keep ONE curve per beach (no day/night split) and peak later, nearer the evening shape: Long Beach 1:30, Twin Harbors 1:45, Copalis 1:30, Mocrocks 1:15. Relying on them effectively counts daylight digs early. Kalaloch has no expansion table, so no curve 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9B20E8-EE02-1820-5544-18085A336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F42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007A53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BC7EB52-0C9C-F1C6-B091-BF5522237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1143000"/>
            <a:ext cx="11176000" cy="1143000"/>
          </a:xfrm>
        </p:spPr>
        <p:txBody>
          <a:bodyPr>
            <a:normAutofit/>
          </a:bodyPr>
          <a:lstStyle>
            <a:lvl1pPr>
              <a:defRPr sz="4200" b="1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35CD5F-D907-C543-D46B-BA1D02F0183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180065" y="3645260"/>
            <a:ext cx="7831869" cy="1551490"/>
          </a:xfrm>
        </p:spPr>
        <p:txBody>
          <a:bodyPr>
            <a:normAutofit/>
          </a:bodyPr>
          <a:lstStyle>
            <a:lvl1pPr algn="ctr">
              <a:defRPr sz="2800">
                <a:solidFill>
                  <a:srgbClr val="5A594D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Title, Program Name</a:t>
            </a:r>
          </a:p>
          <a:p>
            <a:pPr lvl="0"/>
            <a:r>
              <a:rPr lang="en-US" dirty="0"/>
              <a:t>Date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0DCAE3D6-58BB-7007-2D20-F621752710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023353" y="5314966"/>
            <a:ext cx="2145293" cy="11996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2BDC616-847B-BDDA-D087-1397910DA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3429000"/>
            <a:ext cx="12192000" cy="76200"/>
          </a:xfrm>
          <a:prstGeom prst="rect">
            <a:avLst/>
          </a:prstGeom>
          <a:solidFill>
            <a:srgbClr val="92D2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6502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31443-4BAF-A624-C348-6ABCE5F5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2057400"/>
            <a:ext cx="12192000" cy="2743200"/>
          </a:xfrm>
          <a:prstGeom prst="rect">
            <a:avLst/>
          </a:prstGeom>
          <a:solidFill>
            <a:srgbClr val="0F42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DAEBB8A-5F07-AAF3-2E74-B640CE9A3D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44800" y="2667000"/>
            <a:ext cx="8534400" cy="1371600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  <a:latin typeface="Segoe UI" panose="020B0502040204020203" pitchFamily="34" charset="0"/>
                <a:ea typeface="Roboto Slab" pitchFamily="2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5BFBA1-44DB-AF22-0306-2F799446F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3594" y="2543175"/>
            <a:ext cx="1281906" cy="16192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BE36C2-37B7-77C8-A2C8-8CEB145669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010900" y="6426279"/>
            <a:ext cx="71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44CF46E-C689-44F1-B86A-2F369AF73809}" type="slidenum">
              <a:rPr lang="en-US" sz="1100" b="1" smtClean="0">
                <a:solidFill>
                  <a:srgbClr val="5A594D"/>
                </a:solidFill>
                <a:latin typeface="Calibri" panose="020F0502020204030204" pitchFamily="34" charset="0"/>
                <a:ea typeface="Roboto Slab" pitchFamily="2" charset="0"/>
                <a:cs typeface="Calibri" panose="020F0502020204030204" pitchFamily="34" charset="0"/>
              </a:rPr>
              <a:t>‹#›</a:t>
            </a:fld>
            <a:endParaRPr lang="en-US" sz="1100" b="1" dirty="0">
              <a:solidFill>
                <a:srgbClr val="5A594D"/>
              </a:solidFill>
              <a:latin typeface="Calibri" panose="020F0502020204030204" pitchFamily="34" charset="0"/>
              <a:ea typeface="Roboto Slab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08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D687948-4D2F-57CF-C228-5BD687C99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6172200"/>
            <a:ext cx="12192000" cy="685801"/>
            <a:chOff x="0" y="6423843"/>
            <a:chExt cx="9144000" cy="43415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09C125-C78B-1E7C-9B80-02C0025D15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6477000"/>
              <a:ext cx="9144000" cy="381000"/>
            </a:xfrm>
            <a:prstGeom prst="rect">
              <a:avLst/>
            </a:prstGeom>
            <a:solidFill>
              <a:srgbClr val="0F426B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2519E8-CEBF-D73C-75F5-F992DC2B96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6423843"/>
              <a:ext cx="9144000" cy="53157"/>
            </a:xfrm>
            <a:prstGeom prst="rect">
              <a:avLst/>
            </a:prstGeom>
            <a:solidFill>
              <a:srgbClr val="92D2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FEE575BB-B8AD-3961-7DC1-7A99C084FD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213" y="274638"/>
            <a:ext cx="10989187" cy="868362"/>
          </a:xfrm>
        </p:spPr>
        <p:txBody>
          <a:bodyPr/>
          <a:lstStyle>
            <a:lvl1pPr algn="l">
              <a:defRPr>
                <a:solidFill>
                  <a:srgbClr val="007B55"/>
                </a:solidFill>
                <a:latin typeface="Segoe UI" panose="020B0502040204020203" pitchFamily="34" charset="0"/>
                <a:ea typeface="Roboto Slab" pitchFamily="2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49C2614-C120-DE70-9364-4FE58CE3B8B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3212" y="1143000"/>
            <a:ext cx="10989187" cy="4800600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rgbClr val="0F426B"/>
                </a:solidFill>
                <a:latin typeface="Calibri" panose="020F0502020204030204" pitchFamily="34" charset="0"/>
                <a:ea typeface="Ebrima" panose="02000000000000000000" pitchFamily="2" charset="0"/>
                <a:cs typeface="Calibri" panose="020F0502020204030204" pitchFamily="34" charset="0"/>
              </a:defRPr>
            </a:lvl1pPr>
            <a:lvl2pPr marL="365760" indent="-274320">
              <a:defRPr sz="2800">
                <a:solidFill>
                  <a:srgbClr val="0F426B"/>
                </a:solidFill>
                <a:latin typeface="Calibri" panose="020F0502020204030204" pitchFamily="34" charset="0"/>
                <a:ea typeface="Ebrima" panose="02000000000000000000" pitchFamily="2" charset="0"/>
                <a:cs typeface="Calibri" panose="020F0502020204030204" pitchFamily="34" charset="0"/>
              </a:defRPr>
            </a:lvl2pPr>
            <a:lvl3pPr marL="640080" indent="-182880">
              <a:defRPr sz="2400">
                <a:solidFill>
                  <a:srgbClr val="0F426B"/>
                </a:solidFill>
                <a:latin typeface="Calibri" panose="020F0502020204030204" pitchFamily="34" charset="0"/>
                <a:ea typeface="Ebrima" panose="02000000000000000000" pitchFamily="2" charset="0"/>
                <a:cs typeface="Calibri" panose="020F0502020204030204" pitchFamily="34" charset="0"/>
              </a:defRPr>
            </a:lvl3pPr>
            <a:lvl4pPr marL="1005840">
              <a:defRPr sz="2000">
                <a:solidFill>
                  <a:srgbClr val="0F426B"/>
                </a:solidFill>
                <a:latin typeface="Calibri" panose="020F0502020204030204" pitchFamily="34" charset="0"/>
                <a:ea typeface="Ebrima" panose="02000000000000000000" pitchFamily="2" charset="0"/>
                <a:cs typeface="Calibri" panose="020F0502020204030204" pitchFamily="34" charset="0"/>
              </a:defRPr>
            </a:lvl4pPr>
            <a:lvl5pPr marL="1188720">
              <a:defRPr sz="2000">
                <a:solidFill>
                  <a:srgbClr val="0F426B"/>
                </a:solidFill>
                <a:latin typeface="Calibri" panose="020F0502020204030204" pitchFamily="34" charset="0"/>
                <a:ea typeface="Ebrima" panose="020000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A7A3E6-A8D9-A61B-AD99-07756017775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010900" y="6426279"/>
            <a:ext cx="71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44CF46E-C689-44F1-B86A-2F369AF73809}" type="slidenum">
              <a:rPr lang="en-US" sz="1100" b="1" smtClean="0">
                <a:solidFill>
                  <a:schemeClr val="bg1"/>
                </a:solidFill>
                <a:latin typeface="Calibri" panose="020F0502020204030204" pitchFamily="34" charset="0"/>
                <a:ea typeface="Roboto Slab" pitchFamily="2" charset="0"/>
                <a:cs typeface="Calibri" panose="020F0502020204030204" pitchFamily="34" charset="0"/>
              </a:rPr>
              <a:t>‹#›</a:t>
            </a:fld>
            <a:endParaRPr lang="en-US" sz="1100" b="1" dirty="0">
              <a:solidFill>
                <a:schemeClr val="bg1"/>
              </a:solidFill>
              <a:latin typeface="Calibri" panose="020F0502020204030204" pitchFamily="34" charset="0"/>
              <a:ea typeface="Roboto Slab" pitchFamily="2" charset="0"/>
              <a:cs typeface="Calibri" panose="020F050202020403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E51DA3-5135-68FE-C33C-DE98F42D5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212" y="6317722"/>
            <a:ext cx="1616588" cy="47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00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FC68F89E-9F7A-9A57-5461-D6F332212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213" y="274638"/>
            <a:ext cx="10989187" cy="868362"/>
          </a:xfrm>
        </p:spPr>
        <p:txBody>
          <a:bodyPr/>
          <a:lstStyle>
            <a:lvl1pPr algn="l">
              <a:defRPr>
                <a:solidFill>
                  <a:srgbClr val="007B55"/>
                </a:solidFill>
                <a:latin typeface="Segoe UI" panose="020B0502040204020203" pitchFamily="34" charset="0"/>
                <a:ea typeface="Roboto Slab" pitchFamily="2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E124A-15E3-FBD3-700B-54BADAFDB1E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93212" y="1160091"/>
            <a:ext cx="5420180" cy="47311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714A-E925-8EA8-C39B-E61BE08F025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8609" y="1156914"/>
            <a:ext cx="5403791" cy="47311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2D35D01-D513-A49B-DF93-0460AE6D3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6172200"/>
            <a:ext cx="12192000" cy="685801"/>
            <a:chOff x="0" y="6423843"/>
            <a:chExt cx="9144000" cy="43415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199AB99-1256-B198-1E90-DE4CB94B53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6477000"/>
              <a:ext cx="9144000" cy="381000"/>
            </a:xfrm>
            <a:prstGeom prst="rect">
              <a:avLst/>
            </a:prstGeom>
            <a:solidFill>
              <a:srgbClr val="0F426B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E16079-6D89-C3DD-D420-D01EA7654A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6423843"/>
              <a:ext cx="9144000" cy="53157"/>
            </a:xfrm>
            <a:prstGeom prst="rect">
              <a:avLst/>
            </a:prstGeom>
            <a:solidFill>
              <a:srgbClr val="92D2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CCF79BF-5446-4474-D141-994C1D2840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010900" y="6426279"/>
            <a:ext cx="71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44CF46E-C689-44F1-B86A-2F369AF73809}" type="slidenum">
              <a:rPr lang="en-US" sz="1100" b="1" smtClean="0">
                <a:solidFill>
                  <a:schemeClr val="bg1"/>
                </a:solidFill>
                <a:latin typeface="Calibri" panose="020F0502020204030204" pitchFamily="34" charset="0"/>
                <a:ea typeface="Roboto Slab" pitchFamily="2" charset="0"/>
                <a:cs typeface="Calibri" panose="020F0502020204030204" pitchFamily="34" charset="0"/>
              </a:rPr>
              <a:t>‹#›</a:t>
            </a:fld>
            <a:endParaRPr lang="en-US" sz="1100" b="1" dirty="0">
              <a:solidFill>
                <a:schemeClr val="bg1"/>
              </a:solidFill>
              <a:latin typeface="Calibri" panose="020F0502020204030204" pitchFamily="34" charset="0"/>
              <a:ea typeface="Roboto Slab" pitchFamily="2" charset="0"/>
              <a:cs typeface="Calibri" panose="020F0502020204030204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BB3D561-8F5A-4471-40E1-22AEA0B94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212" y="6317722"/>
            <a:ext cx="1616588" cy="47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1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One Image 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FC68F89E-9F7A-9A57-5461-D6F332212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213" y="274638"/>
            <a:ext cx="10989187" cy="868362"/>
          </a:xfrm>
        </p:spPr>
        <p:txBody>
          <a:bodyPr/>
          <a:lstStyle>
            <a:lvl1pPr algn="l">
              <a:defRPr>
                <a:solidFill>
                  <a:srgbClr val="007B55"/>
                </a:solidFill>
                <a:latin typeface="Segoe UI" panose="020B0502040204020203" pitchFamily="34" charset="0"/>
                <a:ea typeface="Roboto Slab" pitchFamily="2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E124A-15E3-FBD3-700B-54BADAFDB1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93212" y="1160091"/>
            <a:ext cx="5420180" cy="47311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6584567-5C82-5AF2-16CA-CC5F6B47E87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178610" y="1160092"/>
            <a:ext cx="5403790" cy="430729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Image or figure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943B9D-1DE3-3E5F-C3F7-356B4EE5C2F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78610" y="5637498"/>
            <a:ext cx="5420180" cy="25373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Photo credit or figure caption.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2D35D01-D513-A49B-DF93-0460AE6D3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6172200"/>
            <a:ext cx="12192000" cy="685801"/>
            <a:chOff x="0" y="6423843"/>
            <a:chExt cx="9144000" cy="43415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199AB99-1256-B198-1E90-DE4CB94B53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6477000"/>
              <a:ext cx="9144000" cy="381000"/>
            </a:xfrm>
            <a:prstGeom prst="rect">
              <a:avLst/>
            </a:prstGeom>
            <a:solidFill>
              <a:srgbClr val="0F426B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E16079-6D89-C3DD-D420-D01EA7654A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6423843"/>
              <a:ext cx="9144000" cy="53157"/>
            </a:xfrm>
            <a:prstGeom prst="rect">
              <a:avLst/>
            </a:prstGeom>
            <a:solidFill>
              <a:srgbClr val="92D2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CCF79BF-5446-4474-D141-994C1D2840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010900" y="6426279"/>
            <a:ext cx="71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44CF46E-C689-44F1-B86A-2F369AF73809}" type="slidenum">
              <a:rPr lang="en-US" sz="1100" b="1" smtClean="0">
                <a:solidFill>
                  <a:schemeClr val="bg1"/>
                </a:solidFill>
                <a:latin typeface="Calibri" panose="020F0502020204030204" pitchFamily="34" charset="0"/>
                <a:ea typeface="Roboto Slab" pitchFamily="2" charset="0"/>
                <a:cs typeface="Calibri" panose="020F0502020204030204" pitchFamily="34" charset="0"/>
              </a:rPr>
              <a:t>‹#›</a:t>
            </a:fld>
            <a:endParaRPr lang="en-US" sz="1100" b="1" dirty="0">
              <a:solidFill>
                <a:schemeClr val="bg1"/>
              </a:solidFill>
              <a:latin typeface="Calibri" panose="020F0502020204030204" pitchFamily="34" charset="0"/>
              <a:ea typeface="Roboto Slab" pitchFamily="2" charset="0"/>
              <a:cs typeface="Calibri" panose="020F0502020204030204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BB3D561-8F5A-4471-40E1-22AEA0B94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212" y="6317722"/>
            <a:ext cx="1616588" cy="47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12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Images or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66A8D98D-32F0-3856-8ECD-C7676C4EDA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213" y="274638"/>
            <a:ext cx="10989187" cy="868362"/>
          </a:xfrm>
        </p:spPr>
        <p:txBody>
          <a:bodyPr/>
          <a:lstStyle>
            <a:lvl1pPr algn="l">
              <a:defRPr>
                <a:solidFill>
                  <a:srgbClr val="007B55"/>
                </a:solidFill>
                <a:latin typeface="Segoe UI" panose="020B0502040204020203" pitchFamily="34" charset="0"/>
                <a:ea typeface="Roboto Slab" pitchFamily="2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F640D-08FB-1ABB-A45A-322CD0EEA0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4094" y="1154103"/>
            <a:ext cx="10988305" cy="1213084"/>
          </a:xfrm>
        </p:spPr>
        <p:txBody>
          <a:bodyPr/>
          <a:lstStyle>
            <a:lvl1pPr>
              <a:defRPr sz="3200"/>
            </a:lvl1pPr>
            <a:lvl2pPr marL="457200" indent="0">
              <a:buNone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4F45E2E3-2911-AE05-4C8E-7C84A13D79AA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09601" y="2511660"/>
            <a:ext cx="5403790" cy="31450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Image or figure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5D12262-081C-F343-CB0B-2EF83F9B63C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09601" y="5787595"/>
            <a:ext cx="5420180" cy="25373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Photo credit or figure caption.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27D89F9-E5E8-1D23-B541-9AC0A1B3D3D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178610" y="2511660"/>
            <a:ext cx="5403790" cy="31450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Image or figure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8F8F39-9023-8D9C-C875-114F54DEB10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78610" y="5787595"/>
            <a:ext cx="5420180" cy="25373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Photo credit or figure caption.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6344D7-743F-0440-C39E-F79E0B97C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6172200"/>
            <a:ext cx="12192000" cy="685801"/>
            <a:chOff x="0" y="6423843"/>
            <a:chExt cx="9144000" cy="43415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0E5AFAE-B165-EE68-BBEB-21DAEFE633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6477000"/>
              <a:ext cx="9144000" cy="381000"/>
            </a:xfrm>
            <a:prstGeom prst="rect">
              <a:avLst/>
            </a:prstGeom>
            <a:solidFill>
              <a:srgbClr val="0F426B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7C6B7E-619E-D462-3F1A-83F2A95D88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6423843"/>
              <a:ext cx="9144000" cy="53157"/>
            </a:xfrm>
            <a:prstGeom prst="rect">
              <a:avLst/>
            </a:prstGeom>
            <a:solidFill>
              <a:srgbClr val="92D2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DDF728-D389-41F4-E9C5-2A99E3584FD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010900" y="6426279"/>
            <a:ext cx="71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44CF46E-C689-44F1-B86A-2F369AF73809}" type="slidenum">
              <a:rPr lang="en-US" sz="1100" b="1" smtClean="0">
                <a:solidFill>
                  <a:schemeClr val="bg1"/>
                </a:solidFill>
                <a:latin typeface="Calibri" panose="020F0502020204030204" pitchFamily="34" charset="0"/>
                <a:ea typeface="Roboto Slab" pitchFamily="2" charset="0"/>
                <a:cs typeface="Calibri" panose="020F0502020204030204" pitchFamily="34" charset="0"/>
              </a:rPr>
              <a:t>‹#›</a:t>
            </a:fld>
            <a:endParaRPr lang="en-US" sz="1100" b="1" dirty="0">
              <a:solidFill>
                <a:schemeClr val="bg1"/>
              </a:solidFill>
              <a:latin typeface="Calibri" panose="020F0502020204030204" pitchFamily="34" charset="0"/>
              <a:ea typeface="Roboto Slab" pitchFamily="2" charset="0"/>
              <a:cs typeface="Calibri" panose="020F0502020204030204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A03E084-6B9C-B381-C0BB-915F6FCE8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212" y="6317722"/>
            <a:ext cx="1616588" cy="47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719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hree Images or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8536B0-08A2-DB4F-63ED-D362600414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213" y="274638"/>
            <a:ext cx="10989187" cy="868362"/>
          </a:xfrm>
        </p:spPr>
        <p:txBody>
          <a:bodyPr/>
          <a:lstStyle>
            <a:lvl1pPr algn="l">
              <a:defRPr>
                <a:solidFill>
                  <a:srgbClr val="007B55"/>
                </a:solidFill>
                <a:latin typeface="Segoe UI" panose="020B0502040204020203" pitchFamily="34" charset="0"/>
                <a:ea typeface="Roboto Slab" pitchFamily="2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F640D-08FB-1ABB-A45A-322CD0EEA0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4094" y="1154103"/>
            <a:ext cx="10988305" cy="1213084"/>
          </a:xfrm>
        </p:spPr>
        <p:txBody>
          <a:bodyPr/>
          <a:lstStyle>
            <a:lvl1pPr>
              <a:defRPr sz="3200"/>
            </a:lvl1pPr>
            <a:lvl2pPr marL="457200" indent="0">
              <a:buNone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4F45E2E3-2911-AE05-4C8E-7C84A13D79AA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593212" y="2537298"/>
            <a:ext cx="3458197" cy="31194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Image or figure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CDC8034-E799-9636-AF90-FB2577D824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09601" y="5787595"/>
            <a:ext cx="3441808" cy="25373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Photo credit or figure caption.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27D89F9-E5E8-1D23-B541-9AC0A1B3D3D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358707" y="2537298"/>
            <a:ext cx="3474586" cy="31194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Image or figure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FC55FA-2313-B583-EC02-5AACB520C42E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358707" y="5787595"/>
            <a:ext cx="3441808" cy="25373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Photo credit or figure caption.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D63BE60B-796F-B33A-F43D-A7F588ACBD9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8107813" y="2537298"/>
            <a:ext cx="3474586" cy="31194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Image or figure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CF2935-7B5A-3650-C578-EBD3489C189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107813" y="5789638"/>
            <a:ext cx="3441808" cy="25373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Photo credit or figure caption.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6344D7-743F-0440-C39E-F79E0B97C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6172200"/>
            <a:ext cx="12192000" cy="685801"/>
            <a:chOff x="0" y="6423843"/>
            <a:chExt cx="9144000" cy="43415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0E5AFAE-B165-EE68-BBEB-21DAEFE633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6477000"/>
              <a:ext cx="9144000" cy="381000"/>
            </a:xfrm>
            <a:prstGeom prst="rect">
              <a:avLst/>
            </a:prstGeom>
            <a:solidFill>
              <a:srgbClr val="0F426B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7C6B7E-619E-D462-3F1A-83F2A95D88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6423843"/>
              <a:ext cx="9144000" cy="53157"/>
            </a:xfrm>
            <a:prstGeom prst="rect">
              <a:avLst/>
            </a:prstGeom>
            <a:solidFill>
              <a:srgbClr val="92D2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DDF728-D389-41F4-E9C5-2A99E3584FD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010900" y="6426279"/>
            <a:ext cx="71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44CF46E-C689-44F1-B86A-2F369AF73809}" type="slidenum">
              <a:rPr lang="en-US" sz="1100" b="1" smtClean="0">
                <a:solidFill>
                  <a:schemeClr val="bg1"/>
                </a:solidFill>
                <a:latin typeface="Calibri" panose="020F0502020204030204" pitchFamily="34" charset="0"/>
                <a:ea typeface="Roboto Slab" pitchFamily="2" charset="0"/>
                <a:cs typeface="Calibri" panose="020F0502020204030204" pitchFamily="34" charset="0"/>
              </a:rPr>
              <a:t>‹#›</a:t>
            </a:fld>
            <a:endParaRPr lang="en-US" sz="1100" b="1" dirty="0">
              <a:solidFill>
                <a:schemeClr val="bg1"/>
              </a:solidFill>
              <a:latin typeface="Calibri" panose="020F0502020204030204" pitchFamily="34" charset="0"/>
              <a:ea typeface="Roboto Slab" pitchFamily="2" charset="0"/>
              <a:cs typeface="Calibri" panose="020F0502020204030204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A03E084-6B9C-B381-C0BB-915F6FCE8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212" y="6317722"/>
            <a:ext cx="1616588" cy="47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3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Four Images or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F720FB-C949-3605-A8FD-1E087BC21F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213" y="274638"/>
            <a:ext cx="10989187" cy="868362"/>
          </a:xfrm>
        </p:spPr>
        <p:txBody>
          <a:bodyPr/>
          <a:lstStyle>
            <a:lvl1pPr algn="l">
              <a:defRPr>
                <a:solidFill>
                  <a:srgbClr val="007B55"/>
                </a:solidFill>
                <a:latin typeface="Segoe UI" panose="020B0502040204020203" pitchFamily="34" charset="0"/>
                <a:ea typeface="Roboto Slab" pitchFamily="2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F640D-08FB-1ABB-A45A-322CD0EEA0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4094" y="1154103"/>
            <a:ext cx="10988305" cy="1213084"/>
          </a:xfrm>
        </p:spPr>
        <p:txBody>
          <a:bodyPr/>
          <a:lstStyle>
            <a:lvl1pPr>
              <a:defRPr sz="3200"/>
            </a:lvl1pPr>
            <a:lvl2pPr marL="457200" indent="0">
              <a:buNone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4F45E2E3-2911-AE05-4C8E-7C84A13D79AA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593212" y="2575636"/>
            <a:ext cx="2458850" cy="30968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Image or figure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A1FA4D-8E9A-32ED-BB2B-2458E852294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09601" y="5787595"/>
            <a:ext cx="2442461" cy="25373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Photo credit or figure caption.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27D89F9-E5E8-1D23-B541-9AC0A1B3D3D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3454417" y="2559821"/>
            <a:ext cx="2470503" cy="30968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Image or figure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F1242B-AA97-4D77-BDE3-9A0D9967312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454417" y="5787595"/>
            <a:ext cx="2442461" cy="25373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Photo credit or figure caption.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63B4FD5-AD0F-C1F4-9EEE-88FF9FA34B3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327274" y="2563173"/>
            <a:ext cx="2470503" cy="30968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Image or figure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41CD70C-55F1-A628-07B0-34F93B7BD04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327274" y="5785975"/>
            <a:ext cx="2442461" cy="25373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Photo credit or figure caption.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D63BE60B-796F-B33A-F43D-A7F588ACBD9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111896" y="2559821"/>
            <a:ext cx="2470503" cy="30968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Image or figure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3CF104B-64F4-96D7-0889-9B1A1B6B5F4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111896" y="5785975"/>
            <a:ext cx="2442461" cy="25373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Photo credit or figure caption.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6344D7-743F-0440-C39E-F79E0B97C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6172200"/>
            <a:ext cx="12192000" cy="685801"/>
            <a:chOff x="0" y="6423843"/>
            <a:chExt cx="9144000" cy="43415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0E5AFAE-B165-EE68-BBEB-21DAEFE633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6477000"/>
              <a:ext cx="9144000" cy="381000"/>
            </a:xfrm>
            <a:prstGeom prst="rect">
              <a:avLst/>
            </a:prstGeom>
            <a:solidFill>
              <a:srgbClr val="0F426B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7C6B7E-619E-D462-3F1A-83F2A95D88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6423843"/>
              <a:ext cx="9144000" cy="53157"/>
            </a:xfrm>
            <a:prstGeom prst="rect">
              <a:avLst/>
            </a:prstGeom>
            <a:solidFill>
              <a:srgbClr val="92D2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DDF728-D389-41F4-E9C5-2A99E3584FD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010900" y="6426279"/>
            <a:ext cx="71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44CF46E-C689-44F1-B86A-2F369AF73809}" type="slidenum">
              <a:rPr lang="en-US" sz="1100" b="1" smtClean="0">
                <a:solidFill>
                  <a:schemeClr val="bg1"/>
                </a:solidFill>
                <a:latin typeface="Calibri" panose="020F0502020204030204" pitchFamily="34" charset="0"/>
                <a:ea typeface="Roboto Slab" pitchFamily="2" charset="0"/>
                <a:cs typeface="Calibri" panose="020F0502020204030204" pitchFamily="34" charset="0"/>
              </a:rPr>
              <a:t>‹#›</a:t>
            </a:fld>
            <a:endParaRPr lang="en-US" sz="1100" b="1" dirty="0">
              <a:solidFill>
                <a:schemeClr val="bg1"/>
              </a:solidFill>
              <a:latin typeface="Calibri" panose="020F0502020204030204" pitchFamily="34" charset="0"/>
              <a:ea typeface="Roboto Slab" pitchFamily="2" charset="0"/>
              <a:cs typeface="Calibri" panose="020F0502020204030204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A03E084-6B9C-B381-C0BB-915F6FCE8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212" y="6317722"/>
            <a:ext cx="1616588" cy="47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r Fig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A60C347-0F02-8ABE-9C0A-2414CF30D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213" y="274638"/>
            <a:ext cx="10989187" cy="868362"/>
          </a:xfrm>
        </p:spPr>
        <p:txBody>
          <a:bodyPr/>
          <a:lstStyle>
            <a:lvl1pPr algn="l">
              <a:defRPr>
                <a:solidFill>
                  <a:srgbClr val="007B55"/>
                </a:solidFill>
                <a:latin typeface="Segoe UI" panose="020B0502040204020203" pitchFamily="34" charset="0"/>
                <a:ea typeface="Roboto Slab" pitchFamily="2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CB263469-5CF0-30FF-09BE-DBD3C2AEB57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93213" y="1160092"/>
            <a:ext cx="10989187" cy="44966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Image or figure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3C919D3-A039-50AE-CBD9-89F458D53ED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09601" y="5787595"/>
            <a:ext cx="10972799" cy="25373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Photo credit or figure caption.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D5208B-6EC7-23B8-8646-0B92A3FA3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172200"/>
            <a:ext cx="12192000" cy="685801"/>
            <a:chOff x="0" y="6423843"/>
            <a:chExt cx="9144000" cy="43415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DC46A72-B502-6814-2E8D-A1A9EFAFCD24}"/>
                </a:ext>
              </a:extLst>
            </p:cNvPr>
            <p:cNvSpPr/>
            <p:nvPr userDrawn="1"/>
          </p:nvSpPr>
          <p:spPr>
            <a:xfrm>
              <a:off x="0" y="6477000"/>
              <a:ext cx="9144000" cy="381000"/>
            </a:xfrm>
            <a:prstGeom prst="rect">
              <a:avLst/>
            </a:prstGeom>
            <a:solidFill>
              <a:srgbClr val="0F426B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E5DCEC6-0F8C-5541-7442-C093800C3015}"/>
                </a:ext>
              </a:extLst>
            </p:cNvPr>
            <p:cNvSpPr/>
            <p:nvPr userDrawn="1"/>
          </p:nvSpPr>
          <p:spPr>
            <a:xfrm>
              <a:off x="0" y="6423843"/>
              <a:ext cx="9144000" cy="53157"/>
            </a:xfrm>
            <a:prstGeom prst="rect">
              <a:avLst/>
            </a:prstGeom>
            <a:solidFill>
              <a:srgbClr val="92D2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E4910A2-E75A-A0F3-12FA-C7B33827BFF5}"/>
              </a:ext>
            </a:extLst>
          </p:cNvPr>
          <p:cNvSpPr txBox="1"/>
          <p:nvPr userDrawn="1"/>
        </p:nvSpPr>
        <p:spPr>
          <a:xfrm>
            <a:off x="11010900" y="6426279"/>
            <a:ext cx="71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44CF46E-C689-44F1-B86A-2F369AF73809}" type="slidenum">
              <a:rPr lang="en-US" sz="1100" b="1" smtClean="0">
                <a:solidFill>
                  <a:schemeClr val="bg1"/>
                </a:solidFill>
                <a:latin typeface="Calibri" panose="020F0502020204030204" pitchFamily="34" charset="0"/>
                <a:ea typeface="Roboto Slab" pitchFamily="2" charset="0"/>
                <a:cs typeface="Calibri" panose="020F0502020204030204" pitchFamily="34" charset="0"/>
              </a:rPr>
              <a:t>‹#›</a:t>
            </a:fld>
            <a:endParaRPr lang="en-US" sz="1100" b="1" dirty="0">
              <a:solidFill>
                <a:schemeClr val="bg1"/>
              </a:solidFill>
              <a:latin typeface="Calibri" panose="020F0502020204030204" pitchFamily="34" charset="0"/>
              <a:ea typeface="Roboto Slab" pitchFamily="2" charset="0"/>
              <a:cs typeface="Calibri" panose="020F050202020403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C0C22ED-5F80-CEFE-BB25-C337EB274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212" y="6317722"/>
            <a:ext cx="1616588" cy="47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820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66BB33-DB2B-91D3-D089-F85266D2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1A2DB-9F95-64AA-F96F-279EB0EF7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0280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8" r:id="rId5"/>
    <p:sldLayoutId id="2147483656" r:id="rId6"/>
    <p:sldLayoutId id="2147483659" r:id="rId7"/>
    <p:sldLayoutId id="2147483660" r:id="rId8"/>
    <p:sldLayoutId id="214748365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7B55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rgbClr val="0F426B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F426B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F426B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426B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426B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time to count each beach: aim for the curve peak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117043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i="1">
                <a:solidFill>
                  <a:srgbClr val="606A72"/>
                </a:solidFill>
              </a:rPr>
              <a:t>Beaches south to north; all times are before low water. The flat-top window is where presence stays within ~5% of the peak, the range in which a small timing slip barely moves the estimate.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95247" y="1755648"/>
          <a:ext cx="9601200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097280"/>
                <a:gridCol w="1783080"/>
                <a:gridCol w="2194560"/>
                <a:gridCol w="1828800"/>
                <a:gridCol w="86868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Beach (S to N)</a:t>
                      </a:r>
                    </a:p>
                  </a:txBody>
                  <a:tcPr anchor="ctr" marL="73152" marR="54864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Dig type</a:t>
                      </a:r>
                    </a:p>
                  </a:txBody>
                  <a:tcPr anchor="ctr" marL="73152" marR="54864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Best count time</a:t>
                      </a:r>
                    </a:p>
                  </a:txBody>
                  <a:tcPr anchor="ctr" marL="73152" marR="54864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Share at peak (max CF)</a:t>
                      </a:r>
                    </a:p>
                  </a:txBody>
                  <a:tcPr anchor="ctr" marL="73152" marR="54864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Flat-top window</a:t>
                      </a:r>
                    </a:p>
                  </a:txBody>
                  <a:tcPr anchor="ctr" marL="73152" marR="54864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Surveys</a:t>
                      </a:r>
                    </a:p>
                  </a:txBody>
                  <a:tcPr anchor="ctr" marL="73152" marR="54864" marT="18288" marB="18288">
                    <a:solidFill>
                      <a:srgbClr val="1B3A5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Long Beach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87A2E"/>
                          </a:solidFill>
                          <a:latin typeface="Calibri"/>
                        </a:rPr>
                        <a:t>Daylight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1:15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0303A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1:15 to 1:30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Long Beach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Evening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1:30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0303A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1:15 to 1:45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Twin Harbors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87A2E"/>
                          </a:solidFill>
                          <a:latin typeface="Calibri"/>
                        </a:rPr>
                        <a:t>Daylight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1:00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0303A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0:45 to 1:15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Twin Harbors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Evening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1:45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0303A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1:30 to 2:00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Copalis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87A2E"/>
                          </a:solidFill>
                          <a:latin typeface="Calibri"/>
                        </a:rPr>
                        <a:t>Daylight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1:00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0303A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0:45 to 1:00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Copalis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Evening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1:15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0303A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1:15 to 1:45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Mocrocks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87A2E"/>
                          </a:solidFill>
                          <a:latin typeface="Calibri"/>
                        </a:rPr>
                        <a:t>Daylight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1:00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0303A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0:45 to 1:15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Mocrocks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Evening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1:30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0303A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1:30 to 1:45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30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54864" marT="18288" marB="18288">
                    <a:solidFill>
                      <a:srgbClr val="ED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95247" y="5102351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B3A5C"/>
                </a:solidFill>
              </a:rPr>
              <a:t>In plain terms:  </a:t>
            </a:r>
            <a:r>
              <a:rPr sz="1300">
                <a:solidFill>
                  <a:srgbClr val="20303A"/>
                </a:solidFill>
              </a:rPr>
              <a:t>evening effort peaks earlier than daylight. Today's count window, about 1:30 to 2:00 before low, sits ahead of every daylight peak, so daylight counts land on the rising shoulder; moving them to 1:00 to 1:15 puts them on the flat top. Evening counts are already near their peaks.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247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606A72"/>
                </a:solidFill>
              </a:rPr>
              <a:t>Peaks are the argmax of each beach-and-condition percent-available curve pooled from the egress surveys (expansion_tables_rebuilt.csv). Times are before low water at 15-minute resolution, so treat as plus or minus one bin; the 3-survey cells are the least certain.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7B55"/>
      </a:accent1>
      <a:accent2>
        <a:srgbClr val="0F426B"/>
      </a:accent2>
      <a:accent3>
        <a:srgbClr val="92D2D8"/>
      </a:accent3>
      <a:accent4>
        <a:srgbClr val="FFD12E"/>
      </a:accent4>
      <a:accent5>
        <a:srgbClr val="D1D3D4"/>
      </a:accent5>
      <a:accent6>
        <a:srgbClr val="4EA72E"/>
      </a:accent6>
      <a:hlink>
        <a:srgbClr val="009D7D"/>
      </a:hlink>
      <a:folHlink>
        <a:srgbClr val="7286A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DF6C379CEE474091FA722A741F562C" ma:contentTypeVersion="18" ma:contentTypeDescription="Create a new document." ma:contentTypeScope="" ma:versionID="6d943700fdf77bec9a4960ab6af060cd">
  <xsd:schema xmlns:xsd="http://www.w3.org/2001/XMLSchema" xmlns:xs="http://www.w3.org/2001/XMLSchema" xmlns:p="http://schemas.microsoft.com/office/2006/metadata/properties" xmlns:ns1="http://schemas.microsoft.com/sharepoint/v3" xmlns:ns2="c55fcec3-bb2d-4ee6-a56c-bdfd532525fc" xmlns:ns3="73c3c465-f3d4-4d37-9c58-e2ee535ad8e0" targetNamespace="http://schemas.microsoft.com/office/2006/metadata/properties" ma:root="true" ma:fieldsID="f5f2cddc585f7bcfd68998bfccb1991a" ns1:_="" ns2:_="" ns3:_="">
    <xsd:import namespace="http://schemas.microsoft.com/sharepoint/v3"/>
    <xsd:import namespace="c55fcec3-bb2d-4ee6-a56c-bdfd532525fc"/>
    <xsd:import namespace="73c3c465-f3d4-4d37-9c58-e2ee535ad8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NameinDA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fcec3-bb2d-4ee6-a56c-bdfd532525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360a6a1c-50a4-4ec0-87e3-f00760ffe7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ameinDAM" ma:index="25" nillable="true" ma:displayName="Name in DAM" ma:format="Dropdown" ma:internalName="NameinDAM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c3c465-f3d4-4d37-9c58-e2ee535ad8e0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c90470e-89a5-48c8-b2d6-7cca2721473a}" ma:internalName="TaxCatchAll" ma:showField="CatchAllData" ma:web="73c3c465-f3d4-4d37-9c58-e2ee535ad8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c55fcec3-bb2d-4ee6-a56c-bdfd532525fc">
      <Terms xmlns="http://schemas.microsoft.com/office/infopath/2007/PartnerControls"/>
    </lcf76f155ced4ddcb4097134ff3c332f>
    <TaxCatchAll xmlns="73c3c465-f3d4-4d37-9c58-e2ee535ad8e0" xsi:nil="true"/>
    <NameinDAM xmlns="c55fcec3-bb2d-4ee6-a56c-bdfd532525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6337B2-684D-4381-98D1-02BFB39979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55fcec3-bb2d-4ee6-a56c-bdfd532525fc"/>
    <ds:schemaRef ds:uri="73c3c465-f3d4-4d37-9c58-e2ee535ad8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432BB05-EAC0-435E-80C7-C3FC0DCFDF5B}">
  <ds:schemaRefs>
    <ds:schemaRef ds:uri="http://www.w3.org/XML/1998/namespace"/>
    <ds:schemaRef ds:uri="73c3c465-f3d4-4d37-9c58-e2ee535ad8e0"/>
    <ds:schemaRef ds:uri="http://schemas.microsoft.com/sharepoint/v3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c55fcec3-bb2d-4ee6-a56c-bdfd532525fc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1EA9719-73E1-4AAC-90C2-9E9ED399E0F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5011977-b912-4387-97a4-f4c94a801377}" enabled="1" method="Standard" siteId="{11d0e217-264e-400a-8ba0-57dcc127d72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1742</TotalTime>
  <Words>483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Segoe UI</vt:lpstr>
      <vt:lpstr>Office Theme</vt:lpstr>
      <vt:lpstr>Presentation title  Note: this PowerPoint template utilizes a wide template size to accommodate modern screen/monitor sizes. Standard size slides are no longer available.</vt:lpstr>
      <vt:lpstr>Transition slide title</vt:lpstr>
      <vt:lpstr>Content slide title</vt:lpstr>
      <vt:lpstr>Two column slide title</vt:lpstr>
      <vt:lpstr>Content with one image or figure slide title</vt:lpstr>
      <vt:lpstr>Content with two images or figures slide title</vt:lpstr>
      <vt:lpstr>Content with three images or figures slide title</vt:lpstr>
      <vt:lpstr>Content with four images or figures slide title</vt:lpstr>
      <vt:lpstr>Image or figure only slide title</vt:lpstr>
      <vt:lpstr>Table guidance</vt:lpstr>
      <vt:lpstr>Sample table</vt:lpstr>
      <vt:lpstr>Figure guidance</vt:lpstr>
      <vt:lpstr>Sample figures</vt:lpstr>
      <vt:lpstr>Questions?   Contact your Communications Manager for help and review of your PowerPoint.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Washington Department of Fish and Wildlife</dc:creator>
  <cp:lastModifiedBy>Lazaras, Kate E (DFW)</cp:lastModifiedBy>
  <cp:revision>14</cp:revision>
  <dcterms:created xsi:type="dcterms:W3CDTF">2024-02-02T23:28:24Z</dcterms:created>
  <dcterms:modified xsi:type="dcterms:W3CDTF">2026-03-12T20:11:28Z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5011977-b912-4387-97a4-f4c94a801377_Enabled">
    <vt:lpwstr>true</vt:lpwstr>
  </property>
  <property fmtid="{D5CDD505-2E9C-101B-9397-08002B2CF9AE}" pid="3" name="MSIP_Label_45011977-b912-4387-97a4-f4c94a801377_SetDate">
    <vt:lpwstr>2024-02-03T00:07:05Z</vt:lpwstr>
  </property>
  <property fmtid="{D5CDD505-2E9C-101B-9397-08002B2CF9AE}" pid="4" name="MSIP_Label_45011977-b912-4387-97a4-f4c94a801377_Method">
    <vt:lpwstr>Standard</vt:lpwstr>
  </property>
  <property fmtid="{D5CDD505-2E9C-101B-9397-08002B2CF9AE}" pid="5" name="MSIP_Label_45011977-b912-4387-97a4-f4c94a801377_Name">
    <vt:lpwstr>Uncategorized Data</vt:lpwstr>
  </property>
  <property fmtid="{D5CDD505-2E9C-101B-9397-08002B2CF9AE}" pid="6" name="MSIP_Label_45011977-b912-4387-97a4-f4c94a801377_SiteId">
    <vt:lpwstr>11d0e217-264e-400a-8ba0-57dcc127d72d</vt:lpwstr>
  </property>
  <property fmtid="{D5CDD505-2E9C-101B-9397-08002B2CF9AE}" pid="7" name="MSIP_Label_45011977-b912-4387-97a4-f4c94a801377_ActionId">
    <vt:lpwstr>2dc8ed1d-0dbc-44fc-8405-9fa39dbf00ba</vt:lpwstr>
  </property>
  <property fmtid="{D5CDD505-2E9C-101B-9397-08002B2CF9AE}" pid="8" name="MSIP_Label_45011977-b912-4387-97a4-f4c94a801377_ContentBits">
    <vt:lpwstr>0</vt:lpwstr>
  </property>
  <property fmtid="{D5CDD505-2E9C-101B-9397-08002B2CF9AE}" pid="9" name="ContentTypeId">
    <vt:lpwstr>0x01010053DF6C379CEE474091FA722A741F562C</vt:lpwstr>
  </property>
  <property fmtid="{D5CDD505-2E9C-101B-9397-08002B2CF9AE}" pid="10" name="MediaServiceImageTags">
    <vt:lpwstr/>
  </property>
</Properties>
</file>